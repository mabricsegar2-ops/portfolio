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5453"/>
    <a:srgbClr val="00549A"/>
    <a:srgbClr val="1966AF"/>
    <a:srgbClr val="1F9BD8"/>
    <a:srgbClr val="FFD711"/>
    <a:srgbClr val="F8A90B"/>
    <a:srgbClr val="E668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4" autoAdjust="0"/>
    <p:restoredTop sz="93486" autoAdjust="0"/>
  </p:normalViewPr>
  <p:slideViewPr>
    <p:cSldViewPr snapToGrid="0">
      <p:cViewPr varScale="1">
        <p:scale>
          <a:sx n="113" d="100"/>
          <a:sy n="113" d="100"/>
        </p:scale>
        <p:origin x="66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250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835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93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6373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7772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2374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691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370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68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71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971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FC8EB-22D4-4691-8E57-728C7CDD4080}" type="datetimeFigureOut">
              <a:rPr lang="fr-FR" smtClean="0"/>
              <a:t>22/05/2025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EEBC38-D3FD-4CF6-81B4-896BD60CF0F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5124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154485" y="54696"/>
            <a:ext cx="9952649" cy="871305"/>
          </a:xfrm>
          <a:solidFill>
            <a:srgbClr val="575453"/>
          </a:solidFill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fr-FR" sz="1600" b="1" dirty="0">
                <a:solidFill>
                  <a:schemeClr val="bg1"/>
                </a:solidFill>
              </a:rPr>
              <a:t>Département : 56</a:t>
            </a:r>
            <a:br>
              <a:rPr lang="fr-FR" sz="1600" b="1" dirty="0">
                <a:solidFill>
                  <a:schemeClr val="bg1"/>
                </a:solidFill>
              </a:rPr>
            </a:br>
            <a:r>
              <a:rPr lang="fr-FR" sz="1600" b="1" dirty="0">
                <a:solidFill>
                  <a:schemeClr val="bg1"/>
                </a:solidFill>
              </a:rPr>
              <a:t>Membres de l’équipe : Maxence Abric—Segarra, </a:t>
            </a:r>
            <a:r>
              <a:rPr lang="fr-FR" sz="1600" b="1" dirty="0" err="1">
                <a:solidFill>
                  <a:schemeClr val="bg1"/>
                </a:solidFill>
              </a:rPr>
              <a:t>Hiba</a:t>
            </a:r>
            <a:r>
              <a:rPr lang="fr-FR" sz="1600" b="1" dirty="0">
                <a:solidFill>
                  <a:schemeClr val="bg1"/>
                </a:solidFill>
              </a:rPr>
              <a:t> Hasnaoui, Lucas Li-King </a:t>
            </a:r>
            <a:r>
              <a:rPr lang="fr-FR" sz="1600" b="1" dirty="0" err="1">
                <a:solidFill>
                  <a:schemeClr val="bg1"/>
                </a:solidFill>
              </a:rPr>
              <a:t>Ratiarinaivonjanahary</a:t>
            </a:r>
            <a:r>
              <a:rPr lang="fr-FR" sz="1600" b="1" dirty="0">
                <a:solidFill>
                  <a:schemeClr val="bg1"/>
                </a:solidFill>
              </a:rPr>
              <a:t>, Noah Louvet, Nolan Letaconnoux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984821"/>
            <a:ext cx="12107133" cy="406073"/>
          </a:xfrm>
        </p:spPr>
        <p:txBody>
          <a:bodyPr>
            <a:normAutofit fontScale="92500"/>
          </a:bodyPr>
          <a:lstStyle/>
          <a:p>
            <a:pPr algn="l"/>
            <a:r>
              <a:rPr lang="fr-FR" sz="1600" b="1" dirty="0">
                <a:solidFill>
                  <a:srgbClr val="1966AF"/>
                </a:solidFill>
              </a:rPr>
              <a:t>Problématique</a:t>
            </a:r>
            <a:r>
              <a:rPr lang="fr-FR" sz="1600" dirty="0">
                <a:solidFill>
                  <a:srgbClr val="1966AF"/>
                </a:solidFill>
              </a:rPr>
              <a:t> : Comment les disparités régionales et de genre influencent-elles les niveau de scolarisation et de diplomation en Bretagne, en 2021 ?</a:t>
            </a: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4696178" y="5945646"/>
            <a:ext cx="7252455" cy="8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1400" dirty="0"/>
          </a:p>
        </p:txBody>
      </p:sp>
      <p:sp>
        <p:nvSpPr>
          <p:cNvPr id="6" name="Rectangle 5"/>
          <p:cNvSpPr/>
          <p:nvPr/>
        </p:nvSpPr>
        <p:spPr>
          <a:xfrm>
            <a:off x="8832273" y="1515239"/>
            <a:ext cx="3274859" cy="52016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 dirty="0">
              <a:solidFill>
                <a:srgbClr val="0E2841"/>
              </a:solidFill>
              <a:latin typeface="Verdana" panose="020B0604030504040204" pitchFamily="34" charset="0"/>
            </a:endParaRPr>
          </a:p>
          <a:p>
            <a:pPr algn="ctr"/>
            <a:r>
              <a:rPr lang="fr-FR" sz="1200" b="0" i="0" u="none" strike="noStrike" dirty="0">
                <a:solidFill>
                  <a:srgbClr val="0E2841"/>
                </a:solidFill>
                <a:effectLst/>
                <a:latin typeface="Verdana" panose="020B0604030504040204" pitchFamily="34" charset="0"/>
              </a:rPr>
              <a:t>En Bretagne, la part de personnes scolarisées varie, mais le Finistère (Brest) et l’Ille-et-Vilaine (Rennes) dépassent largement le taux national de 47,4 %.</a:t>
            </a:r>
            <a:r>
              <a:rPr lang="fr-FR" sz="1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​</a:t>
            </a:r>
            <a:endParaRPr lang="fr-FR" sz="1200" dirty="0"/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97F01FF9-927B-7D2C-38C2-ABBD51449B90}"/>
              </a:ext>
            </a:extLst>
          </p:cNvPr>
          <p:cNvGrpSpPr/>
          <p:nvPr/>
        </p:nvGrpSpPr>
        <p:grpSpPr>
          <a:xfrm>
            <a:off x="-50741" y="-20926"/>
            <a:ext cx="2428180" cy="787551"/>
            <a:chOff x="138671" y="583504"/>
            <a:chExt cx="2428180" cy="787551"/>
          </a:xfrm>
        </p:grpSpPr>
        <p:pic>
          <p:nvPicPr>
            <p:cNvPr id="5" name="Image 4" descr="Une image contenant Police, Graphique, logo, graphisme&#10;&#10;Description générée automatiquement">
              <a:extLst>
                <a:ext uri="{FF2B5EF4-FFF2-40B4-BE49-F238E27FC236}">
                  <a16:creationId xmlns:a16="http://schemas.microsoft.com/office/drawing/2014/main" id="{981B022D-BFE2-5662-0202-375742076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778" y="902425"/>
              <a:ext cx="1235710" cy="4686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66DCA948-A022-4190-B8D8-536B6E00FE91}"/>
                </a:ext>
              </a:extLst>
            </p:cNvPr>
            <p:cNvSpPr txBox="1"/>
            <p:nvPr/>
          </p:nvSpPr>
          <p:spPr>
            <a:xfrm>
              <a:off x="138671" y="583504"/>
              <a:ext cx="2428180" cy="461665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wrap="square" rtlCol="0">
              <a:spAutoFit/>
            </a:bodyPr>
            <a:lstStyle/>
            <a:p>
              <a:r>
                <a:rPr lang="fr-FR" sz="2400" dirty="0">
                  <a:solidFill>
                    <a:srgbClr val="1966AF"/>
                  </a:solidFill>
                  <a:latin typeface="Matura MT Script Capitals" panose="03020802060602070202" pitchFamily="66" charset="77"/>
                </a:rPr>
                <a:t>Challenge</a:t>
              </a:r>
              <a:r>
                <a:rPr lang="fr-FR" sz="2400" dirty="0">
                  <a:solidFill>
                    <a:srgbClr val="E6680E"/>
                  </a:solidFill>
                  <a:latin typeface="Matura MT Script Capitals" panose="03020802060602070202" pitchFamily="66" charset="77"/>
                </a:rPr>
                <a:t>2</a:t>
              </a:r>
              <a:r>
                <a:rPr lang="fr-FR" sz="2400" dirty="0">
                  <a:solidFill>
                    <a:srgbClr val="F8A90B"/>
                  </a:solidFill>
                  <a:latin typeface="Matura MT Script Capitals" panose="03020802060602070202" pitchFamily="66" charset="77"/>
                </a:rPr>
                <a:t>0</a:t>
              </a:r>
              <a:r>
                <a:rPr lang="fr-FR" sz="2400" dirty="0">
                  <a:solidFill>
                    <a:srgbClr val="FFD711"/>
                  </a:solidFill>
                  <a:latin typeface="Matura MT Script Capitals" panose="03020802060602070202" pitchFamily="66" charset="77"/>
                </a:rPr>
                <a:t>2</a:t>
              </a:r>
              <a:r>
                <a:rPr lang="fr-FR" sz="2400" dirty="0">
                  <a:solidFill>
                    <a:srgbClr val="1F9BD8"/>
                  </a:solidFill>
                  <a:latin typeface="Matura MT Script Capitals" panose="03020802060602070202" pitchFamily="66" charset="77"/>
                </a:rPr>
                <a:t>5</a:t>
              </a:r>
              <a:endParaRPr lang="fr-FR" dirty="0">
                <a:solidFill>
                  <a:srgbClr val="1F9BD8"/>
                </a:solidFill>
                <a:latin typeface="Matura MT Script Capitals" panose="03020802060602070202" pitchFamily="66" charset="77"/>
              </a:endParaRPr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4ADBD6D1-DC11-7C2B-53E5-CF3033D3A167}"/>
              </a:ext>
            </a:extLst>
          </p:cNvPr>
          <p:cNvSpPr txBox="1"/>
          <p:nvPr/>
        </p:nvSpPr>
        <p:spPr>
          <a:xfrm>
            <a:off x="119937" y="694158"/>
            <a:ext cx="16410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rgbClr val="00549A"/>
                </a:solidFill>
              </a:rPr>
              <a:t>Avec le concours de</a:t>
            </a:r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BE810CB3-B621-9764-1B18-70BC912DCE49}"/>
              </a:ext>
            </a:extLst>
          </p:cNvPr>
          <p:cNvCxnSpPr>
            <a:cxnSpLocks/>
          </p:cNvCxnSpPr>
          <p:nvPr/>
        </p:nvCxnSpPr>
        <p:spPr>
          <a:xfrm flipH="1" flipV="1">
            <a:off x="119937" y="912354"/>
            <a:ext cx="11987197" cy="13647"/>
          </a:xfrm>
          <a:prstGeom prst="line">
            <a:avLst/>
          </a:prstGeom>
          <a:ln>
            <a:solidFill>
              <a:srgbClr val="1966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rré corné 19">
            <a:extLst>
              <a:ext uri="{FF2B5EF4-FFF2-40B4-BE49-F238E27FC236}">
                <a16:creationId xmlns:a16="http://schemas.microsoft.com/office/drawing/2014/main" id="{5AE22116-842E-B5E0-4A29-E048A1317DC3}"/>
              </a:ext>
            </a:extLst>
          </p:cNvPr>
          <p:cNvSpPr/>
          <p:nvPr/>
        </p:nvSpPr>
        <p:spPr>
          <a:xfrm>
            <a:off x="84866" y="1515239"/>
            <a:ext cx="8487633" cy="5201650"/>
          </a:xfrm>
          <a:prstGeom prst="foldedCorner">
            <a:avLst>
              <a:gd name="adj" fmla="val 6940"/>
            </a:avLst>
          </a:prstGeom>
          <a:solidFill>
            <a:srgbClr val="0054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fr-FR" sz="1800" dirty="0"/>
              <a:t>On a voulu montrer les différents types d’étudiants en Bretagne, à destination de l’ensemble des bretons.</a:t>
            </a:r>
          </a:p>
          <a:p>
            <a:pPr algn="l"/>
            <a:endParaRPr lang="fr-FR" sz="1800" dirty="0"/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fr-FR" dirty="0"/>
              <a:t>Source de données en plus </a:t>
            </a:r>
            <a:r>
              <a:rPr lang="fr-FR" dirty="0">
                <a:solidFill>
                  <a:schemeClr val="bg1"/>
                </a:solidFill>
                <a:sym typeface="Wingdings" pitchFamily="2" charset="2"/>
              </a:rPr>
              <a:t>du fichier INSEE fourni : aucune</a:t>
            </a:r>
          </a:p>
          <a:p>
            <a:pPr algn="l"/>
            <a:endParaRPr lang="fr-FR" dirty="0">
              <a:solidFill>
                <a:schemeClr val="bg1"/>
              </a:solidFill>
              <a:sym typeface="Wingdings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fr-FR" sz="1800" dirty="0">
                <a:solidFill>
                  <a:schemeClr val="bg1"/>
                </a:solidFill>
                <a:sym typeface="Wingdings" pitchFamily="2" charset="2"/>
              </a:rPr>
              <a:t>Les principales étapes </a:t>
            </a:r>
            <a:r>
              <a:rPr lang="fr-FR" dirty="0">
                <a:solidFill>
                  <a:schemeClr val="bg1"/>
                </a:solidFill>
                <a:sym typeface="Wingdings" pitchFamily="2" charset="2"/>
              </a:rPr>
              <a:t>: 1) Découverte des données (Excel) 2) Trouver une problématique 3) Traitement des données (Excel) 4) Création des différents graphiques (Excel)</a:t>
            </a:r>
          </a:p>
          <a:p>
            <a:pPr algn="l"/>
            <a:endParaRPr lang="fr-FR" dirty="0">
              <a:solidFill>
                <a:schemeClr val="bg1"/>
              </a:solidFill>
              <a:sym typeface="Wingdings" pitchFamily="2" charset="2"/>
            </a:endParaRPr>
          </a:p>
          <a:p>
            <a:pPr marL="285750" indent="-285750" algn="l">
              <a:buFont typeface="Wingdings" panose="05000000000000000000" pitchFamily="2" charset="2"/>
              <a:buChar char="à"/>
            </a:pPr>
            <a:r>
              <a:rPr lang="fr-FR" dirty="0"/>
              <a:t>Nous avons utilisé des calculs de moyennes et de pourcentages, ainsi que des regroupements de données pour mieux visualiser les profils étudiants.</a:t>
            </a:r>
            <a:endParaRPr lang="fr-FR" dirty="0">
              <a:solidFill>
                <a:schemeClr val="bg1"/>
              </a:solidFill>
              <a:sym typeface="Wingdings" pitchFamily="2" charset="2"/>
            </a:endParaRPr>
          </a:p>
          <a:p>
            <a:pPr algn="l"/>
            <a:endParaRPr lang="fr-FR" sz="1800" dirty="0"/>
          </a:p>
        </p:txBody>
      </p:sp>
      <p:pic>
        <p:nvPicPr>
          <p:cNvPr id="1026" name="Picture 2" descr="Accueil - Insee - Institut national de la statistique et des études  économiques">
            <a:extLst>
              <a:ext uri="{FF2B5EF4-FFF2-40B4-BE49-F238E27FC236}">
                <a16:creationId xmlns:a16="http://schemas.microsoft.com/office/drawing/2014/main" id="{BE085719-A166-4BBE-54E8-6874A956E5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55"/>
          <a:stretch/>
        </p:blipFill>
        <p:spPr bwMode="auto">
          <a:xfrm>
            <a:off x="1503425" y="334826"/>
            <a:ext cx="626711" cy="548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Bulle ronde 21">
            <a:extLst>
              <a:ext uri="{FF2B5EF4-FFF2-40B4-BE49-F238E27FC236}">
                <a16:creationId xmlns:a16="http://schemas.microsoft.com/office/drawing/2014/main" id="{D6684FA9-9B78-4FCE-81CF-7C6593C76CA1}"/>
              </a:ext>
            </a:extLst>
          </p:cNvPr>
          <p:cNvSpPr/>
          <p:nvPr/>
        </p:nvSpPr>
        <p:spPr>
          <a:xfrm>
            <a:off x="7995833" y="4670820"/>
            <a:ext cx="3202123" cy="1796922"/>
          </a:xfrm>
          <a:prstGeom prst="wedgeEllipseCallout">
            <a:avLst>
              <a:gd name="adj1" fmla="val -38214"/>
              <a:gd name="adj2" fmla="val 59654"/>
            </a:avLst>
          </a:prstGeom>
          <a:solidFill>
            <a:srgbClr val="0054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Une journée enrichissante et collaborative qui nous a permis de mieux comprendre les enjeux liés aux données étudiantes en Bretagne. </a:t>
            </a:r>
            <a:endParaRPr lang="fr-FR" sz="1400" i="1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7892A7E3-6BB7-41F2-94E4-17894769E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5966" y="1630249"/>
            <a:ext cx="3047471" cy="179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6162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Matura MT Script Capitals</vt:lpstr>
      <vt:lpstr>Verdana</vt:lpstr>
      <vt:lpstr>Wingdings</vt:lpstr>
      <vt:lpstr>Thème Office</vt:lpstr>
      <vt:lpstr>Département : 56 Membres de l’équipe : Maxence Abric—Segarra, Hiba Hasnaoui, Lucas Li-King Ratiarinaivonjanahary, Noah Louvet, Nolan Letaconnoux</vt:lpstr>
    </vt:vector>
  </TitlesOfParts>
  <Manager/>
  <Company>Université Bretagne Sud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membres de notre équipe : Notre problématique :</dc:title>
  <dc:subject/>
  <dc:creator>frambour</dc:creator>
  <cp:keywords/>
  <dc:description/>
  <cp:lastModifiedBy>Nolan Letaconnoux</cp:lastModifiedBy>
  <cp:revision>35</cp:revision>
  <dcterms:created xsi:type="dcterms:W3CDTF">2019-04-10T16:16:17Z</dcterms:created>
  <dcterms:modified xsi:type="dcterms:W3CDTF">2025-05-22T13:39:07Z</dcterms:modified>
  <cp:category/>
</cp:coreProperties>
</file>