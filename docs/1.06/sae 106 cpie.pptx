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425938A0.xml" ContentType="application/vnd.ms-powerpoint.comments+xml"/>
  <Override PartName="/ppt/comments/modernComment_101_D3F8027F.xml" ContentType="application/vnd.ms-powerpoint.comments+xml"/>
  <Override PartName="/ppt/comments/modernComment_109_2A8D2B03.xml" ContentType="application/vnd.ms-powerpoint.comments+xml"/>
  <Override PartName="/ppt/comments/modernComment_10C_58745917.xml" ContentType="application/vnd.ms-powerpoint.comments+xml"/>
  <Override PartName="/ppt/comments/modernComment_10D_E1AEBE77.xml" ContentType="application/vnd.ms-powerpoint.comments+xml"/>
  <Override PartName="/ppt/comments/modernComment_10A_CB1C549F.xml" ContentType="application/vnd.ms-powerpoint.comments+xml"/>
  <Override PartName="/ppt/comments/modernComment_111_38517D65.xml" ContentType="application/vnd.ms-powerpoint.comments+xml"/>
  <Override PartName="/ppt/comments/modernComment_10B_66B74BBD.xml" ContentType="application/vnd.ms-powerpoint.comments+xml"/>
  <Override PartName="/ppt/comments/modernComment_10F_7515270B.xml" ContentType="application/vnd.ms-powerpoint.comments+xml"/>
  <Override PartName="/ppt/notesSlides/notesSlide1.xml" ContentType="application/vnd.openxmlformats-officedocument.presentationml.notesSlide+xml"/>
  <Override PartName="/ppt/comments/modernComment_10E_4DD7E45.xml" ContentType="application/vnd.ms-powerpoint.comments+xml"/>
  <Override PartName="/ppt/comments/modernComment_110_A513BDD5.xml" ContentType="application/vnd.ms-powerpoint.comments+xml"/>
  <Override PartName="/ppt/comments/modernComment_104_7F6E2CC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68" r:id="rId5"/>
    <p:sldId id="269" r:id="rId6"/>
    <p:sldId id="266" r:id="rId7"/>
    <p:sldId id="273" r:id="rId8"/>
    <p:sldId id="267" r:id="rId9"/>
    <p:sldId id="271" r:id="rId10"/>
    <p:sldId id="270" r:id="rId11"/>
    <p:sldId id="272" r:id="rId12"/>
    <p:sldId id="260" r:id="rId13"/>
    <p:sldId id="274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FD8007-5479-E442-3B97-736BC8E7591D}" name="Maxence Abric--Segarra" initials="MA" userId="S::abric-segarra.e2401441@etud.univ-ubs.fr::789d9b40-e6a2-478a-86b2-aee8bd159282" providerId="AD"/>
  <p188:author id="{6AE8802C-F798-4AFB-5D89-9074372A6714}" name="Adam Chakra" initials="AC" userId="S::chakra.e2405259@etud.univ-ubs.fr::64805e72-3899-4e0e-b06c-fa3eb476de77" providerId="AD"/>
  <p188:author id="{B29E5E3E-8651-E5A2-AC8F-68FC37FA40FD}" name="Quentin Courson" initials="" userId="S::courson.e2402220@etud.univ-ubs.fr::e586eb81-d4ea-4cb1-9903-f5d9641e4a3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63ED8-07DD-4CA0-9C7B-39CB4E2CF122}" v="11" dt="2025-01-09T22:43:0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A_CB1C54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BB1967-17F5-4FA6-B696-535802F7F29A}" authorId="{B29E5E3E-8651-E5A2-AC8F-68FC37FA40FD}" created="2025-01-09T19:07:17.840">
    <pc:sldMkLst xmlns:pc="http://schemas.microsoft.com/office/powerpoint/2013/main/command">
      <pc:docMk/>
      <pc:sldMk cId="3407631519" sldId="266"/>
    </pc:sldMkLst>
    <p188:txBody>
      <a:bodyPr/>
      <a:lstStyle/>
      <a:p>
        <a:r>
          <a:rPr lang="fr-FR"/>
          <a:t>maxence</a:t>
        </a:r>
      </a:p>
    </p188:txBody>
  </p188:cm>
</p188:cmLst>
</file>

<file path=ppt/comments/modernComment_10B_66B74B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966D2C-90B2-46FD-8E05-84AE86CDF325}" authorId="{B29E5E3E-8651-E5A2-AC8F-68FC37FA40FD}" created="2025-01-09T19:07:27.887">
    <pc:sldMkLst xmlns:pc="http://schemas.microsoft.com/office/powerpoint/2013/main/command">
      <pc:docMk/>
      <pc:sldMk cId="1723288509" sldId="267"/>
    </pc:sldMkLst>
    <p188:txBody>
      <a:bodyPr/>
      <a:lstStyle/>
      <a:p>
        <a:r>
          <a:rPr lang="fr-FR"/>
          <a:t>Quentin</a:t>
        </a:r>
      </a:p>
    </p188:txBody>
  </p188:cm>
</p188:cmLst>
</file>

<file path=ppt/comments/modernComment_10C_587459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BB360F-6BC5-43C1-AFEC-F1B5E053FE29}" authorId="{B29E5E3E-8651-E5A2-AC8F-68FC37FA40FD}" created="2025-01-09T18:52:15.181">
    <pc:sldMkLst xmlns:pc="http://schemas.microsoft.com/office/powerpoint/2013/main/command">
      <pc:docMk/>
      <pc:sldMk cId="1484019991" sldId="268"/>
    </pc:sldMkLst>
    <p188:txBody>
      <a:bodyPr/>
      <a:lstStyle/>
      <a:p>
        <a:r>
          <a:rPr lang="fr-FR"/>
          <a:t>quentin</a:t>
        </a:r>
      </a:p>
    </p188:txBody>
  </p188:cm>
</p188:cmLst>
</file>

<file path=ppt/comments/modernComment_10D_E1AEBE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2538EB-9250-41B8-B4F0-2C6777B1B92C}" authorId="{B29E5E3E-8651-E5A2-AC8F-68FC37FA40FD}" created="2025-01-09T19:07:08.491">
    <pc:sldMkLst xmlns:pc="http://schemas.microsoft.com/office/powerpoint/2013/main/command">
      <pc:docMk/>
      <pc:sldMk cId="3786325623" sldId="269"/>
    </pc:sldMkLst>
    <p188:txBody>
      <a:bodyPr/>
      <a:lstStyle/>
      <a:p>
        <a:r>
          <a:rPr lang="fr-FR"/>
          <a:t>maxence</a:t>
        </a:r>
      </a:p>
    </p188:txBody>
  </p188:cm>
</p188:cmLst>
</file>

<file path=ppt/comments/modernComment_10E_4DD7E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21512C-7A7F-47A6-A87F-8CA49B8ABA51}" authorId="{B29E5E3E-8651-E5A2-AC8F-68FC37FA40FD}" created="2025-01-09T19:05:39.272">
    <pc:sldMkLst xmlns:pc="http://schemas.microsoft.com/office/powerpoint/2013/main/command">
      <pc:docMk/>
      <pc:sldMk cId="81624645" sldId="270"/>
    </pc:sldMkLst>
    <p188:txBody>
      <a:bodyPr/>
      <a:lstStyle/>
      <a:p>
        <a:r>
          <a:rPr lang="fr-FR"/>
          <a:t>adam</a:t>
        </a:r>
      </a:p>
    </p188:txBody>
  </p188:cm>
</p188:cmLst>
</file>

<file path=ppt/comments/modernComment_10F_751527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F73FC2-8961-4C99-820F-E21AA1A12CA5}" authorId="{B29E5E3E-8651-E5A2-AC8F-68FC37FA40FD}" created="2025-01-09T19:01:02.509">
    <pc:sldMkLst xmlns:pc="http://schemas.microsoft.com/office/powerpoint/2013/main/command">
      <pc:docMk/>
      <pc:sldMk cId="1964320523" sldId="271"/>
    </pc:sldMkLst>
    <p188:txBody>
      <a:bodyPr/>
      <a:lstStyle/>
      <a:p>
        <a:r>
          <a:rPr lang="fr-FR"/>
          <a:t>quentin</a:t>
        </a:r>
      </a:p>
    </p188:txBody>
  </p188:cm>
</p188:cmLst>
</file>

<file path=ppt/comments/modernComment_100_425938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93F1B5-6354-4EE5-B502-A00EE4ED3DFF}" authorId="{B29E5E3E-8651-E5A2-AC8F-68FC37FA40FD}" created="2025-01-09T18:51:53.081">
    <pc:sldMkLst xmlns:pc="http://schemas.microsoft.com/office/powerpoint/2013/main/command">
      <pc:docMk/>
      <pc:sldMk cId="1113143456" sldId="256"/>
    </pc:sldMkLst>
    <p188:txBody>
      <a:bodyPr/>
      <a:lstStyle/>
      <a:p>
        <a:r>
          <a:rPr lang="fr-FR"/>
          <a:t>Adam</a:t>
        </a:r>
      </a:p>
    </p188:txBody>
  </p188:cm>
</p188:cmLst>
</file>

<file path=ppt/comments/modernComment_101_D3F802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7E0A56-13AF-4900-80ED-A7579D8461AB}" authorId="{B29E5E3E-8651-E5A2-AC8F-68FC37FA40FD}" created="2025-01-09T19:03:58.393">
    <pc:sldMkLst xmlns:pc="http://schemas.microsoft.com/office/powerpoint/2013/main/command">
      <pc:docMk/>
      <pc:sldMk cId="3556246143" sldId="257"/>
    </pc:sldMkLst>
    <p188:txBody>
      <a:bodyPr/>
      <a:lstStyle/>
      <a:p>
        <a:r>
          <a:rPr lang="fr-FR"/>
          <a:t>Adam</a:t>
        </a:r>
      </a:p>
    </p188:txBody>
  </p188:cm>
</p188:cmLst>
</file>

<file path=ppt/comments/modernComment_104_7F6E2C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4D127B-AD0B-4670-B9A8-42FC9CADC89D}" authorId="{20FD8007-5479-E442-3B97-736BC8E7591D}" created="2025-01-09T21:39:26.601">
    <pc:sldMkLst xmlns:pc="http://schemas.microsoft.com/office/powerpoint/2013/main/command">
      <pc:docMk/>
      <pc:sldMk cId="2137926858" sldId="260"/>
    </pc:sldMkLst>
    <p188:txBody>
      <a:bodyPr/>
      <a:lstStyle/>
      <a:p>
        <a:r>
          <a:rPr lang="fr-FR"/>
          <a:t>maxence</a:t>
        </a:r>
      </a:p>
    </p188:txBody>
  </p188:cm>
</p188:cmLst>
</file>

<file path=ppt/comments/modernComment_109_2A8D2B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B1E68B-D2DA-4907-B02D-5D4FD7411BB4}" authorId="{B29E5E3E-8651-E5A2-AC8F-68FC37FA40FD}" created="2025-01-09T19:04:37.462">
    <pc:sldMkLst xmlns:pc="http://schemas.microsoft.com/office/powerpoint/2013/main/command">
      <pc:docMk/>
      <pc:sldMk cId="713894659" sldId="265"/>
    </pc:sldMkLst>
    <p188:txBody>
      <a:bodyPr/>
      <a:lstStyle/>
      <a:p>
        <a:r>
          <a:rPr lang="fr-FR"/>
          <a:t>adam</a:t>
        </a:r>
      </a:p>
    </p188:txBody>
  </p188:cm>
</p188:cmLst>
</file>

<file path=ppt/comments/modernComment_110_A513BD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587FD6-29FA-4D4F-A1C3-73D888A2ECB2}" authorId="{B29E5E3E-8651-E5A2-AC8F-68FC37FA40FD}" created="2025-01-09T19:06:45.709">
    <pc:sldMkLst xmlns:pc="http://schemas.microsoft.com/office/powerpoint/2013/main/command">
      <pc:docMk/>
      <pc:sldMk cId="2769534421" sldId="272"/>
    </pc:sldMkLst>
    <p188:txBody>
      <a:bodyPr/>
      <a:lstStyle/>
      <a:p>
        <a:r>
          <a:rPr lang="fr-FR"/>
          <a:t>adam</a:t>
        </a:r>
      </a:p>
    </p188:txBody>
  </p188:cm>
  <p188:cm id="{47714BE0-2CEE-49E6-81D7-14CF2CF8A7CC}" authorId="{6AE8802C-F798-4AFB-5D89-9074372A6714}" created="2025-01-09T19:33:59.292">
    <pc:sldMkLst xmlns:pc="http://schemas.microsoft.com/office/powerpoint/2013/main/command">
      <pc:docMk/>
      <pc:sldMk cId="2769534421" sldId="272"/>
    </pc:sldMkLst>
    <p188:replyLst>
      <p188:reply id="{1B780C02-8956-4E21-A0ED-9F6DAB629A13}" authorId="{B29E5E3E-8651-E5A2-AC8F-68FC37FA40FD}" created="2025-01-09T19:46:33.502">
        <p188:txBody>
          <a:bodyPr/>
          <a:lstStyle/>
          <a:p>
            <a:r>
              <a:rPr lang="fr-FR"/>
              <a:t>Okay on va faire 10min la ?
</a:t>
            </a:r>
          </a:p>
        </p188:txBody>
      </p188:reply>
      <p188:reply id="{ABBB25AF-05B3-4C14-B785-390A91582E3A}" authorId="{6AE8802C-F798-4AFB-5D89-9074372A6714}" created="2025-01-09T19:48:44.122">
        <p188:txBody>
          <a:bodyPr/>
          <a:lstStyle/>
          <a:p>
            <a:r>
              <a:rPr lang="fr-FR"/>
              <a:t>oe je crois un peu plus mais c'est pas grave </a:t>
            </a:r>
          </a:p>
        </p188:txBody>
      </p188:reply>
    </p188:replyLst>
    <p188:txBody>
      <a:bodyPr/>
      <a:lstStyle/>
      <a:p>
        <a:r>
          <a:rPr lang="fr-FR"/>
          <a:t>quentin je prends ça stv</a:t>
        </a:r>
      </a:p>
    </p188:txBody>
  </p188:cm>
</p188:cmLst>
</file>

<file path=ppt/comments/modernComment_111_38517D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753E518-877D-49E8-803F-7297EB8C4C09}" authorId="{20FD8007-5479-E442-3B97-736BC8E7591D}" created="2025-01-09T19:33:20.518">
    <pc:sldMkLst xmlns:pc="http://schemas.microsoft.com/office/powerpoint/2013/main/command">
      <pc:docMk/>
      <pc:sldMk cId="944864613" sldId="273"/>
    </pc:sldMkLst>
    <p188:txBody>
      <a:bodyPr/>
      <a:lstStyle/>
      <a:p>
        <a:r>
          <a:rPr lang="fr-FR"/>
          <a:t>maxence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B0BAD-FD4B-984E-B9D9-B9B83E88AE7B}" type="datetimeFigureOut">
              <a:rPr lang="fr-FR" smtClean="0"/>
              <a:t>29/05/2025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EC1B-57E4-C149-98E5-EE04F7B62D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77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kern="10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Palais</a:t>
            </a:r>
            <a:r>
              <a:rPr lang="fr-FR" sz="1800" kern="100">
                <a:solidFill>
                  <a:srgbClr val="000000"/>
                </a:solidFill>
                <a:effectLst/>
                <a:latin typeface="-webkit-standard"/>
                <a:ea typeface="Aptos" panose="020B0004020202020204" pitchFamily="34" charset="0"/>
                <a:cs typeface="Times New Roman" panose="02020603050405020304" pitchFamily="18" charset="0"/>
              </a:rPr>
              <a:t> a fourni le plus grand nombre de réponses (46%), ce qui peut indiquer que cette commune est la plus représentée dans l'échantillon ou la plus engagée dans l'enquête.</a:t>
            </a:r>
            <a:endParaRPr lang="fr-FR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CFEC1B-57E4-C149-98E5-EE04F7B62D9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847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404FE2-40C6-CC3E-E872-6DE7F9EA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F1893A-430C-11B1-1446-DA645965E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7A6643-02C0-092A-EBC9-AD1AAE20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E78F-B9A5-6649-8E07-A5507674BB02}" type="datetime1">
              <a:rPr lang="fr-FR" smtClean="0"/>
              <a:t>29/05/2025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93D64-2A00-F8AF-43B7-17D759DE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ABD752-AE3C-DD33-ED8C-C7D5A44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80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E489FC-881C-9A82-D5B9-7B31C5FE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6C53E4-84A9-DC19-F9EE-757BB6EAA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8752A-9349-13DE-F72E-7E56CFD5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8C99A-ECCD-5547-83CD-F584A3CE53A5}" type="datetime1">
              <a:rPr lang="fr-FR" smtClean="0"/>
              <a:t>29/05/2025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C006F-747F-6394-3D7F-097CB475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6312C7-02DB-2463-D4AF-9055CCF7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60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CB5224-85C9-9203-42BC-D16FA1BD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EE9F8B-4DD2-F106-D69F-C6B0F1A0B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06F45A-E6F1-DE0E-EC2D-E4648EBE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C6050-13B5-6141-982A-2AEF3E16A5F5}" type="datetime1">
              <a:rPr lang="fr-FR" smtClean="0"/>
              <a:t>29/05/2025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28A4BB-407C-154C-B482-8A39BF20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182547-250C-DAE6-D6A5-4C64B1F5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22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E92F8E-26C1-B47A-1109-5E19682F5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9D7F8D-F452-CD57-47CB-6DA852284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7EE5DC-E9C2-F0B3-2C4A-A23CF4E2D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F5DDA8-62CF-8F86-BD28-2A8AB249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BABE6-5E1B-974C-82CE-F7EE380B7167}" type="datetime1">
              <a:rPr lang="fr-FR" smtClean="0"/>
              <a:t>29/05/2025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21F8E8-D0F6-2AF4-DE3A-896FAD66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7D7771-2B9A-33A5-4759-F925AA72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57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FD6C8-7F5C-F919-1552-3AEECB16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4B7EDC-FBFE-D4F9-A7BD-7E67E1A1B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891E9E-44B5-8AFF-8443-9C9D1EA79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22EC90-2745-CC7F-153A-7905F24BD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7753A6-0EC5-0231-6ED3-7647905F5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CF037D-0997-B4DE-EA0A-2BC6F39F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4D06-3C5D-E34F-839F-EF58E251CB62}" type="datetime1">
              <a:rPr lang="fr-FR" smtClean="0"/>
              <a:t>29/05/2025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B3AF8D-2F34-FEA7-2847-005F60EA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A2AD6CD-ED4B-D0DF-7327-61D6E426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8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C42AB-C670-8381-DF49-0E63D0CD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746930-2D71-EFAF-3C44-E0E327BA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D2B1-29C5-4C44-9923-B537240F5E3B}" type="datetime1">
              <a:rPr lang="fr-FR" smtClean="0"/>
              <a:t>29/05/2025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45D8BC-2C3D-5F64-5B29-74543826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5A17EB-5F67-6558-F17C-C83E59FB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95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942DE1-94AF-AF7D-E10E-856A211D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002E-887F-0340-A6A3-4879AC500DCE}" type="datetime1">
              <a:rPr lang="fr-FR" smtClean="0"/>
              <a:t>29/05/2025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ACBFDB-B89B-6E59-682F-EF0E2971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331248-66D5-BB0F-C6E1-A8A2C562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19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E78ED2-C06E-9F7E-0838-CF1A0FE0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581318-A15F-ACE7-F776-1B36FB86A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6F9BF0-6778-54BD-F276-5BA1261C4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26B834-63BB-2EDE-C6EA-42C299A9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6A827-9313-1943-ACEF-37D0909FC040}" type="datetime1">
              <a:rPr lang="fr-FR" smtClean="0"/>
              <a:t>29/05/2025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DEA0FF-D3D3-FF2B-E34A-B4F1934E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FB8C12-0E30-078C-4962-0EE538D8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05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66324-7065-3FB3-F0DC-75BF6551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BCB8669-5392-DEB3-6A97-0CB284009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550765-2705-88D1-43B7-024857167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D13379-C470-328D-5377-DCA0D62E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5291-DECC-F14F-92BF-42A5AC0F923F}" type="datetime1">
              <a:rPr lang="fr-FR" smtClean="0"/>
              <a:t>29/05/2025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89CB35-5568-C9C7-4883-F691B96B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D240A3-EB5C-43E9-A34A-ED33968C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78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4157B7-816F-5B77-4F67-4CAC9CC5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CBDCC2-240E-A12C-2E85-B64838A58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38470-5908-9BB5-E5D1-5BB7F8B8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D9C28-1011-E244-9B7A-4AE2387AE847}" type="datetime1">
              <a:rPr lang="fr-FR" smtClean="0"/>
              <a:t>29/05/2025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39E8A8-9226-D140-3C25-731009A5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C595E7-F412-7915-986A-07CE4DE3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20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F70B86-177C-377B-9088-ACC3615D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763278-2F69-7B82-AF2E-3A8396F19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F3CDBD-9064-4A00-AD0B-6EEE3AAC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1B6B-44DA-9F45-BF72-C89115078A5B}" type="datetime1">
              <a:rPr lang="fr-FR" smtClean="0"/>
              <a:t>29/05/2025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2BD6B8-0151-8F10-6D92-F104CED8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957781-12EF-2916-A3EE-2EE56C28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50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AC4E63B-DCD7-58EE-1A02-73742EC7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2ADA50-0158-E142-18D5-5528BE851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0C4A7C-1DC9-9F3B-261B-4B51D5B98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AB762-94DC-0D4A-A10A-FA1C77B50790}" type="datetime1">
              <a:rPr lang="fr-FR" smtClean="0"/>
              <a:t>29/05/2025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670390-5580-DD7E-A3D0-F78D21FA5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FF2425-C614-D4B3-C06B-53D320FC7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73490-ADE3-BD4C-8702-84C469061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4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425938A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1_D3F8027F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9_2A8D2B0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C_587459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D_E1AEBE7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A_CB1C549F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11_38517D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B_66B74BBD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F_7515270B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4DD7E4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10_A513BDD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4_7F6E2CCA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CPIE de Belle-Île en mer">
            <a:extLst>
              <a:ext uri="{FF2B5EF4-FFF2-40B4-BE49-F238E27FC236}">
                <a16:creationId xmlns:a16="http://schemas.microsoft.com/office/drawing/2014/main" id="{0B37A4C9-BD66-7BB4-3745-23969392E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pic>
        <p:nvPicPr>
          <p:cNvPr id="8" name="Image 7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50CF2CDC-DFAD-823C-BBF4-E64A9F05F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0F522CD-5299-E445-4F36-39809F0BF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8075" y="3213597"/>
            <a:ext cx="9122229" cy="2104572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ooper Black" panose="0208090404030B020404" pitchFamily="18" charset="0"/>
                <a:ea typeface="STCaiyun" panose="020B0503020204020204" pitchFamily="2" charset="-122"/>
              </a:rPr>
              <a:t>SAE106</a:t>
            </a:r>
            <a:br>
              <a:rPr lang="fr-FR" dirty="0"/>
            </a:br>
            <a:r>
              <a:rPr lang="fr-FR" sz="2400" dirty="0">
                <a:latin typeface="Aptos"/>
              </a:rPr>
              <a:t>Maxence Abric--Segarra &amp; Adam Chakra &amp; Quentin Courson</a:t>
            </a:r>
            <a:br>
              <a:rPr lang="fr-FR" sz="2400" dirty="0">
                <a:latin typeface="Aptos"/>
              </a:rPr>
            </a:br>
            <a:br>
              <a:rPr lang="fr-FR" sz="2400" dirty="0">
                <a:latin typeface="Aptos"/>
              </a:rPr>
            </a:br>
            <a:r>
              <a:rPr lang="fr-FR" sz="2400" dirty="0">
                <a:latin typeface="Aptos"/>
              </a:rPr>
              <a:t>10/01/2025</a:t>
            </a: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31434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14BAC6-1531-17F3-F915-8FCB2D0FE22B}"/>
              </a:ext>
            </a:extLst>
          </p:cNvPr>
          <p:cNvSpPr txBox="1"/>
          <p:nvPr/>
        </p:nvSpPr>
        <p:spPr>
          <a:xfrm>
            <a:off x="5120830" y="405765"/>
            <a:ext cx="2413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Sommaire</a:t>
            </a:r>
            <a:r>
              <a:rPr lang="fr-FR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0B87D9-E23F-A28C-83FB-66D1EA366A7B}"/>
              </a:ext>
            </a:extLst>
          </p:cNvPr>
          <p:cNvSpPr txBox="1"/>
          <p:nvPr/>
        </p:nvSpPr>
        <p:spPr>
          <a:xfrm>
            <a:off x="1132463" y="1788777"/>
            <a:ext cx="669182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/>
              <a:t>Présentation de la variable connaissance du CPIE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/>
              <a:t>Analyse du lien entre la connaissance du CPIE et :</a:t>
            </a:r>
          </a:p>
          <a:p>
            <a:r>
              <a:rPr lang="fr-FR" sz="2200"/>
              <a:t>        -L'âge</a:t>
            </a:r>
          </a:p>
          <a:p>
            <a:r>
              <a:rPr lang="fr-FR" sz="2200"/>
              <a:t>        -La note de recommandation</a:t>
            </a:r>
          </a:p>
          <a:p>
            <a:r>
              <a:rPr lang="fr-FR" sz="2200"/>
              <a:t>        -Le lieu de résidence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/>
              <a:t>Conclusion</a:t>
            </a:r>
          </a:p>
          <a:p>
            <a:endParaRPr lang="fr-FR" sz="2200"/>
          </a:p>
          <a:p>
            <a:endParaRPr lang="fr-FR" sz="2200"/>
          </a:p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230ED-DFC6-4B1E-DC93-7F43F0A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5B279-8948-43C0-7692-DCF4210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51829" cy="353920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pic>
        <p:nvPicPr>
          <p:cNvPr id="3" name="Image 2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EAE499ED-2647-02DD-17EC-0975337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7" name="Image 6" descr="CPIE de Belle-Île en mer">
            <a:extLst>
              <a:ext uri="{FF2B5EF4-FFF2-40B4-BE49-F238E27FC236}">
                <a16:creationId xmlns:a16="http://schemas.microsoft.com/office/drawing/2014/main" id="{60C2C11C-3744-8EDB-5A0D-4E41256E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324F4F6-77D2-DC87-A1DF-AB5EDD89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04D6B-B13B-644E-8B85-A43680044B82}" type="datetime1">
              <a:rPr lang="fr-FR" smtClean="0"/>
              <a:t>29/05/2025</a:t>
            </a:fld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AF69B-3348-B468-0915-23A26FA96E51}"/>
              </a:ext>
            </a:extLst>
          </p:cNvPr>
          <p:cNvSpPr/>
          <p:nvPr/>
        </p:nvSpPr>
        <p:spPr>
          <a:xfrm>
            <a:off x="1073159" y="1788777"/>
            <a:ext cx="45719" cy="2418526"/>
          </a:xfrm>
          <a:prstGeom prst="rect">
            <a:avLst/>
          </a:prstGeom>
          <a:solidFill>
            <a:srgbClr val="ED7D3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2461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14BAC6-1531-17F3-F915-8FCB2D0FE22B}"/>
              </a:ext>
            </a:extLst>
          </p:cNvPr>
          <p:cNvSpPr txBox="1"/>
          <p:nvPr/>
        </p:nvSpPr>
        <p:spPr>
          <a:xfrm>
            <a:off x="5120830" y="405765"/>
            <a:ext cx="24136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800" b="1"/>
              <a:t>Introduction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230ED-DFC6-4B1E-DC93-7F43F0A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5B279-8948-43C0-7692-DCF4210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51829" cy="353920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pic>
        <p:nvPicPr>
          <p:cNvPr id="3" name="Image 2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EAE499ED-2647-02DD-17EC-0975337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7" name="Image 6" descr="CPIE de Belle-Île en mer">
            <a:extLst>
              <a:ext uri="{FF2B5EF4-FFF2-40B4-BE49-F238E27FC236}">
                <a16:creationId xmlns:a16="http://schemas.microsoft.com/office/drawing/2014/main" id="{60C2C11C-3744-8EDB-5A0D-4E41256E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738" y="-35029"/>
            <a:ext cx="1053215" cy="1281202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324F4F6-77D2-DC87-A1DF-AB5EDD89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04D6B-B13B-644E-8B85-A43680044B82}" type="datetime1">
              <a:rPr lang="fr-FR" smtClean="0"/>
              <a:t>29/05/2025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F3F5487-2B99-2FB2-42FC-5DB847FBADDA}"/>
              </a:ext>
            </a:extLst>
          </p:cNvPr>
          <p:cNvSpPr txBox="1"/>
          <p:nvPr/>
        </p:nvSpPr>
        <p:spPr>
          <a:xfrm>
            <a:off x="838200" y="1997839"/>
            <a:ext cx="5364480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/>
              <a:t>Objectifs</a:t>
            </a:r>
            <a:r>
              <a:rPr lang="fr-FR"/>
              <a:t> </a:t>
            </a:r>
            <a:r>
              <a:rPr lang="fr-FR" b="1"/>
              <a:t>: </a:t>
            </a:r>
            <a:r>
              <a:rPr lang="fr-FR"/>
              <a:t>collecter les informations pour savoir si le CPIE est connu dans le territoire de </a:t>
            </a:r>
            <a:r>
              <a:rPr lang="fr-FR" sz="1800" kern="0">
                <a:solidFill>
                  <a:srgbClr val="000000"/>
                </a:solidFill>
                <a:effectLst/>
                <a:latin typeface="Aptos"/>
                <a:ea typeface="Times New Roman" panose="02020603050405020304" pitchFamily="18" charset="0"/>
                <a:cs typeface="Times New Roman"/>
              </a:rPr>
              <a:t>Belle-Île-en-Mer </a:t>
            </a:r>
          </a:p>
          <a:p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/>
              <a:t>Population cible : </a:t>
            </a:r>
            <a:r>
              <a:rPr lang="fr-FR"/>
              <a:t>les résidents principaux, les résidents secondaires et les professionnels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/>
              <a:t>Nombre de réponse obtenue : </a:t>
            </a:r>
            <a:r>
              <a:rPr lang="fr-FR"/>
              <a:t>194 réponses </a:t>
            </a:r>
            <a:r>
              <a:rPr lang="fr-FR" b="1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7138946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14BAC6-1531-17F3-F915-8FCB2D0FE22B}"/>
              </a:ext>
            </a:extLst>
          </p:cNvPr>
          <p:cNvSpPr txBox="1"/>
          <p:nvPr/>
        </p:nvSpPr>
        <p:spPr>
          <a:xfrm>
            <a:off x="1725448" y="416971"/>
            <a:ext cx="935007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2800" b="1"/>
              <a:t>Présentation de la variable connaissance du CPIE  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230ED-DFC6-4B1E-DC93-7F43F0A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5B279-8948-43C0-7692-DCF4210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51829" cy="353920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pic>
        <p:nvPicPr>
          <p:cNvPr id="3" name="Image 2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EAE499ED-2647-02DD-17EC-0975337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7" name="Image 6" descr="CPIE de Belle-Île en mer">
            <a:extLst>
              <a:ext uri="{FF2B5EF4-FFF2-40B4-BE49-F238E27FC236}">
                <a16:creationId xmlns:a16="http://schemas.microsoft.com/office/drawing/2014/main" id="{60C2C11C-3744-8EDB-5A0D-4E41256E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324F4F6-77D2-DC87-A1DF-AB5EDD89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04D6B-B13B-644E-8B85-A43680044B82}" type="datetime1">
              <a:rPr lang="fr-FR" smtClean="0"/>
              <a:t>29/05/2025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7F71382-CF45-02CE-C5FD-32416BE14AF0}"/>
              </a:ext>
            </a:extLst>
          </p:cNvPr>
          <p:cNvSpPr txBox="1"/>
          <p:nvPr/>
        </p:nvSpPr>
        <p:spPr>
          <a:xfrm>
            <a:off x="367553" y="1594427"/>
            <a:ext cx="5364480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kern="0">
                <a:cs typeface="Times New Roman"/>
              </a:rPr>
              <a:t>Quel est votre définition du CPIE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kern="0">
                <a:cs typeface="Times New Roman"/>
              </a:rPr>
              <a:t>5 bonnes réponses</a:t>
            </a:r>
          </a:p>
          <a:p>
            <a:r>
              <a:rPr lang="fr-FR" kern="0">
                <a:latin typeface="Aptos Narrow"/>
                <a:cs typeface="Times New Roman"/>
              </a:rPr>
              <a:t> -Une association environnementale</a:t>
            </a:r>
            <a:endParaRPr lang="fr-FR" kern="0">
              <a:latin typeface="Aptos" panose="02110004020202020204"/>
              <a:cs typeface="Times New Roman"/>
            </a:endParaRPr>
          </a:p>
          <a:p>
            <a:r>
              <a:rPr lang="fr-FR" kern="0">
                <a:latin typeface="Aptos Narrow"/>
                <a:cs typeface="Times New Roman"/>
              </a:rPr>
              <a:t> -Une association qui organise des sorties découvertes </a:t>
            </a:r>
          </a:p>
          <a:p>
            <a:r>
              <a:rPr lang="fr-FR" kern="0">
                <a:latin typeface="Aptos Narrow"/>
                <a:cs typeface="Times New Roman"/>
              </a:rPr>
              <a:t> -Un organisme public</a:t>
            </a:r>
            <a:endParaRPr lang="fr-FR" kern="0">
              <a:latin typeface="Aptos" panose="02110004020202020204"/>
              <a:cs typeface="Times New Roman"/>
            </a:endParaRPr>
          </a:p>
          <a:p>
            <a:r>
              <a:rPr lang="fr-FR" kern="0">
                <a:latin typeface="Aptos Narrow"/>
                <a:cs typeface="Times New Roman"/>
              </a:rPr>
              <a:t> -Un organisme de formation</a:t>
            </a:r>
            <a:endParaRPr lang="fr-FR" kern="0">
              <a:latin typeface="Aptos" panose="02110004020202020204"/>
              <a:cs typeface="Times New Roman"/>
            </a:endParaRPr>
          </a:p>
          <a:p>
            <a:r>
              <a:rPr lang="fr-FR" kern="0">
                <a:latin typeface="Aptos Narrow"/>
                <a:cs typeface="Times New Roman"/>
              </a:rPr>
              <a:t> -Un bureau d’étude</a:t>
            </a:r>
            <a:endParaRPr lang="fr-FR" kern="0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kern="0">
              <a:cs typeface="Times New Roman"/>
            </a:endParaRPr>
          </a:p>
          <a:p>
            <a:r>
              <a:rPr lang="fr-FR" kern="0">
                <a:cs typeface="Times New Roman"/>
              </a:rPr>
              <a:t>  </a:t>
            </a:r>
            <a:r>
              <a:rPr lang="fr-FR" kern="0">
                <a:latin typeface="Aptos Narrow"/>
                <a:cs typeface="Times New Roman"/>
              </a:rPr>
              <a:t>0 =ne connait pas</a:t>
            </a:r>
          </a:p>
          <a:p>
            <a:r>
              <a:rPr lang="fr-FR" kern="0">
                <a:latin typeface="Aptos Narrow"/>
                <a:cs typeface="Times New Roman"/>
              </a:rPr>
              <a:t>  1 ou 2 = connaissance partielle </a:t>
            </a:r>
            <a:endParaRPr lang="fr-FR"/>
          </a:p>
          <a:p>
            <a:r>
              <a:rPr lang="fr-FR" kern="0">
                <a:latin typeface="Aptos Narrow"/>
                <a:cs typeface="Times New Roman"/>
              </a:rPr>
              <a:t>  3 = connaissance moyenne</a:t>
            </a:r>
            <a:endParaRPr lang="fr-FR"/>
          </a:p>
          <a:p>
            <a:r>
              <a:rPr lang="fr-FR" kern="0">
                <a:latin typeface="Aptos Narrow"/>
                <a:cs typeface="Times New Roman"/>
              </a:rPr>
              <a:t>  4 ou 5 = très bonne connaissance</a:t>
            </a:r>
            <a:endParaRPr lang="fr-FR"/>
          </a:p>
          <a:p>
            <a:endParaRPr lang="fr-FR" kern="0">
              <a:latin typeface="Aptos Narrow"/>
              <a:cs typeface="Times New Roman"/>
            </a:endParaRPr>
          </a:p>
          <a:p>
            <a:r>
              <a:rPr lang="fr-FR" kern="0">
                <a:latin typeface="Aptos Narrow"/>
                <a:cs typeface="Times New Roman"/>
              </a:rPr>
              <a:t>70% des personnes ont répondu la 1et la 2 parmi les personnes ayant répondu la 1 ou la 2 </a:t>
            </a:r>
          </a:p>
          <a:p>
            <a:endParaRPr lang="fr-FR" kern="0">
              <a:latin typeface="Aptos Narrow"/>
              <a:cs typeface="Times New Roman"/>
            </a:endParaRPr>
          </a:p>
          <a:p>
            <a:endParaRPr lang="fr-FR" kern="0">
              <a:latin typeface="Aptos Narrow"/>
              <a:cs typeface="Times New Roman"/>
            </a:endParaRPr>
          </a:p>
          <a:p>
            <a:endParaRPr lang="fr-FR" kern="0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/>
          </a:p>
        </p:txBody>
      </p:sp>
      <p:pic>
        <p:nvPicPr>
          <p:cNvPr id="14" name="Image 13" descr="Une image contenant capture d’écran, texte, logo, Graphique&#10;&#10;Description générée automatiquement">
            <a:extLst>
              <a:ext uri="{FF2B5EF4-FFF2-40B4-BE49-F238E27FC236}">
                <a16:creationId xmlns:a16="http://schemas.microsoft.com/office/drawing/2014/main" id="{22714F24-349E-2255-1E67-33F7A99B0B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56" t="557" r="18633" b="2786"/>
          <a:stretch/>
        </p:blipFill>
        <p:spPr>
          <a:xfrm>
            <a:off x="6789867" y="943816"/>
            <a:ext cx="4561929" cy="3894400"/>
          </a:xfrm>
          <a:prstGeom prst="rect">
            <a:avLst/>
          </a:prstGeom>
        </p:spPr>
      </p:pic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7E4D7DF1-E70C-9FC0-D746-C39B9C68A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069355"/>
              </p:ext>
            </p:extLst>
          </p:nvPr>
        </p:nvGraphicFramePr>
        <p:xfrm>
          <a:off x="5558117" y="4986617"/>
          <a:ext cx="6638925" cy="11566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6065">
                  <a:extLst>
                    <a:ext uri="{9D8B030D-6E8A-4147-A177-3AD203B41FA5}">
                      <a16:colId xmlns:a16="http://schemas.microsoft.com/office/drawing/2014/main" val="2811818872"/>
                    </a:ext>
                  </a:extLst>
                </a:gridCol>
                <a:gridCol w="1916430">
                  <a:extLst>
                    <a:ext uri="{9D8B030D-6E8A-4147-A177-3AD203B41FA5}">
                      <a16:colId xmlns:a16="http://schemas.microsoft.com/office/drawing/2014/main" val="645859459"/>
                    </a:ext>
                  </a:extLst>
                </a:gridCol>
                <a:gridCol w="1916430">
                  <a:extLst>
                    <a:ext uri="{9D8B030D-6E8A-4147-A177-3AD203B41FA5}">
                      <a16:colId xmlns:a16="http://schemas.microsoft.com/office/drawing/2014/main" val="4060583071"/>
                    </a:ext>
                  </a:extLst>
                </a:gridCol>
              </a:tblGrid>
              <a:tr h="2041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de connaissance 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Effectifs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Pourcentages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374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Aucune connaissance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73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38,02 %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705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Faible connaissance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43,75 %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16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Connaissance moyenne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10,94 %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935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Bonne connaissance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7,29 %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4595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général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100,00 %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45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0199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C73CB26-DDA4-1EF2-18EE-912E6295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002E-887F-0340-A6A3-4879AC500DCE}" type="datetime1">
              <a:rPr lang="fr-FR" smtClean="0"/>
              <a:t>29/05/2025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9472B21-D667-8BE0-0727-6C04913F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03192" cy="365125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68017D-510C-674A-425C-2199D237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5</a:t>
            </a:fld>
            <a:endParaRPr lang="fr-FR"/>
          </a:p>
        </p:txBody>
      </p:sp>
      <p:pic>
        <p:nvPicPr>
          <p:cNvPr id="5" name="Image 4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1422C8D8-EB53-D8C4-1B5B-1A02105D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6" name="Image 5" descr="CPIE de Belle-Île en mer">
            <a:extLst>
              <a:ext uri="{FF2B5EF4-FFF2-40B4-BE49-F238E27FC236}">
                <a16:creationId xmlns:a16="http://schemas.microsoft.com/office/drawing/2014/main" id="{95095233-6C93-748E-3597-4EED26A43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697751B-AF92-3548-7F83-EBD2E9FA36E9}"/>
              </a:ext>
            </a:extLst>
          </p:cNvPr>
          <p:cNvSpPr txBox="1"/>
          <p:nvPr/>
        </p:nvSpPr>
        <p:spPr>
          <a:xfrm>
            <a:off x="4716780" y="420431"/>
            <a:ext cx="210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La variable âge : </a:t>
            </a:r>
          </a:p>
        </p:txBody>
      </p:sp>
      <p:pic>
        <p:nvPicPr>
          <p:cNvPr id="8" name="Picture 2" descr="Une image contenant capture d’écran, Tracé, ligne, nombre&#10;&#10;Description générée automatiquement">
            <a:extLst>
              <a:ext uri="{FF2B5EF4-FFF2-40B4-BE49-F238E27FC236}">
                <a16:creationId xmlns:a16="http://schemas.microsoft.com/office/drawing/2014/main" id="{A28D9EE0-F61E-BF20-CEDD-48BC3C8AB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75" y="1392801"/>
            <a:ext cx="5533264" cy="316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EA64004-44BC-179E-B2C5-F2EDBCDFA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7838" y="-1446953"/>
            <a:ext cx="131831666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354243E-CA25-E51B-D228-19C5D1D5F437}"/>
              </a:ext>
            </a:extLst>
          </p:cNvPr>
          <p:cNvSpPr txBox="1"/>
          <p:nvPr/>
        </p:nvSpPr>
        <p:spPr>
          <a:xfrm>
            <a:off x="237329" y="1801850"/>
            <a:ext cx="473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/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423CAD46-911A-9913-6B64-6EB6791A0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946065"/>
              </p:ext>
            </p:extLst>
          </p:nvPr>
        </p:nvGraphicFramePr>
        <p:xfrm>
          <a:off x="6140196" y="1899499"/>
          <a:ext cx="5526510" cy="2174305"/>
        </p:xfrm>
        <a:graphic>
          <a:graphicData uri="http://schemas.openxmlformats.org/drawingml/2006/table">
            <a:tbl>
              <a:tblPr/>
              <a:tblGrid>
                <a:gridCol w="1842170">
                  <a:extLst>
                    <a:ext uri="{9D8B030D-6E8A-4147-A177-3AD203B41FA5}">
                      <a16:colId xmlns:a16="http://schemas.microsoft.com/office/drawing/2014/main" val="3540289641"/>
                    </a:ext>
                  </a:extLst>
                </a:gridCol>
                <a:gridCol w="1842170">
                  <a:extLst>
                    <a:ext uri="{9D8B030D-6E8A-4147-A177-3AD203B41FA5}">
                      <a16:colId xmlns:a16="http://schemas.microsoft.com/office/drawing/2014/main" val="2563344550"/>
                    </a:ext>
                  </a:extLst>
                </a:gridCol>
                <a:gridCol w="1842170">
                  <a:extLst>
                    <a:ext uri="{9D8B030D-6E8A-4147-A177-3AD203B41FA5}">
                      <a16:colId xmlns:a16="http://schemas.microsoft.com/office/drawing/2014/main" val="2533715773"/>
                    </a:ext>
                  </a:extLst>
                </a:gridCol>
              </a:tblGrid>
              <a:tr h="30324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  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Effectif  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Pourcentage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491420"/>
                  </a:ext>
                </a:extLst>
              </a:tr>
              <a:tr h="64338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Entre 30 et 59 ans    </a:t>
                      </a:r>
                      <a:endParaRPr lang="fr-FR" sz="1600" b="0" i="0">
                        <a:effectLst/>
                      </a:endParaRPr>
                    </a:p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46.35 %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431654"/>
                  </a:ext>
                </a:extLst>
              </a:tr>
              <a:tr h="30324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Plus de 60 ans 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35.4 %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97037"/>
                  </a:ext>
                </a:extLst>
              </a:tr>
              <a:tr h="35429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Entre 18 et 29 ans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25    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13 % 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944432"/>
                  </a:ext>
                </a:extLst>
              </a:tr>
              <a:tr h="33039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Moins de 18 ans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5.2 %  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197896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81"/>
                        </a:lnSpc>
                      </a:pPr>
                      <a:r>
                        <a:rPr lang="fr-FR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  </a:t>
                      </a: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192 </a:t>
                      </a: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781"/>
                        </a:lnSpc>
                      </a:pPr>
                      <a:r>
                        <a:rPr lang="fr-FR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100 %</a:t>
                      </a:r>
                      <a:r>
                        <a:rPr lang="fr-FR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600" b="0" i="0">
                        <a:effectLst/>
                      </a:endParaRPr>
                    </a:p>
                  </a:txBody>
                  <a:tcPr marL="19517" marR="19517" marT="9759" marB="975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99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3256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230ED-DFC6-4B1E-DC93-7F43F0A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5B279-8948-43C0-7692-DCF4210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51829" cy="353920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pic>
        <p:nvPicPr>
          <p:cNvPr id="3" name="Image 2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EAE499ED-2647-02DD-17EC-0975337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7" name="Image 6" descr="CPIE de Belle-Île en mer">
            <a:extLst>
              <a:ext uri="{FF2B5EF4-FFF2-40B4-BE49-F238E27FC236}">
                <a16:creationId xmlns:a16="http://schemas.microsoft.com/office/drawing/2014/main" id="{60C2C11C-3744-8EDB-5A0D-4E41256E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324F4F6-77D2-DC87-A1DF-AB5EDD89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04D6B-B13B-644E-8B85-A43680044B82}" type="datetime1">
              <a:rPr lang="fr-FR" smtClean="0"/>
              <a:t>29/05/2025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77DBCC2-FADA-685C-70AD-128CEB74DB65}"/>
              </a:ext>
            </a:extLst>
          </p:cNvPr>
          <p:cNvSpPr txBox="1"/>
          <p:nvPr/>
        </p:nvSpPr>
        <p:spPr>
          <a:xfrm>
            <a:off x="3123231" y="435820"/>
            <a:ext cx="594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b="1"/>
              <a:t>Analyse du lien entre la connaissance du CPIE et l’âge : </a:t>
            </a:r>
            <a:endParaRPr lang="fr-FR" b="1"/>
          </a:p>
        </p:txBody>
      </p:sp>
      <p:pic>
        <p:nvPicPr>
          <p:cNvPr id="4" name="Image 3" descr="Une image contenant texte, capture d’écran, Parallèle, nombre&#10;&#10;Description générée automatiquement">
            <a:extLst>
              <a:ext uri="{FF2B5EF4-FFF2-40B4-BE49-F238E27FC236}">
                <a16:creationId xmlns:a16="http://schemas.microsoft.com/office/drawing/2014/main" id="{29257045-2095-A0D5-F47D-1FD33FA9C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706" y="1240885"/>
            <a:ext cx="7327796" cy="437483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2DD5D71-3B5A-73CB-114D-CC8201696256}"/>
              </a:ext>
            </a:extLst>
          </p:cNvPr>
          <p:cNvSpPr txBox="1"/>
          <p:nvPr/>
        </p:nvSpPr>
        <p:spPr>
          <a:xfrm>
            <a:off x="4350151" y="5806632"/>
            <a:ext cx="35013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/>
              <a:t>Âge x Type de connaissances</a:t>
            </a:r>
          </a:p>
        </p:txBody>
      </p:sp>
    </p:spTree>
    <p:extLst>
      <p:ext uri="{BB962C8B-B14F-4D97-AF65-F5344CB8AC3E}">
        <p14:creationId xmlns:p14="http://schemas.microsoft.com/office/powerpoint/2010/main" val="34076315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5E1D58-7985-F75A-18FA-26D863D1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002E-887F-0340-A6A3-4879AC500DCE}" type="datetime1">
              <a:rPr lang="fr-FR" smtClean="0"/>
              <a:t>29/05/2025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9213F1-B9E7-B9A7-ADC6-F7401A90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569CBF-1677-2B21-E2C4-FB47FB9A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A68A689-8740-A268-23D4-982367B8A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086391"/>
              </p:ext>
            </p:extLst>
          </p:nvPr>
        </p:nvGraphicFramePr>
        <p:xfrm>
          <a:off x="2773559" y="4156630"/>
          <a:ext cx="6638927" cy="1303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6879">
                  <a:extLst>
                    <a:ext uri="{9D8B030D-6E8A-4147-A177-3AD203B41FA5}">
                      <a16:colId xmlns:a16="http://schemas.microsoft.com/office/drawing/2014/main" val="578200315"/>
                    </a:ext>
                  </a:extLst>
                </a:gridCol>
                <a:gridCol w="926096">
                  <a:extLst>
                    <a:ext uri="{9D8B030D-6E8A-4147-A177-3AD203B41FA5}">
                      <a16:colId xmlns:a16="http://schemas.microsoft.com/office/drawing/2014/main" val="551406908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1057230318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4131999244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4165785580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2709853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Âge/type de connaissance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Aucune connaissance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Faible connaissance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Connaissance moyenne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Bonne connaissance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Total général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1765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Moins de 18 ans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0.01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0.089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0.009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  <a:latin typeface="Calibri"/>
                          <a:ea typeface="Calibri"/>
                          <a:cs typeface="Arial"/>
                        </a:rPr>
                        <a:t>0.73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402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Entre 18 et 29 ans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7.6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3.22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1.1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0.37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11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Entre 30 et 59 ans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0.7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0.24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0.0075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0.35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89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6592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Plus de 60 ans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0.57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0.17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0.327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0.0003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68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070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Total général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73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84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b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192</a:t>
                      </a:r>
                      <a:endParaRPr lang="fr-FR" sz="11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18488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16B20C9F-DA40-3718-A270-4BDC341A0153}"/>
              </a:ext>
            </a:extLst>
          </p:cNvPr>
          <p:cNvSpPr txBox="1"/>
          <p:nvPr/>
        </p:nvSpPr>
        <p:spPr>
          <a:xfrm>
            <a:off x="3123231" y="435820"/>
            <a:ext cx="594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b="1"/>
              <a:t>Analyse du lien entre la connaissance du CPIE et l’âge : </a:t>
            </a:r>
            <a:endParaRPr lang="fr-FR" b="1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E116D5A2-2A62-879D-251C-85FBF4634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757716"/>
              </p:ext>
            </p:extLst>
          </p:nvPr>
        </p:nvGraphicFramePr>
        <p:xfrm>
          <a:off x="3267075" y="1425405"/>
          <a:ext cx="5657850" cy="17635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2975">
                  <a:extLst>
                    <a:ext uri="{9D8B030D-6E8A-4147-A177-3AD203B41FA5}">
                      <a16:colId xmlns:a16="http://schemas.microsoft.com/office/drawing/2014/main" val="875517725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44808087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32452682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4053739502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350345609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5589158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 b="1">
                          <a:effectLst/>
                          <a:latin typeface="Calibri" panose="020F0502020204030204" pitchFamily="34" charset="0"/>
                        </a:rPr>
                        <a:t> âge /type de connaissance</a:t>
                      </a: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 b="1">
                          <a:effectLst/>
                          <a:latin typeface="Calibri" panose="020F0502020204030204" pitchFamily="34" charset="0"/>
                        </a:rPr>
                        <a:t>Aucune connaissance</a:t>
                      </a: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 b="1">
                          <a:effectLst/>
                          <a:latin typeface="Calibri" panose="020F0502020204030204" pitchFamily="34" charset="0"/>
                        </a:rPr>
                        <a:t>Faible connaissance</a:t>
                      </a: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 b="1">
                          <a:effectLst/>
                          <a:latin typeface="Calibri" panose="020F0502020204030204" pitchFamily="34" charset="0"/>
                        </a:rPr>
                        <a:t>Connaissance moyenne</a:t>
                      </a: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 b="1">
                          <a:effectLst/>
                          <a:latin typeface="Calibri" panose="020F0502020204030204" pitchFamily="34" charset="0"/>
                        </a:rPr>
                        <a:t>Bonne connaissance</a:t>
                      </a: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 b="1">
                          <a:effectLst/>
                          <a:latin typeface="Calibri" panose="020F0502020204030204" pitchFamily="34" charset="0"/>
                        </a:rPr>
                        <a:t>Total général</a:t>
                      </a: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115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Moins de 18 ans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4 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5 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4259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Entre 18 et 29 ans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5 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25 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045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Entre 30 et 59 ans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29 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42 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8 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50"/>
                        </a:lnSpc>
                      </a:pPr>
                      <a:r>
                        <a:rPr lang="fr-FR" sz="1100">
                          <a:effectLst/>
                          <a:latin typeface="Calibri" panose="020F0502020204030204" pitchFamily="34" charset="0"/>
                        </a:rPr>
                        <a:t>89 </a:t>
                      </a:r>
                      <a:endParaRPr lang="fr-FR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510559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AB89605C-7BE8-0F0E-44C5-BCCBCE304693}"/>
              </a:ext>
            </a:extLst>
          </p:cNvPr>
          <p:cNvSpPr txBox="1"/>
          <p:nvPr/>
        </p:nvSpPr>
        <p:spPr>
          <a:xfrm>
            <a:off x="4804832" y="3164417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Calibri"/>
                <a:ea typeface="Calibri"/>
                <a:cs typeface="Calibri"/>
              </a:rPr>
              <a:t>Tableau observer/réel des effectifs</a:t>
            </a:r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76A16EA-600D-2850-D54E-A3F91573A699}"/>
              </a:ext>
            </a:extLst>
          </p:cNvPr>
          <p:cNvSpPr txBox="1"/>
          <p:nvPr/>
        </p:nvSpPr>
        <p:spPr>
          <a:xfrm>
            <a:off x="4720166" y="5630333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100">
                <a:latin typeface="Calibri"/>
                <a:ea typeface="Calibri"/>
                <a:cs typeface="Calibri"/>
              </a:rPr>
              <a:t>Tableau des khi2</a:t>
            </a:r>
            <a:endParaRPr lang="fr-FR"/>
          </a:p>
        </p:txBody>
      </p:sp>
      <p:pic>
        <p:nvPicPr>
          <p:cNvPr id="9" name="Image 8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54483C0B-3DB6-3727-C3FE-98605A2F3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11" name="Image 10" descr="CPIE de Belle-Île en mer">
            <a:extLst>
              <a:ext uri="{FF2B5EF4-FFF2-40B4-BE49-F238E27FC236}">
                <a16:creationId xmlns:a16="http://schemas.microsoft.com/office/drawing/2014/main" id="{5B8DF7D6-0FDF-9DBD-9118-76132AB5C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5" name="ZoneTexte 8">
            <a:extLst>
              <a:ext uri="{FF2B5EF4-FFF2-40B4-BE49-F238E27FC236}">
                <a16:creationId xmlns:a16="http://schemas.microsoft.com/office/drawing/2014/main" id="{8048F064-20F1-3BED-0151-8F22167B8328}"/>
              </a:ext>
            </a:extLst>
          </p:cNvPr>
          <p:cNvSpPr txBox="1"/>
          <p:nvPr/>
        </p:nvSpPr>
        <p:spPr>
          <a:xfrm>
            <a:off x="519036" y="3075969"/>
            <a:ext cx="3690937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fr-FR"/>
              <a:t>V de cramer = 0,164</a:t>
            </a:r>
          </a:p>
          <a:p>
            <a:pPr marL="285750" indent="-285750">
              <a:buFont typeface="Arial"/>
              <a:buChar char="•"/>
            </a:pPr>
            <a:r>
              <a:rPr lang="fr-FR"/>
              <a:t>Evènement indépendants </a:t>
            </a:r>
          </a:p>
          <a:p>
            <a:pPr marL="285750" indent="-285750">
              <a:buFont typeface="Arial"/>
              <a:buChar char="•"/>
            </a:pPr>
            <a:r>
              <a:rPr lang="fr-FR"/>
              <a:t>Grande contribution khi2 pour les 18-29 ans</a:t>
            </a:r>
          </a:p>
        </p:txBody>
      </p:sp>
    </p:spTree>
    <p:extLst>
      <p:ext uri="{BB962C8B-B14F-4D97-AF65-F5344CB8AC3E}">
        <p14:creationId xmlns:p14="http://schemas.microsoft.com/office/powerpoint/2010/main" val="9448646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14BAC6-1531-17F3-F915-8FCB2D0FE22B}"/>
              </a:ext>
            </a:extLst>
          </p:cNvPr>
          <p:cNvSpPr txBox="1"/>
          <p:nvPr/>
        </p:nvSpPr>
        <p:spPr>
          <a:xfrm>
            <a:off x="5120830" y="405765"/>
            <a:ext cx="24136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fr-FR" sz="2800" b="1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230ED-DFC6-4B1E-DC93-7F43F0A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5B279-8948-43C0-7692-DCF4210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51829" cy="353920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pic>
        <p:nvPicPr>
          <p:cNvPr id="3" name="Image 2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EAE499ED-2647-02DD-17EC-0975337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7" name="Image 6" descr="CPIE de Belle-Île en mer">
            <a:extLst>
              <a:ext uri="{FF2B5EF4-FFF2-40B4-BE49-F238E27FC236}">
                <a16:creationId xmlns:a16="http://schemas.microsoft.com/office/drawing/2014/main" id="{60C2C11C-3744-8EDB-5A0D-4E41256EA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324F4F6-77D2-DC87-A1DF-AB5EDD89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04D6B-B13B-644E-8B85-A43680044B82}" type="datetime1">
              <a:rPr lang="fr-FR" smtClean="0"/>
              <a:t>29/05/2025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991D42-3A10-496A-9621-C10214D3D475}"/>
              </a:ext>
            </a:extLst>
          </p:cNvPr>
          <p:cNvSpPr txBox="1"/>
          <p:nvPr/>
        </p:nvSpPr>
        <p:spPr>
          <a:xfrm>
            <a:off x="4535124" y="470931"/>
            <a:ext cx="345819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La note de recommandation</a:t>
            </a:r>
          </a:p>
          <a:p>
            <a:endParaRPr lang="fr-F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F43EFEA-8247-A6A4-52BB-DAFE9C9FB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96" y="1682254"/>
            <a:ext cx="5182036" cy="311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6F00B34-FAD6-2692-90B6-ACEF79066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164986"/>
              </p:ext>
            </p:extLst>
          </p:nvPr>
        </p:nvGraphicFramePr>
        <p:xfrm>
          <a:off x="6047667" y="2400389"/>
          <a:ext cx="5632704" cy="1682610"/>
        </p:xfrm>
        <a:graphic>
          <a:graphicData uri="http://schemas.openxmlformats.org/drawingml/2006/table">
            <a:tbl>
              <a:tblPr/>
              <a:tblGrid>
                <a:gridCol w="878694">
                  <a:extLst>
                    <a:ext uri="{9D8B030D-6E8A-4147-A177-3AD203B41FA5}">
                      <a16:colId xmlns:a16="http://schemas.microsoft.com/office/drawing/2014/main" val="2389907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057114"/>
                    </a:ext>
                  </a:extLst>
                </a:gridCol>
                <a:gridCol w="341376">
                  <a:extLst>
                    <a:ext uri="{9D8B030D-6E8A-4147-A177-3AD203B41FA5}">
                      <a16:colId xmlns:a16="http://schemas.microsoft.com/office/drawing/2014/main" val="64916611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67127623"/>
                    </a:ext>
                  </a:extLst>
                </a:gridCol>
                <a:gridCol w="370259">
                  <a:extLst>
                    <a:ext uri="{9D8B030D-6E8A-4147-A177-3AD203B41FA5}">
                      <a16:colId xmlns:a16="http://schemas.microsoft.com/office/drawing/2014/main" val="2887833907"/>
                    </a:ext>
                  </a:extLst>
                </a:gridCol>
                <a:gridCol w="349069">
                  <a:extLst>
                    <a:ext uri="{9D8B030D-6E8A-4147-A177-3AD203B41FA5}">
                      <a16:colId xmlns:a16="http://schemas.microsoft.com/office/drawing/2014/main" val="131580499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879556499"/>
                    </a:ext>
                  </a:extLst>
                </a:gridCol>
                <a:gridCol w="352698">
                  <a:extLst>
                    <a:ext uri="{9D8B030D-6E8A-4147-A177-3AD203B41FA5}">
                      <a16:colId xmlns:a16="http://schemas.microsoft.com/office/drawing/2014/main" val="4120923010"/>
                    </a:ext>
                  </a:extLst>
                </a:gridCol>
                <a:gridCol w="427590">
                  <a:extLst>
                    <a:ext uri="{9D8B030D-6E8A-4147-A177-3AD203B41FA5}">
                      <a16:colId xmlns:a16="http://schemas.microsoft.com/office/drawing/2014/main" val="2690487756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1144474136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3897306277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1921669840"/>
                    </a:ext>
                  </a:extLst>
                </a:gridCol>
                <a:gridCol w="511194">
                  <a:extLst>
                    <a:ext uri="{9D8B030D-6E8A-4147-A177-3AD203B41FA5}">
                      <a16:colId xmlns:a16="http://schemas.microsoft.com/office/drawing/2014/main" val="2243722688"/>
                    </a:ext>
                  </a:extLst>
                </a:gridCol>
              </a:tblGrid>
              <a:tr h="36787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1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 </a:t>
                      </a:r>
                      <a:endParaRPr lang="fr-FR" sz="20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80687"/>
                  </a:ext>
                </a:extLst>
              </a:tr>
              <a:tr h="59946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1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Effectifs </a:t>
                      </a:r>
                      <a:endParaRPr lang="fr-FR" sz="20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352714"/>
                  </a:ext>
                </a:extLst>
              </a:tr>
              <a:tr h="71526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05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Pourcentage</a:t>
                      </a:r>
                      <a:r>
                        <a:rPr lang="fr-FR" sz="1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16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27%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>
                        <a:effectLst/>
                      </a:endParaRPr>
                    </a:p>
                  </a:txBody>
                  <a:tcPr marL="76019" marR="76019" marT="38009" marB="3800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95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2885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2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EAE499ED-2647-02DD-17EC-09753379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0991D42-3A10-496A-9621-C10214D3D475}"/>
              </a:ext>
            </a:extLst>
          </p:cNvPr>
          <p:cNvSpPr txBox="1"/>
          <p:nvPr/>
        </p:nvSpPr>
        <p:spPr>
          <a:xfrm>
            <a:off x="1198604" y="774355"/>
            <a:ext cx="5228968" cy="1659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latin typeface="+mj-lt"/>
                <a:ea typeface="+mj-ea"/>
                <a:cs typeface="+mj-cs"/>
              </a:rPr>
              <a:t>La note de recommendation </a:t>
            </a:r>
            <a:endParaRPr lang="en-US" sz="310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err="1">
                <a:latin typeface="+mj-lt"/>
                <a:ea typeface="+mj-ea"/>
                <a:cs typeface="+mj-cs"/>
              </a:rPr>
              <a:t>en</a:t>
            </a:r>
            <a:r>
              <a:rPr lang="en-US" sz="3100" b="1">
                <a:latin typeface="+mj-lt"/>
                <a:ea typeface="+mj-ea"/>
                <a:cs typeface="+mj-cs"/>
              </a:rPr>
              <a:t> </a:t>
            </a:r>
            <a:r>
              <a:rPr lang="en-US" sz="3100" b="1" err="1">
                <a:latin typeface="+mj-lt"/>
                <a:ea typeface="+mj-ea"/>
                <a:cs typeface="+mj-cs"/>
              </a:rPr>
              <a:t>fonction</a:t>
            </a:r>
            <a:r>
              <a:rPr lang="en-US" sz="3100" b="1">
                <a:latin typeface="+mj-lt"/>
                <a:ea typeface="+mj-ea"/>
                <a:cs typeface="+mj-cs"/>
              </a:rPr>
              <a:t> de la </a:t>
            </a:r>
            <a:r>
              <a:rPr lang="en-US" sz="3100" b="1" err="1">
                <a:latin typeface="+mj-lt"/>
                <a:ea typeface="+mj-ea"/>
                <a:cs typeface="+mj-cs"/>
              </a:rPr>
              <a:t>connaissance</a:t>
            </a:r>
            <a:endParaRPr lang="en-US" sz="3100" err="1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>
                <a:latin typeface="+mj-lt"/>
                <a:ea typeface="+mj-ea"/>
                <a:cs typeface="+mj-cs"/>
              </a:rPr>
              <a:t> du CPIE</a:t>
            </a:r>
            <a:endParaRPr lang="en-US" sz="310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b="1">
              <a:latin typeface="+mj-lt"/>
              <a:ea typeface="+mj-ea"/>
              <a:cs typeface="+mj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65C0EAF-CD2B-244F-F2F1-6F2AC8BE932D}"/>
              </a:ext>
            </a:extLst>
          </p:cNvPr>
          <p:cNvSpPr txBox="1"/>
          <p:nvPr/>
        </p:nvSpPr>
        <p:spPr>
          <a:xfrm>
            <a:off x="7010403" y="753761"/>
            <a:ext cx="5178960" cy="16805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Vinter=0,120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Vtotal=5,26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Rapport de correlation=0,227</a:t>
            </a:r>
          </a:p>
        </p:txBody>
      </p:sp>
      <p:pic>
        <p:nvPicPr>
          <p:cNvPr id="10" name="Image 9" descr="Une image contenant texte, capture d’écran, affichage, Rectangle&#10;&#10;Description générée automatiquement">
            <a:extLst>
              <a:ext uri="{FF2B5EF4-FFF2-40B4-BE49-F238E27FC236}">
                <a16:creationId xmlns:a16="http://schemas.microsoft.com/office/drawing/2014/main" id="{843E917E-559D-3909-469B-720241548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88" y="2320586"/>
            <a:ext cx="6083644" cy="2791417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324F4F6-77D2-DC87-A1DF-AB5EDD89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2804D6B-B13B-644E-8B85-A43680044B82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5/29/2025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45B279-8948-43C0-7692-DCF4210D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Maxence Abric--Segarra &amp; Adam Chakra &amp; Quentin Courson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230ED-DFC6-4B1E-DC93-7F43F0A7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8573490-ADE3-BD4C-8702-84C46906163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4585057F-E792-FFBF-DDDA-166FEFD7B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84751"/>
              </p:ext>
            </p:extLst>
          </p:nvPr>
        </p:nvGraphicFramePr>
        <p:xfrm>
          <a:off x="6702962" y="3140167"/>
          <a:ext cx="5167186" cy="1948879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900751">
                  <a:extLst>
                    <a:ext uri="{9D8B030D-6E8A-4147-A177-3AD203B41FA5}">
                      <a16:colId xmlns:a16="http://schemas.microsoft.com/office/drawing/2014/main" val="1236625788"/>
                    </a:ext>
                  </a:extLst>
                </a:gridCol>
                <a:gridCol w="926625">
                  <a:extLst>
                    <a:ext uri="{9D8B030D-6E8A-4147-A177-3AD203B41FA5}">
                      <a16:colId xmlns:a16="http://schemas.microsoft.com/office/drawing/2014/main" val="2643195998"/>
                    </a:ext>
                  </a:extLst>
                </a:gridCol>
                <a:gridCol w="900751">
                  <a:extLst>
                    <a:ext uri="{9D8B030D-6E8A-4147-A177-3AD203B41FA5}">
                      <a16:colId xmlns:a16="http://schemas.microsoft.com/office/drawing/2014/main" val="4060148316"/>
                    </a:ext>
                  </a:extLst>
                </a:gridCol>
                <a:gridCol w="913242">
                  <a:extLst>
                    <a:ext uri="{9D8B030D-6E8A-4147-A177-3AD203B41FA5}">
                      <a16:colId xmlns:a16="http://schemas.microsoft.com/office/drawing/2014/main" val="232738222"/>
                    </a:ext>
                  </a:extLst>
                </a:gridCol>
                <a:gridCol w="900751">
                  <a:extLst>
                    <a:ext uri="{9D8B030D-6E8A-4147-A177-3AD203B41FA5}">
                      <a16:colId xmlns:a16="http://schemas.microsoft.com/office/drawing/2014/main" val="3878585067"/>
                    </a:ext>
                  </a:extLst>
                </a:gridCol>
                <a:gridCol w="625066">
                  <a:extLst>
                    <a:ext uri="{9D8B030D-6E8A-4147-A177-3AD203B41FA5}">
                      <a16:colId xmlns:a16="http://schemas.microsoft.com/office/drawing/2014/main" val="3003864185"/>
                    </a:ext>
                  </a:extLst>
                </a:gridCol>
              </a:tblGrid>
              <a:tr h="6652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Type de connaissance</a:t>
                      </a:r>
                    </a:p>
                  </a:txBody>
                  <a:tcPr marL="128475" marR="77085" marT="77085" marB="7708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Aucune connaissance 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Faible connaissance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900" b="1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Connaissance moyenne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900" b="1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Bonne connaissance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900" b="1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Total général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900" b="1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071846"/>
                  </a:ext>
                </a:extLst>
              </a:tr>
              <a:tr h="3148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Fréquence </a:t>
                      </a:r>
                    </a:p>
                  </a:txBody>
                  <a:tcPr marL="128475" marR="77085" marT="77085" marB="7708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38 %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43,75 %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10,94 %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7,29 %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100 %</a:t>
                      </a:r>
                      <a:endParaRPr lang="fr-FR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931781"/>
                  </a:ext>
                </a:extLst>
              </a:tr>
              <a:tr h="3148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Moyenne</a:t>
                      </a:r>
                    </a:p>
                  </a:txBody>
                  <a:tcPr marL="128475" marR="77085" marT="77085" marB="7708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7,4167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7,5875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8,1429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8,6154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7.71</a:t>
                      </a:r>
                      <a:endParaRPr lang="fr-FR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499964"/>
                  </a:ext>
                </a:extLst>
              </a:tr>
              <a:tr h="3148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Variance </a:t>
                      </a:r>
                    </a:p>
                  </a:txBody>
                  <a:tcPr marL="128475" marR="77085" marT="77085" marB="7708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6,5208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5,5423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2,5986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2,8521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5.26</a:t>
                      </a:r>
                      <a:endParaRPr lang="fr-FR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206706"/>
                  </a:ext>
                </a:extLst>
              </a:tr>
              <a:tr h="3148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Ecart type </a:t>
                      </a:r>
                    </a:p>
                  </a:txBody>
                  <a:tcPr marL="128475" marR="77085" marT="77085" marB="7708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2,5536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2,3542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1,6120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1,6888</a:t>
                      </a: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2.29</a:t>
                      </a:r>
                      <a:endParaRPr lang="fr-FR" sz="9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28475" marR="77085" marT="77085" marB="7708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912932"/>
                  </a:ext>
                </a:extLst>
              </a:tr>
            </a:tbl>
          </a:graphicData>
        </a:graphic>
      </p:graphicFrame>
      <p:pic>
        <p:nvPicPr>
          <p:cNvPr id="21" name="Image 20" descr="CPIE de Belle-Île en mer">
            <a:extLst>
              <a:ext uri="{FF2B5EF4-FFF2-40B4-BE49-F238E27FC236}">
                <a16:creationId xmlns:a16="http://schemas.microsoft.com/office/drawing/2014/main" id="{43036166-D055-8B98-220C-06910BB4A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205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CF3BD3-662F-A1EC-C5EB-D6AED460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002E-887F-0340-A6A3-4879AC500DCE}" type="datetime1">
              <a:rPr lang="fr-FR" smtClean="0"/>
              <a:t>29/05/2025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A03912-A2A4-1033-E0FA-F913D8BE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33939"/>
            <a:ext cx="4338917" cy="387536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B4637C-5E0C-853F-CF49-1116BDF9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C9BF20BB-5E12-418C-AC33-FB6D819C4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6" name="Image 5" descr="CPIE de Belle-Île en mer">
            <a:extLst>
              <a:ext uri="{FF2B5EF4-FFF2-40B4-BE49-F238E27FC236}">
                <a16:creationId xmlns:a16="http://schemas.microsoft.com/office/drawing/2014/main" id="{2A584CB4-E35A-338F-F457-EC266D2A9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pic>
        <p:nvPicPr>
          <p:cNvPr id="6146" name="Picture 2" descr="Une image contenant capture d’écran, Tracé, ligne, Rectangle&#10;&#10;Description générée automatiquement">
            <a:extLst>
              <a:ext uri="{FF2B5EF4-FFF2-40B4-BE49-F238E27FC236}">
                <a16:creationId xmlns:a16="http://schemas.microsoft.com/office/drawing/2014/main" id="{FBEFD588-68D4-6FF6-1377-DFCF7B1D7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8" y="1732010"/>
            <a:ext cx="5861382" cy="324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BD0BFDE-885D-C11A-E2CB-43F4CF566E64}"/>
              </a:ext>
            </a:extLst>
          </p:cNvPr>
          <p:cNvSpPr txBox="1"/>
          <p:nvPr/>
        </p:nvSpPr>
        <p:spPr>
          <a:xfrm>
            <a:off x="4762440" y="420431"/>
            <a:ext cx="266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/>
              <a:t>Le lieu de résidence 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56B7226-CDBE-8AB2-83CA-4E33EB779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835242"/>
              </p:ext>
            </p:extLst>
          </p:nvPr>
        </p:nvGraphicFramePr>
        <p:xfrm>
          <a:off x="6096000" y="2383131"/>
          <a:ext cx="5862021" cy="2091737"/>
        </p:xfrm>
        <a:graphic>
          <a:graphicData uri="http://schemas.openxmlformats.org/drawingml/2006/table">
            <a:tbl>
              <a:tblPr/>
              <a:tblGrid>
                <a:gridCol w="1171537">
                  <a:extLst>
                    <a:ext uri="{9D8B030D-6E8A-4147-A177-3AD203B41FA5}">
                      <a16:colId xmlns:a16="http://schemas.microsoft.com/office/drawing/2014/main" val="3813894605"/>
                    </a:ext>
                  </a:extLst>
                </a:gridCol>
                <a:gridCol w="963256">
                  <a:extLst>
                    <a:ext uri="{9D8B030D-6E8A-4147-A177-3AD203B41FA5}">
                      <a16:colId xmlns:a16="http://schemas.microsoft.com/office/drawing/2014/main" val="4066670850"/>
                    </a:ext>
                  </a:extLst>
                </a:gridCol>
                <a:gridCol w="796219">
                  <a:extLst>
                    <a:ext uri="{9D8B030D-6E8A-4147-A177-3AD203B41FA5}">
                      <a16:colId xmlns:a16="http://schemas.microsoft.com/office/drawing/2014/main" val="3330238344"/>
                    </a:ext>
                  </a:extLst>
                </a:gridCol>
                <a:gridCol w="977003">
                  <a:extLst>
                    <a:ext uri="{9D8B030D-6E8A-4147-A177-3AD203B41FA5}">
                      <a16:colId xmlns:a16="http://schemas.microsoft.com/office/drawing/2014/main" val="911117983"/>
                    </a:ext>
                  </a:extLst>
                </a:gridCol>
                <a:gridCol w="977003">
                  <a:extLst>
                    <a:ext uri="{9D8B030D-6E8A-4147-A177-3AD203B41FA5}">
                      <a16:colId xmlns:a16="http://schemas.microsoft.com/office/drawing/2014/main" val="512478085"/>
                    </a:ext>
                  </a:extLst>
                </a:gridCol>
                <a:gridCol w="977003">
                  <a:extLst>
                    <a:ext uri="{9D8B030D-6E8A-4147-A177-3AD203B41FA5}">
                      <a16:colId xmlns:a16="http://schemas.microsoft.com/office/drawing/2014/main" val="8048037"/>
                    </a:ext>
                  </a:extLst>
                </a:gridCol>
              </a:tblGrid>
              <a:tr h="68617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Commune  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Palais  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Sauzon  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Bangor  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Locmaria  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 </a:t>
                      </a: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56182"/>
                  </a:ext>
                </a:extLst>
              </a:tr>
              <a:tr h="70278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Effectifs  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919794"/>
                  </a:ext>
                </a:extLst>
              </a:tr>
              <a:tr h="70278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Pourcentage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46%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21%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16%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376"/>
                        </a:lnSpc>
                      </a:pPr>
                      <a:r>
                        <a:rPr lang="fr-FR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  <a:r>
                        <a:rPr lang="fr-FR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>
                        <a:effectLst/>
                      </a:endParaRPr>
                    </a:p>
                  </a:txBody>
                  <a:tcPr marL="61415" marR="61415" marT="30707" marB="30707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2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246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CF3BD3-662F-A1EC-C5EB-D6AED460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002E-887F-0340-A6A3-4879AC500DCE}" type="datetime1">
              <a:rPr lang="fr-FR" smtClean="0"/>
              <a:t>29/05/2025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FA03912-A2A4-1033-E0FA-F913D8BE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33939"/>
            <a:ext cx="4338917" cy="387536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B4637C-5E0C-853F-CF49-1116BDF9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11</a:t>
            </a:fld>
            <a:endParaRPr lang="fr-FR"/>
          </a:p>
        </p:txBody>
      </p:sp>
      <p:pic>
        <p:nvPicPr>
          <p:cNvPr id="5" name="Image 4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C9BF20BB-5E12-418C-AC33-FB6D819C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6" name="Image 5" descr="CPIE de Belle-Île en mer">
            <a:extLst>
              <a:ext uri="{FF2B5EF4-FFF2-40B4-BE49-F238E27FC236}">
                <a16:creationId xmlns:a16="http://schemas.microsoft.com/office/drawing/2014/main" id="{2A584CB4-E35A-338F-F457-EC266D2A9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BD0BFDE-885D-C11A-E2CB-43F4CF566E64}"/>
              </a:ext>
            </a:extLst>
          </p:cNvPr>
          <p:cNvSpPr txBox="1"/>
          <p:nvPr/>
        </p:nvSpPr>
        <p:spPr>
          <a:xfrm>
            <a:off x="3047940" y="487666"/>
            <a:ext cx="626420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000" b="1"/>
              <a:t>Le lieu de résidence en fonction de la connaissance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974CE37-6596-4A7F-78B7-595DEE8BA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363" y="1276350"/>
            <a:ext cx="71532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344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707CAC-13C3-AF34-1E58-E1BCD49F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12</a:t>
            </a:fld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4370052-8092-8FB0-A69C-3CAECDDC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45691" cy="365125"/>
          </a:xfrm>
        </p:spPr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pic>
        <p:nvPicPr>
          <p:cNvPr id="4" name="Image 3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80396DD4-CC85-A610-DBBD-6320B0114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5" name="Image 4" descr="CPIE de Belle-Île en mer">
            <a:extLst>
              <a:ext uri="{FF2B5EF4-FFF2-40B4-BE49-F238E27FC236}">
                <a16:creationId xmlns:a16="http://schemas.microsoft.com/office/drawing/2014/main" id="{B890EA53-A9BC-FC51-F00C-B578E1FCF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4499A4FB-27F0-DC23-D98E-AF7969AC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0368-7EA5-D44E-A2A4-67917F6BFC2C}" type="datetime1">
              <a:rPr lang="fr-FR" smtClean="0"/>
              <a:t>29/05/2025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57F134-5D70-D460-5D92-7470E592A0C9}"/>
              </a:ext>
            </a:extLst>
          </p:cNvPr>
          <p:cNvSpPr txBox="1"/>
          <p:nvPr/>
        </p:nvSpPr>
        <p:spPr>
          <a:xfrm>
            <a:off x="4949952" y="420431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Conclusion :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799E780-3826-E8DB-517F-464832D1F1DC}"/>
              </a:ext>
            </a:extLst>
          </p:cNvPr>
          <p:cNvSpPr txBox="1"/>
          <p:nvPr/>
        </p:nvSpPr>
        <p:spPr>
          <a:xfrm>
            <a:off x="1674608" y="1935935"/>
            <a:ext cx="663135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/>
              <a:t>Mieux cibler les 18-29 ans</a:t>
            </a:r>
          </a:p>
          <a:p>
            <a:pPr marL="285750" indent="-285750">
              <a:buFont typeface="Arial"/>
              <a:buChar char="•"/>
            </a:pP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/>
              <a:t>Interrogés plutôt satisfait </a:t>
            </a:r>
          </a:p>
          <a:p>
            <a:pPr marL="285750" indent="-285750">
              <a:buFont typeface="Arial"/>
              <a:buChar char="•"/>
            </a:pP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/>
              <a:t>S'étendre sur </a:t>
            </a:r>
            <a:r>
              <a:rPr lang="fr-FR" err="1"/>
              <a:t>belle-île</a:t>
            </a:r>
            <a:endParaRPr lang="fr-FR"/>
          </a:p>
          <a:p>
            <a:pPr marL="285750" indent="-285750">
              <a:buFont typeface="Arial"/>
              <a:buChar char="•"/>
            </a:pPr>
            <a:endParaRPr lang="fr-FR"/>
          </a:p>
          <a:p>
            <a:pPr marL="285750" indent="-285750">
              <a:buFont typeface="Arial"/>
              <a:buChar char="•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9268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96DDABF-1591-E13F-75F7-D482322F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002E-887F-0340-A6A3-4879AC500DCE}" type="datetime1">
              <a:rPr lang="fr-FR" smtClean="0"/>
              <a:t>29/05/2025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2EC7A6-B17A-3DFD-5104-048C4467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 Maxence Abric--Segarra &amp; Adam Chakra &amp; Quentin Courson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4E9857-53A5-02AB-5E57-866F4DC9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73490-ADE3-BD4C-8702-84C46906163E}" type="slidenum">
              <a:rPr lang="fr-FR" smtClean="0"/>
              <a:t>13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FAE024-571C-BE56-BA1E-D59EB221A9A6}"/>
              </a:ext>
            </a:extLst>
          </p:cNvPr>
          <p:cNvSpPr txBox="1"/>
          <p:nvPr/>
        </p:nvSpPr>
        <p:spPr>
          <a:xfrm>
            <a:off x="3907940" y="2954017"/>
            <a:ext cx="43762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500"/>
              <a:t>Merci de nous avoir écouté !</a:t>
            </a:r>
          </a:p>
        </p:txBody>
      </p:sp>
      <p:pic>
        <p:nvPicPr>
          <p:cNvPr id="7" name="Image 6" descr="Une image contenant Graphique, Police, texte, graphisme&#10;&#10;Description générée automatiquement">
            <a:extLst>
              <a:ext uri="{FF2B5EF4-FFF2-40B4-BE49-F238E27FC236}">
                <a16:creationId xmlns:a16="http://schemas.microsoft.com/office/drawing/2014/main" id="{148EE09C-13C4-F679-2EEF-3C83D5DC5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48075" cy="1163637"/>
          </a:xfrm>
          <a:prstGeom prst="rect">
            <a:avLst/>
          </a:prstGeom>
        </p:spPr>
      </p:pic>
      <p:pic>
        <p:nvPicPr>
          <p:cNvPr id="9" name="Image 8" descr="CPIE de Belle-Île en mer">
            <a:extLst>
              <a:ext uri="{FF2B5EF4-FFF2-40B4-BE49-F238E27FC236}">
                <a16:creationId xmlns:a16="http://schemas.microsoft.com/office/drawing/2014/main" id="{214588D5-1D6C-F315-B9C4-868D12EB6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062" y="-2721"/>
            <a:ext cx="1024618" cy="124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375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Grand écran</PresentationFormat>
  <Paragraphs>283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Calibri</vt:lpstr>
      <vt:lpstr>Cooper Black</vt:lpstr>
      <vt:lpstr>Times New Roman</vt:lpstr>
      <vt:lpstr>-webkit-standard</vt:lpstr>
      <vt:lpstr>Thème Office</vt:lpstr>
      <vt:lpstr>SAE106 Maxence Abric--Segarra &amp; Adam Chakra &amp; Quentin Courson  10/01/2025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Chakra</dc:creator>
  <cp:lastModifiedBy>Maxence Abric--Segarra</cp:lastModifiedBy>
  <cp:revision>2</cp:revision>
  <dcterms:created xsi:type="dcterms:W3CDTF">2025-01-08T09:02:14Z</dcterms:created>
  <dcterms:modified xsi:type="dcterms:W3CDTF">2025-05-29T18:33:23Z</dcterms:modified>
</cp:coreProperties>
</file>