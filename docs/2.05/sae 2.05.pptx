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9" r:id="rId8"/>
    <p:sldId id="264" r:id="rId9"/>
    <p:sldId id="265" r:id="rId10"/>
    <p:sldId id="266" r:id="rId11"/>
    <p:sldId id="267" r:id="rId12"/>
    <p:sldId id="260" r:id="rId13"/>
    <p:sldId id="268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01/06/2025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Maxence ABRIC-SEGARRA, Agathe DUBOIS, Laurine GAUTIER,  Victor MORVAN ​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01/06/2025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Maxence ABRIC-SEGARRA, Agathe DUBOIS, Laurine GAUTIER,  Victor MORVAN ​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01/06/2025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Maxence ABRIC-SEGARRA, Agathe DUBOIS, Laurine GAUTIER,  Victor MORVAN ​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01/06/2025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Maxence ABRIC-SEGARRA, Agathe DUBOIS, Laurine GAUTIER,  Victor MORVAN ​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01/06/2025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Maxence ABRIC-SEGARRA, Agathe DUBOIS, Laurine GAUTIER,  Victor MORVAN ​</a:t>
            </a: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01/06/2025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Maxence ABRIC-SEGARRA, Agathe DUBOIS, Laurine GAUTIER,  Victor MORVAN ​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01/06/2025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Maxence ABRIC-SEGARRA, Agathe DUBOIS, Laurine GAUTIER,  Victor MORVAN ​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01/06/2025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Maxence ABRIC-SEGARRA, Agathe DUBOIS, Laurine GAUTIER,  Victor MORVAN ​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01/06/2025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Maxence ABRIC-SEGARRA, Agathe DUBOIS, Laurine GAUTIER,  Victor MORVAN ​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01/06/2025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Maxence ABRIC-SEGARRA, Agathe DUBOIS, Laurine GAUTIER,  Victor MORVAN ​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01/06/2025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Maxence ABRIC-SEGARRA, Agathe DUBOIS, Laurine GAUTIER,  Victor MORVAN ​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01/06/2025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fr-FR"/>
              <a:t>Maxence ABRIC-SEGARRA, Agathe DUBOIS, Laurine GAUTIER,  Victor MORVAN ​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fr-FR" sz="4400"/>
              <a:t>SAE 2.05 : TERSTRAT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 sz="1800"/>
              <a:t>Maxence ABRIC-SEGARRA, Agathe DUBOIS, Laurine GAUTIER, Victor MORVAN </a:t>
            </a:r>
          </a:p>
          <a:p>
            <a:r>
              <a:rPr lang="fr-FR" sz="1800"/>
              <a:t>25/03/2025</a:t>
            </a:r>
          </a:p>
          <a:p>
            <a:endParaRPr lang="fr-FR"/>
          </a:p>
        </p:txBody>
      </p:sp>
      <p:pic>
        <p:nvPicPr>
          <p:cNvPr id="9" name="Image 8" descr="Fichier:IUT VANNES LOGO-2020 .jpg — Wikipédia">
            <a:extLst>
              <a:ext uri="{FF2B5EF4-FFF2-40B4-BE49-F238E27FC236}">
                <a16:creationId xmlns:a16="http://schemas.microsoft.com/office/drawing/2014/main" id="{72550B0C-9B70-3374-E0F4-81CF1F34A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30"/>
            <a:ext cx="1524000" cy="111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0A1812-44A5-CD5C-EE31-E621304D9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SOMMAIRE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0050C4C-8A6C-B105-889E-AF6927869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Présentation de l'entreprise</a:t>
            </a:r>
          </a:p>
          <a:p>
            <a:r>
              <a:rPr lang="fr-FR"/>
              <a:t>Analyse par cycle</a:t>
            </a:r>
          </a:p>
          <a:p>
            <a:r>
              <a:rPr lang="fr-FR"/>
              <a:t>Conclusion</a:t>
            </a:r>
          </a:p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59EDE2B-658E-C484-78B3-5AF8F9C82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2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26B20CE-6AF3-A768-155B-4E3098D9A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Maxence ABRIC-SEGARRA, Agathe DUBOIS, Laurine GAUTIER,  Victor MORVAN ​</a:t>
            </a:r>
          </a:p>
        </p:txBody>
      </p:sp>
      <p:pic>
        <p:nvPicPr>
          <p:cNvPr id="7" name="Image 8" descr="Fichier:IUT VANNES LOGO-2020 .jpg — Wikipédia">
            <a:extLst>
              <a:ext uri="{FF2B5EF4-FFF2-40B4-BE49-F238E27FC236}">
                <a16:creationId xmlns:a16="http://schemas.microsoft.com/office/drawing/2014/main" id="{F251FB62-12C9-AFB5-7ED4-4E51ACC04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72875"/>
            <a:ext cx="1009880" cy="682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350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315AF-2830-2E27-76CC-1F2AEC133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err="1"/>
              <a:t>Présentation</a:t>
            </a:r>
            <a:r>
              <a:rPr lang="en-US"/>
              <a:t> de </a:t>
            </a:r>
            <a:r>
              <a:rPr lang="en-US" err="1"/>
              <a:t>l'entreprise</a:t>
            </a:r>
            <a:endParaRPr lang="en-US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D3D33ACC-0777-3BB4-E520-6B35D2E00B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20033" y="1715336"/>
            <a:ext cx="4328143" cy="4351338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C01CB9-908D-18D6-308A-536AEF1BF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Maxence ABRIC-SEGARRA, Agathe DUBOIS, Laurine GAUTIER,  Victor MORVAN ​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1DE2EC-20D0-1235-3AD2-B5A17993F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3</a:t>
            </a:fld>
            <a:endParaRPr lang="fr-FR"/>
          </a:p>
        </p:txBody>
      </p:sp>
      <p:pic>
        <p:nvPicPr>
          <p:cNvPr id="7" name="Image 8" descr="Fichier:IUT VANNES LOGO-2020 .jpg — Wikipédia">
            <a:extLst>
              <a:ext uri="{FF2B5EF4-FFF2-40B4-BE49-F238E27FC236}">
                <a16:creationId xmlns:a16="http://schemas.microsoft.com/office/drawing/2014/main" id="{03C85263-7253-DE64-8203-BD3D9D2EEB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72875"/>
            <a:ext cx="1009880" cy="682876"/>
          </a:xfrm>
          <a:prstGeom prst="rect">
            <a:avLst/>
          </a:prstGeom>
        </p:spPr>
      </p:pic>
      <p:sp>
        <p:nvSpPr>
          <p:cNvPr id="8" name="ZoneTexte 3">
            <a:extLst>
              <a:ext uri="{FF2B5EF4-FFF2-40B4-BE49-F238E27FC236}">
                <a16:creationId xmlns:a16="http://schemas.microsoft.com/office/drawing/2014/main" id="{94629051-C03B-2982-E425-CC8AC752BA23}"/>
              </a:ext>
            </a:extLst>
          </p:cNvPr>
          <p:cNvSpPr txBox="1"/>
          <p:nvPr/>
        </p:nvSpPr>
        <p:spPr>
          <a:xfrm>
            <a:off x="4256066" y="151977"/>
            <a:ext cx="3026633" cy="21544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800">
                <a:solidFill>
                  <a:schemeClr val="tx1"/>
                </a:solidFill>
              </a:rPr>
              <a:t>Présentation de l'entreprise</a:t>
            </a:r>
            <a:r>
              <a:rPr lang="en-US" sz="800">
                <a:solidFill>
                  <a:schemeClr val="tx1"/>
                </a:solidFill>
              </a:rPr>
              <a:t>​ |</a:t>
            </a:r>
            <a:r>
              <a:rPr lang="en-US" sz="800">
                <a:solidFill>
                  <a:srgbClr val="E75114"/>
                </a:solidFill>
              </a:rPr>
              <a:t> </a:t>
            </a:r>
            <a:r>
              <a:rPr lang="en-US" sz="800" err="1">
                <a:solidFill>
                  <a:srgbClr val="E75114"/>
                </a:solidFill>
              </a:rPr>
              <a:t>Analyse</a:t>
            </a:r>
            <a:r>
              <a:rPr lang="en-US" sz="800">
                <a:solidFill>
                  <a:srgbClr val="E75114"/>
                </a:solidFill>
              </a:rPr>
              <a:t> </a:t>
            </a:r>
            <a:r>
              <a:rPr lang="en-GB" sz="800">
                <a:solidFill>
                  <a:srgbClr val="E75114"/>
                </a:solidFill>
              </a:rPr>
              <a:t>par</a:t>
            </a:r>
            <a:r>
              <a:rPr lang="en-US" sz="800">
                <a:solidFill>
                  <a:srgbClr val="E75114"/>
                </a:solidFill>
              </a:rPr>
              <a:t> cycles</a:t>
            </a:r>
            <a:r>
              <a:rPr lang="fr-FR" sz="800">
                <a:solidFill>
                  <a:srgbClr val="E75114"/>
                </a:solidFill>
              </a:rPr>
              <a:t>​ </a:t>
            </a:r>
            <a:r>
              <a:rPr lang="fr-FR" sz="800">
                <a:solidFill>
                  <a:schemeClr val="tx1"/>
                </a:solidFill>
              </a:rPr>
              <a:t>|</a:t>
            </a:r>
            <a:r>
              <a:rPr lang="fr-FR" sz="800">
                <a:solidFill>
                  <a:srgbClr val="E75114"/>
                </a:solidFill>
              </a:rPr>
              <a:t> Conclusion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CE510F-D155-6677-2622-91D9D095FB78}"/>
              </a:ext>
            </a:extLst>
          </p:cNvPr>
          <p:cNvSpPr txBox="1"/>
          <p:nvPr/>
        </p:nvSpPr>
        <p:spPr>
          <a:xfrm>
            <a:off x="511342" y="2887579"/>
            <a:ext cx="580523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/>
              <a:t>Le </a:t>
            </a:r>
            <a:r>
              <a:rPr lang="en-US" err="1"/>
              <a:t>partenaire</a:t>
            </a:r>
            <a:r>
              <a:rPr lang="en-US"/>
              <a:t> numérique de </a:t>
            </a:r>
            <a:r>
              <a:rPr lang="en-US" err="1"/>
              <a:t>vos</a:t>
            </a:r>
            <a:r>
              <a:rPr lang="en-US"/>
              <a:t> ambitions</a:t>
            </a:r>
          </a:p>
          <a:p>
            <a:endParaRPr lang="en-US"/>
          </a:p>
          <a:p>
            <a:pPr marL="285750" indent="-285750">
              <a:buFont typeface="Calibri"/>
              <a:buChar char="-"/>
            </a:pPr>
            <a:r>
              <a:rPr lang="en-US"/>
              <a:t>Notre </a:t>
            </a:r>
            <a:r>
              <a:rPr lang="en-US" err="1"/>
              <a:t>stratégie</a:t>
            </a:r>
            <a:r>
              <a:rPr lang="en-US"/>
              <a:t> de </a:t>
            </a:r>
            <a:r>
              <a:rPr lang="en-US" err="1"/>
              <a:t>départ</a:t>
            </a:r>
          </a:p>
          <a:p>
            <a:pPr marL="285750" indent="-285750">
              <a:buFont typeface="Calibri"/>
              <a:buChar char="-"/>
            </a:pPr>
            <a:endParaRPr lang="en-US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8127DBA-F7CB-9E86-985C-9B7C30855EF9}"/>
              </a:ext>
            </a:extLst>
          </p:cNvPr>
          <p:cNvSpPr txBox="1"/>
          <p:nvPr/>
        </p:nvSpPr>
        <p:spPr>
          <a:xfrm>
            <a:off x="7020838" y="5246318"/>
            <a:ext cx="432982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i="1">
                <a:solidFill>
                  <a:srgbClr val="F4F8F8"/>
                </a:solidFill>
                <a:latin typeface="Bell MT"/>
              </a:rPr>
              <a:t>Le </a:t>
            </a:r>
            <a:r>
              <a:rPr lang="en-US" sz="2000" i="1" err="1">
                <a:solidFill>
                  <a:srgbClr val="F4F8F8"/>
                </a:solidFill>
                <a:latin typeface="Bell MT"/>
              </a:rPr>
              <a:t>partenaire</a:t>
            </a:r>
            <a:r>
              <a:rPr lang="en-US" sz="2000" i="1">
                <a:solidFill>
                  <a:srgbClr val="F4F8F8"/>
                </a:solidFill>
                <a:latin typeface="Bell MT"/>
              </a:rPr>
              <a:t> numérique de </a:t>
            </a:r>
            <a:r>
              <a:rPr lang="en-US" sz="2000" i="1" err="1">
                <a:solidFill>
                  <a:srgbClr val="F4F8F8"/>
                </a:solidFill>
                <a:latin typeface="Bell MT"/>
              </a:rPr>
              <a:t>vos</a:t>
            </a:r>
            <a:r>
              <a:rPr lang="en-US" sz="2000" i="1">
                <a:solidFill>
                  <a:srgbClr val="F4F8F8"/>
                </a:solidFill>
                <a:latin typeface="Bell MT"/>
              </a:rPr>
              <a:t> ambitions</a:t>
            </a:r>
            <a:endParaRPr lang="en-US" sz="2000" i="1">
              <a:latin typeface="Bell MT"/>
            </a:endParaRPr>
          </a:p>
        </p:txBody>
      </p:sp>
    </p:spTree>
    <p:extLst>
      <p:ext uri="{BB962C8B-B14F-4D97-AF65-F5344CB8AC3E}">
        <p14:creationId xmlns:p14="http://schemas.microsoft.com/office/powerpoint/2010/main" val="1475260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64851-C66C-BAD0-F298-D6540A22A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4546"/>
            <a:ext cx="10515600" cy="1325563"/>
          </a:xfrm>
        </p:spPr>
        <p:txBody>
          <a:bodyPr/>
          <a:lstStyle/>
          <a:p>
            <a:pPr algn="ctr"/>
            <a:r>
              <a:rPr lang="en-US"/>
              <a:t>Analyse par cycle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1D9ED-4DD0-0578-13C1-0C149AB28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046" y="1552086"/>
            <a:ext cx="2572011" cy="45783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>
                <a:latin typeface="Calibri"/>
                <a:ea typeface="Calibri"/>
                <a:cs typeface="Calibri"/>
              </a:rPr>
              <a:t>Cycle 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021A0B-2C4D-D73E-BA41-C8A1B3EDF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Maxence ABRIC-SEGARRA, Agathe DUBOIS, Laurine GAUTIER,  Victor MORVAN ​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0544B6-CEF3-39C2-A2E6-722C93323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4</a:t>
            </a:fld>
            <a:endParaRPr lang="fr-FR"/>
          </a:p>
        </p:txBody>
      </p:sp>
      <p:pic>
        <p:nvPicPr>
          <p:cNvPr id="7" name="Image 8" descr="Fichier:IUT VANNES LOGO-2020 .jpg — Wikipédia">
            <a:extLst>
              <a:ext uri="{FF2B5EF4-FFF2-40B4-BE49-F238E27FC236}">
                <a16:creationId xmlns:a16="http://schemas.microsoft.com/office/drawing/2014/main" id="{0A6599D7-4A7B-25F8-6D79-F20090681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72875"/>
            <a:ext cx="1009880" cy="682876"/>
          </a:xfrm>
          <a:prstGeom prst="rect">
            <a:avLst/>
          </a:prstGeom>
        </p:spPr>
      </p:pic>
      <p:pic>
        <p:nvPicPr>
          <p:cNvPr id="6" name="Image 5" descr="Une image contenant texte, capture d’écran, diagramme, Tracé">
            <a:extLst>
              <a:ext uri="{FF2B5EF4-FFF2-40B4-BE49-F238E27FC236}">
                <a16:creationId xmlns:a16="http://schemas.microsoft.com/office/drawing/2014/main" id="{AB47CC69-17A8-9FB5-A516-0C6CEEA1AC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075" y="1706924"/>
            <a:ext cx="4426118" cy="26409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29F3BFC-8A8A-8763-EDA0-A020D8257B08}"/>
              </a:ext>
            </a:extLst>
          </p:cNvPr>
          <p:cNvSpPr txBox="1"/>
          <p:nvPr/>
        </p:nvSpPr>
        <p:spPr>
          <a:xfrm>
            <a:off x="842682" y="2354385"/>
            <a:ext cx="5083342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/>
              <a:t>Investissement massif : stations, </a:t>
            </a:r>
            <a:r>
              <a:rPr lang="en-US" err="1"/>
              <a:t>employés</a:t>
            </a:r>
            <a:r>
              <a:rPr lang="en-US"/>
              <a:t> et pub pour </a:t>
            </a:r>
            <a:r>
              <a:rPr lang="en-US" err="1"/>
              <a:t>notre</a:t>
            </a:r>
            <a:r>
              <a:rPr lang="en-US"/>
              <a:t> </a:t>
            </a:r>
            <a:r>
              <a:rPr lang="en-US" err="1"/>
              <a:t>lancement</a:t>
            </a:r>
            <a:endParaRPr lang="en-US"/>
          </a:p>
          <a:p>
            <a:pPr marL="285750" indent="-285750">
              <a:buFont typeface="Calibri"/>
              <a:buChar char="-"/>
            </a:pPr>
            <a:endParaRPr lang="en-US"/>
          </a:p>
          <a:p>
            <a:pPr marL="285750" indent="-285750">
              <a:buFont typeface="Calibri,Sans-Serif"/>
              <a:buChar char="-"/>
            </a:pPr>
            <a:r>
              <a:rPr lang="en-US" err="1"/>
              <a:t>Axé</a:t>
            </a:r>
            <a:r>
              <a:rPr lang="en-US"/>
              <a:t> sur </a:t>
            </a:r>
            <a:r>
              <a:rPr lang="en-US" err="1"/>
              <a:t>sur</a:t>
            </a:r>
            <a:r>
              <a:rPr lang="en-US"/>
              <a:t> la </a:t>
            </a:r>
            <a:r>
              <a:rPr lang="en-US" err="1"/>
              <a:t>réinstallation</a:t>
            </a:r>
            <a:r>
              <a:rPr lang="en-US"/>
              <a:t> pc, </a:t>
            </a:r>
            <a:r>
              <a:rPr lang="en-US" err="1"/>
              <a:t>résultat</a:t>
            </a:r>
            <a:r>
              <a:rPr lang="en-US"/>
              <a:t> décevant </a:t>
            </a:r>
          </a:p>
          <a:p>
            <a:endParaRPr lang="en-US"/>
          </a:p>
          <a:p>
            <a:pPr marL="285750" indent="-285750">
              <a:buFont typeface="Calibri"/>
              <a:buChar char="-"/>
            </a:pPr>
            <a:r>
              <a:rPr lang="en-US"/>
              <a:t>Choix de qualité standard </a:t>
            </a:r>
          </a:p>
          <a:p>
            <a:pPr marL="285750" indent="-285750">
              <a:buFont typeface="Calibri"/>
              <a:buChar char="-"/>
            </a:pPr>
            <a:endParaRPr lang="en-US"/>
          </a:p>
          <a:p>
            <a:pPr marL="285750" indent="-285750">
              <a:buFont typeface="Calibri,Sans-Serif"/>
              <a:buChar char="-"/>
            </a:pPr>
            <a:r>
              <a:rPr lang="en-US" err="1"/>
              <a:t>Stratégie</a:t>
            </a:r>
            <a:r>
              <a:rPr lang="en-US"/>
              <a:t> pas très </a:t>
            </a:r>
            <a:r>
              <a:rPr lang="en-US" err="1"/>
              <a:t>claire</a:t>
            </a:r>
            <a:r>
              <a:rPr lang="en-US"/>
              <a:t> </a:t>
            </a:r>
            <a:r>
              <a:rPr lang="en-US" err="1"/>
              <a:t>en</a:t>
            </a:r>
            <a:r>
              <a:rPr lang="en-US"/>
              <a:t> </a:t>
            </a:r>
            <a:r>
              <a:rPr lang="en-US" err="1"/>
              <a:t>l'absence</a:t>
            </a:r>
            <a:r>
              <a:rPr lang="en-US"/>
              <a:t> du SIAD</a:t>
            </a:r>
          </a:p>
          <a:p>
            <a:pPr marL="285750" indent="-285750">
              <a:buFont typeface="Calibri,Sans-Serif"/>
              <a:buChar char="-"/>
            </a:pPr>
            <a:endParaRPr lang="en-US"/>
          </a:p>
          <a:p>
            <a:pPr marL="285750" indent="-285750">
              <a:buFont typeface="Calibri"/>
              <a:buChar char="-"/>
            </a:pP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7635FF-91A4-4116-D081-0E602261311D}"/>
              </a:ext>
            </a:extLst>
          </p:cNvPr>
          <p:cNvSpPr txBox="1"/>
          <p:nvPr/>
        </p:nvSpPr>
        <p:spPr>
          <a:xfrm>
            <a:off x="7329237" y="1403683"/>
            <a:ext cx="4582026" cy="30777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/>
                <a:ea typeface="Calibri"/>
                <a:cs typeface="Calibri"/>
              </a:rPr>
              <a:t>Analyse du cycle 1 (</a:t>
            </a:r>
            <a:r>
              <a:rPr lang="en-US" sz="1400" err="1">
                <a:latin typeface="Calibri"/>
                <a:ea typeface="Calibri"/>
                <a:cs typeface="Calibri"/>
              </a:rPr>
              <a:t>en</a:t>
            </a:r>
            <a:r>
              <a:rPr lang="en-US" sz="1400">
                <a:latin typeface="Calibri"/>
                <a:ea typeface="Calibri"/>
                <a:cs typeface="Calibri"/>
              </a:rPr>
              <a:t> euros)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1726497-8291-49F5-97B4-8AA3B40F82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746" y="4356099"/>
            <a:ext cx="4427009" cy="1712384"/>
          </a:xfrm>
          <a:prstGeom prst="rect">
            <a:avLst/>
          </a:prstGeom>
        </p:spPr>
      </p:pic>
      <p:sp>
        <p:nvSpPr>
          <p:cNvPr id="13" name="ZoneTexte 3">
            <a:extLst>
              <a:ext uri="{FF2B5EF4-FFF2-40B4-BE49-F238E27FC236}">
                <a16:creationId xmlns:a16="http://schemas.microsoft.com/office/drawing/2014/main" id="{934AB713-83DC-B0ED-B9BB-FF059BA0321D}"/>
              </a:ext>
            </a:extLst>
          </p:cNvPr>
          <p:cNvSpPr txBox="1"/>
          <p:nvPr/>
        </p:nvSpPr>
        <p:spPr>
          <a:xfrm>
            <a:off x="4256066" y="151977"/>
            <a:ext cx="3026633" cy="21544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fr-FR"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800">
                <a:solidFill>
                  <a:schemeClr val="accent2"/>
                </a:solidFill>
              </a:rPr>
              <a:t>Présentation de l'entreprise</a:t>
            </a:r>
            <a:r>
              <a:rPr lang="en-US" sz="800">
                <a:solidFill>
                  <a:schemeClr val="accent2"/>
                </a:solidFill>
              </a:rPr>
              <a:t>​</a:t>
            </a:r>
            <a:r>
              <a:rPr lang="en-US" sz="800">
                <a:solidFill>
                  <a:schemeClr val="tx1"/>
                </a:solidFill>
              </a:rPr>
              <a:t> |</a:t>
            </a:r>
            <a:r>
              <a:rPr lang="en-US" sz="800">
                <a:solidFill>
                  <a:srgbClr val="E75114"/>
                </a:solidFill>
              </a:rPr>
              <a:t> </a:t>
            </a:r>
            <a:r>
              <a:rPr lang="en-US" sz="800" err="1">
                <a:solidFill>
                  <a:schemeClr val="tx1"/>
                </a:solidFill>
              </a:rPr>
              <a:t>Analyse</a:t>
            </a:r>
            <a:r>
              <a:rPr lang="en-US" sz="800">
                <a:solidFill>
                  <a:schemeClr val="tx1"/>
                </a:solidFill>
              </a:rPr>
              <a:t> par cycle</a:t>
            </a:r>
            <a:r>
              <a:rPr lang="fr-FR" sz="800">
                <a:solidFill>
                  <a:schemeClr val="tx1"/>
                </a:solidFill>
              </a:rPr>
              <a:t>​</a:t>
            </a:r>
            <a:r>
              <a:rPr lang="fr-FR" sz="800">
                <a:solidFill>
                  <a:srgbClr val="E75114"/>
                </a:solidFill>
              </a:rPr>
              <a:t> </a:t>
            </a:r>
            <a:r>
              <a:rPr lang="fr-FR" sz="800">
                <a:solidFill>
                  <a:schemeClr val="tx1"/>
                </a:solidFill>
              </a:rPr>
              <a:t>|</a:t>
            </a:r>
            <a:r>
              <a:rPr lang="fr-FR" sz="800">
                <a:solidFill>
                  <a:srgbClr val="E75114"/>
                </a:solidFill>
              </a:rPr>
              <a:t> Conclusion</a:t>
            </a:r>
          </a:p>
        </p:txBody>
      </p:sp>
      <p:pic>
        <p:nvPicPr>
          <p:cNvPr id="12" name="Image 11" descr="Une image contenant texte, Appareils électroniques&#10;&#10;Le contenu généré par l’IA peut être incorrect.">
            <a:extLst>
              <a:ext uri="{FF2B5EF4-FFF2-40B4-BE49-F238E27FC236}">
                <a16:creationId xmlns:a16="http://schemas.microsoft.com/office/drawing/2014/main" id="{14D1BF78-AB64-973C-D74E-D3447BD3B1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8242" y="4381243"/>
            <a:ext cx="1498516" cy="1678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052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8A1B3C-CBA2-717D-070A-B677DBBB0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467"/>
            <a:ext cx="10515600" cy="1325563"/>
          </a:xfrm>
        </p:spPr>
        <p:txBody>
          <a:bodyPr/>
          <a:lstStyle/>
          <a:p>
            <a:pPr algn="ctr"/>
            <a:r>
              <a:rPr lang="en-US"/>
              <a:t>Analyse par cycle </a:t>
            </a:r>
          </a:p>
        </p:txBody>
      </p:sp>
      <p:pic>
        <p:nvPicPr>
          <p:cNvPr id="6" name="Espace réservé du contenu 5" descr="Une image contenant texte, capture d’écran, diagramme, Tracé&#10;&#10;Le contenu généré par l’IA peut être incorrect.">
            <a:extLst>
              <a:ext uri="{FF2B5EF4-FFF2-40B4-BE49-F238E27FC236}">
                <a16:creationId xmlns:a16="http://schemas.microsoft.com/office/drawing/2014/main" id="{183D893B-1940-CA29-83CC-9D2180A4F4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02640" y="1735605"/>
            <a:ext cx="4649057" cy="2741198"/>
          </a:xfr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657022D-32E7-5812-A82B-ED573B9B1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Maxence ABRIC-SEGARRA, Agathe DUBOIS, Laurine GAUTIER,  Victor MORVAN ​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4D99C24-BB51-FE2C-B8F0-A01B490DA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5</a:t>
            </a:fld>
            <a:endParaRPr lang="fr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A8D6E3-AC77-B33F-7826-5DB93C67CE0F}"/>
              </a:ext>
            </a:extLst>
          </p:cNvPr>
          <p:cNvSpPr txBox="1"/>
          <p:nvPr/>
        </p:nvSpPr>
        <p:spPr>
          <a:xfrm>
            <a:off x="505429" y="1604981"/>
            <a:ext cx="299786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latin typeface="Calibri"/>
                <a:ea typeface="Calibri"/>
                <a:cs typeface="Calibri"/>
              </a:rPr>
              <a:t>Cycle 2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FB7B57-6F39-3106-1ADD-42F5B46116EB}"/>
              </a:ext>
            </a:extLst>
          </p:cNvPr>
          <p:cNvSpPr txBox="1"/>
          <p:nvPr/>
        </p:nvSpPr>
        <p:spPr>
          <a:xfrm>
            <a:off x="837582" y="2171491"/>
            <a:ext cx="5616654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 err="1"/>
              <a:t>Recrutement</a:t>
            </a:r>
            <a:r>
              <a:rPr lang="en-US"/>
              <a:t> </a:t>
            </a:r>
            <a:r>
              <a:rPr lang="en-US" err="1"/>
              <a:t>précipité</a:t>
            </a:r>
            <a:r>
              <a:rPr lang="en-US"/>
              <a:t> de nouveaux </a:t>
            </a:r>
            <a:r>
              <a:rPr lang="en-US" err="1"/>
              <a:t>employés</a:t>
            </a:r>
            <a:r>
              <a:rPr lang="en-US"/>
              <a:t> et </a:t>
            </a:r>
            <a:r>
              <a:rPr lang="en-US" err="1"/>
              <a:t>d'une</a:t>
            </a:r>
            <a:r>
              <a:rPr lang="en-US"/>
              <a:t> station </a:t>
            </a:r>
          </a:p>
          <a:p>
            <a:pPr marL="285750" indent="-285750">
              <a:buFont typeface="Calibri"/>
              <a:buChar char="-"/>
            </a:pPr>
            <a:endParaRPr lang="en-US"/>
          </a:p>
          <a:p>
            <a:pPr marL="285750" indent="-285750">
              <a:buFont typeface="Calibri"/>
              <a:buChar char="-"/>
            </a:pPr>
            <a:r>
              <a:rPr lang="en-US"/>
              <a:t>Une </a:t>
            </a:r>
            <a:r>
              <a:rPr lang="en-US" err="1"/>
              <a:t>stratégie</a:t>
            </a:r>
            <a:r>
              <a:rPr lang="en-US"/>
              <a:t> </a:t>
            </a:r>
            <a:r>
              <a:rPr lang="en-US" err="1"/>
              <a:t>axée</a:t>
            </a:r>
            <a:r>
              <a:rPr lang="en-US"/>
              <a:t> sur la </a:t>
            </a:r>
            <a:r>
              <a:rPr lang="en-US" err="1"/>
              <a:t>réinstallation</a:t>
            </a:r>
            <a:r>
              <a:rPr lang="en-US"/>
              <a:t> pc -&gt; pas à la hauteur de </a:t>
            </a:r>
            <a:r>
              <a:rPr lang="en-US" err="1"/>
              <a:t>nos</a:t>
            </a:r>
            <a:r>
              <a:rPr lang="en-US"/>
              <a:t> </a:t>
            </a:r>
            <a:r>
              <a:rPr lang="en-US" err="1"/>
              <a:t>attentes</a:t>
            </a:r>
          </a:p>
          <a:p>
            <a:pPr marL="285750" indent="-285750">
              <a:buFont typeface="Calibri"/>
              <a:buChar char="-"/>
            </a:pPr>
            <a:endParaRPr lang="en-US"/>
          </a:p>
          <a:p>
            <a:pPr marL="285750" indent="-285750">
              <a:buFont typeface="Calibri"/>
              <a:buChar char="-"/>
            </a:pPr>
            <a:r>
              <a:rPr lang="en-US"/>
              <a:t>Trop </a:t>
            </a:r>
            <a:r>
              <a:rPr lang="en-US" err="1"/>
              <a:t>ambitieux</a:t>
            </a:r>
            <a:r>
              <a:rPr lang="en-US"/>
              <a:t> sur les ventes sur </a:t>
            </a:r>
            <a:r>
              <a:rPr lang="en-US" err="1"/>
              <a:t>notre</a:t>
            </a:r>
            <a:r>
              <a:rPr lang="en-US"/>
              <a:t> SIAD </a:t>
            </a:r>
            <a:r>
              <a:rPr lang="en-US" err="1"/>
              <a:t>dûes</a:t>
            </a:r>
            <a:r>
              <a:rPr lang="en-US"/>
              <a:t> à </a:t>
            </a:r>
            <a:r>
              <a:rPr lang="en-US" err="1"/>
              <a:t>une</a:t>
            </a:r>
            <a:r>
              <a:rPr lang="en-US"/>
              <a:t> </a:t>
            </a:r>
            <a:r>
              <a:rPr lang="en-US" err="1"/>
              <a:t>mauvaise</a:t>
            </a:r>
            <a:r>
              <a:rPr lang="en-US"/>
              <a:t> </a:t>
            </a:r>
            <a:r>
              <a:rPr lang="en-US" err="1"/>
              <a:t>analyse</a:t>
            </a:r>
            <a:endParaRPr lang="en-US"/>
          </a:p>
          <a:p>
            <a:pPr marL="285750" indent="-285750">
              <a:buFont typeface="Calibri"/>
              <a:buChar char="-"/>
            </a:pPr>
            <a:endParaRPr lang="en-US"/>
          </a:p>
          <a:p>
            <a:pPr marL="285750" indent="-285750">
              <a:buFont typeface="Calibri"/>
              <a:buChar char="-"/>
            </a:pPr>
            <a:r>
              <a:rPr lang="en-US"/>
              <a:t>Rapport </a:t>
            </a:r>
            <a:r>
              <a:rPr lang="en-US" err="1"/>
              <a:t>qualité</a:t>
            </a:r>
            <a:r>
              <a:rPr lang="en-US"/>
              <a:t>/prix </a:t>
            </a:r>
            <a:r>
              <a:rPr lang="en-US" err="1"/>
              <a:t>élevé</a:t>
            </a:r>
            <a:endParaRPr lang="en-US"/>
          </a:p>
          <a:p>
            <a:pPr marL="285750" indent="-285750">
              <a:buFont typeface="Calibri"/>
              <a:buChar char="-"/>
            </a:pPr>
            <a:endParaRPr lang="en-US"/>
          </a:p>
          <a:p>
            <a:pPr marL="285750" indent="-285750">
              <a:buFont typeface="Calibri"/>
              <a:buChar char="-"/>
            </a:pPr>
            <a:r>
              <a:rPr lang="en-US"/>
              <a:t>Pas </a:t>
            </a:r>
            <a:r>
              <a:rPr lang="en-US" err="1"/>
              <a:t>assez</a:t>
            </a:r>
            <a:r>
              <a:rPr lang="en-US"/>
              <a:t> de marge </a:t>
            </a:r>
          </a:p>
          <a:p>
            <a:pPr marL="285750" indent="-285750">
              <a:buFont typeface="Calibri"/>
              <a:buChar char="-"/>
            </a:pPr>
            <a:endParaRPr lang="en-US"/>
          </a:p>
          <a:p>
            <a:pPr marL="285750" indent="-285750">
              <a:buFont typeface="Calibri"/>
              <a:buChar char="-"/>
            </a:pPr>
            <a:endParaRPr lang="en-US"/>
          </a:p>
          <a:p>
            <a:pPr marL="285750" indent="-285750">
              <a:buFont typeface="Calibri"/>
              <a:buChar char="-"/>
            </a:pPr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18A0EB-F837-14A1-3A88-DA35B39A79CF}"/>
              </a:ext>
            </a:extLst>
          </p:cNvPr>
          <p:cNvSpPr txBox="1"/>
          <p:nvPr/>
        </p:nvSpPr>
        <p:spPr>
          <a:xfrm>
            <a:off x="7369153" y="1448707"/>
            <a:ext cx="4582026" cy="30777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/>
                <a:ea typeface="Calibri"/>
                <a:cs typeface="Calibri"/>
              </a:rPr>
              <a:t>Analyse du cycle 2 (</a:t>
            </a:r>
            <a:r>
              <a:rPr lang="en-US" sz="1400" err="1">
                <a:latin typeface="Calibri"/>
                <a:ea typeface="Calibri"/>
                <a:cs typeface="Calibri"/>
              </a:rPr>
              <a:t>en</a:t>
            </a:r>
            <a:r>
              <a:rPr lang="en-US" sz="1400">
                <a:latin typeface="Calibri"/>
                <a:ea typeface="Calibri"/>
                <a:cs typeface="Calibri"/>
              </a:rPr>
              <a:t> euros)</a:t>
            </a:r>
          </a:p>
        </p:txBody>
      </p:sp>
      <p:pic>
        <p:nvPicPr>
          <p:cNvPr id="12" name="Image 8" descr="Fichier:IUT VANNES LOGO-2020 .jpg — Wikipédia">
            <a:extLst>
              <a:ext uri="{FF2B5EF4-FFF2-40B4-BE49-F238E27FC236}">
                <a16:creationId xmlns:a16="http://schemas.microsoft.com/office/drawing/2014/main" id="{AC43F6BF-C9E1-1B44-E2A4-B1055F7EA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72875"/>
            <a:ext cx="1009880" cy="682876"/>
          </a:xfrm>
          <a:prstGeom prst="rect">
            <a:avLst/>
          </a:prstGeom>
        </p:spPr>
      </p:pic>
      <p:sp>
        <p:nvSpPr>
          <p:cNvPr id="14" name="ZoneTexte 3">
            <a:extLst>
              <a:ext uri="{FF2B5EF4-FFF2-40B4-BE49-F238E27FC236}">
                <a16:creationId xmlns:a16="http://schemas.microsoft.com/office/drawing/2014/main" id="{EA21FEF3-0C1A-A1EA-1046-3010F2506140}"/>
              </a:ext>
            </a:extLst>
          </p:cNvPr>
          <p:cNvSpPr txBox="1"/>
          <p:nvPr/>
        </p:nvSpPr>
        <p:spPr>
          <a:xfrm>
            <a:off x="4256066" y="151977"/>
            <a:ext cx="3026633" cy="21544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fr-FR"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800">
                <a:solidFill>
                  <a:schemeClr val="accent2"/>
                </a:solidFill>
              </a:rPr>
              <a:t>Présentation de l'entreprise</a:t>
            </a:r>
            <a:r>
              <a:rPr lang="en-US" sz="800">
                <a:solidFill>
                  <a:schemeClr val="accent2"/>
                </a:solidFill>
              </a:rPr>
              <a:t>​</a:t>
            </a:r>
            <a:r>
              <a:rPr lang="en-US" sz="800">
                <a:solidFill>
                  <a:schemeClr val="tx1"/>
                </a:solidFill>
              </a:rPr>
              <a:t> |</a:t>
            </a:r>
            <a:r>
              <a:rPr lang="en-US" sz="800">
                <a:solidFill>
                  <a:srgbClr val="E75114"/>
                </a:solidFill>
              </a:rPr>
              <a:t> </a:t>
            </a:r>
            <a:r>
              <a:rPr lang="en-US" sz="800" err="1">
                <a:solidFill>
                  <a:schemeClr val="tx1"/>
                </a:solidFill>
              </a:rPr>
              <a:t>Analyse</a:t>
            </a:r>
            <a:r>
              <a:rPr lang="en-US" sz="800">
                <a:solidFill>
                  <a:schemeClr val="tx1"/>
                </a:solidFill>
              </a:rPr>
              <a:t> par cycle</a:t>
            </a:r>
            <a:r>
              <a:rPr lang="fr-FR" sz="800">
                <a:solidFill>
                  <a:schemeClr val="tx1"/>
                </a:solidFill>
              </a:rPr>
              <a:t>​</a:t>
            </a:r>
            <a:r>
              <a:rPr lang="fr-FR" sz="800">
                <a:solidFill>
                  <a:srgbClr val="E75114"/>
                </a:solidFill>
              </a:rPr>
              <a:t> </a:t>
            </a:r>
            <a:r>
              <a:rPr lang="fr-FR" sz="800">
                <a:solidFill>
                  <a:schemeClr val="tx1"/>
                </a:solidFill>
              </a:rPr>
              <a:t>|</a:t>
            </a:r>
            <a:r>
              <a:rPr lang="fr-FR" sz="800">
                <a:solidFill>
                  <a:srgbClr val="E75114"/>
                </a:solidFill>
              </a:rPr>
              <a:t> Conclusion</a:t>
            </a:r>
          </a:p>
        </p:txBody>
      </p:sp>
      <p:pic>
        <p:nvPicPr>
          <p:cNvPr id="7" name="Image 6" descr="Une image contenant texte, Appareils électroniques&#10;&#10;Le contenu généré par l’IA peut être incorrect.">
            <a:extLst>
              <a:ext uri="{FF2B5EF4-FFF2-40B4-BE49-F238E27FC236}">
                <a16:creationId xmlns:a16="http://schemas.microsoft.com/office/drawing/2014/main" id="{0C0A0D97-62E1-AE4D-85FB-EAB82D5F3B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1699" y="4480187"/>
            <a:ext cx="1446325" cy="1689414"/>
          </a:xfrm>
          <a:prstGeom prst="rect">
            <a:avLst/>
          </a:prstGeom>
        </p:spPr>
      </p:pic>
      <p:pic>
        <p:nvPicPr>
          <p:cNvPr id="16" name="Image 15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18622E0B-B618-0CC8-D13C-39EC6A59FC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3129" y="4479742"/>
            <a:ext cx="4634780" cy="1681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513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6AF41E-CF8F-5E44-8314-61140D32F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Analyse par cycle </a:t>
            </a:r>
            <a:endParaRPr lang="fr-FR"/>
          </a:p>
          <a:p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409B3F9-D3C1-3323-B643-24A2AE713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Maxence ABRIC-SEGARRA, Agathe DUBOIS, Laurine GAUTIER,  Victor MORVAN ​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DF962A3-D298-70DA-5078-B526E8FBE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6</a:t>
            </a:fld>
            <a:endParaRPr lang="fr-FR"/>
          </a:p>
        </p:txBody>
      </p:sp>
      <p:pic>
        <p:nvPicPr>
          <p:cNvPr id="11" name="Content Placeholder 10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4F614E1C-7EB8-5A0F-109D-5A85B2106F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02972" y="1531844"/>
            <a:ext cx="4174188" cy="2570217"/>
          </a:xfr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C3E1EC2B-992E-2052-1025-60A28B4C8D31}"/>
              </a:ext>
            </a:extLst>
          </p:cNvPr>
          <p:cNvSpPr txBox="1"/>
          <p:nvPr/>
        </p:nvSpPr>
        <p:spPr>
          <a:xfrm>
            <a:off x="842558" y="2271034"/>
            <a:ext cx="6545035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fr-FR"/>
              <a:t>Licenciement de 1 technicien et baisse du rapport qualité/prix pour plus de marge</a:t>
            </a:r>
            <a:endParaRPr lang="en-US"/>
          </a:p>
          <a:p>
            <a:endParaRPr lang="fr-FR"/>
          </a:p>
          <a:p>
            <a:pPr marL="285750" indent="-285750">
              <a:buFont typeface="Calibri"/>
              <a:buChar char="-"/>
            </a:pPr>
            <a:r>
              <a:rPr lang="fr-FR"/>
              <a:t>Changement de stratégie autour de l'assemblage PC avec une qualité "luxe"</a:t>
            </a:r>
          </a:p>
          <a:p>
            <a:endParaRPr lang="fr-FR"/>
          </a:p>
          <a:p>
            <a:pPr marL="285750" indent="-285750">
              <a:buFont typeface="Calibri"/>
              <a:buChar char="-"/>
            </a:pPr>
            <a:r>
              <a:rPr lang="fr-FR"/>
              <a:t>Augmentation du budget publicité</a:t>
            </a:r>
          </a:p>
          <a:p>
            <a:pPr marL="285750" indent="-285750">
              <a:buFont typeface="Calibri"/>
              <a:buChar char="-"/>
            </a:pPr>
            <a:endParaRPr lang="fr-FR"/>
          </a:p>
          <a:p>
            <a:pPr marL="285750" indent="-285750">
              <a:buFont typeface="Calibri"/>
              <a:buChar char="-"/>
            </a:pPr>
            <a:endParaRPr lang="fr-FR"/>
          </a:p>
        </p:txBody>
      </p:sp>
      <p:pic>
        <p:nvPicPr>
          <p:cNvPr id="13" name="Image 12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6507F16A-84CF-F8B5-694A-6C0DAA4ABD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2762" y="4269167"/>
            <a:ext cx="3871461" cy="15246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FCF714-EF7B-3514-8E5A-B33CED6F4F2F}"/>
              </a:ext>
            </a:extLst>
          </p:cNvPr>
          <p:cNvSpPr txBox="1"/>
          <p:nvPr/>
        </p:nvSpPr>
        <p:spPr>
          <a:xfrm>
            <a:off x="7653582" y="1223692"/>
            <a:ext cx="4582026" cy="30777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/>
                <a:ea typeface="Calibri"/>
                <a:cs typeface="Calibri"/>
              </a:rPr>
              <a:t>Analyse du cycle 3 (</a:t>
            </a:r>
            <a:r>
              <a:rPr lang="en-US" sz="1400" err="1">
                <a:latin typeface="Calibri"/>
                <a:ea typeface="Calibri"/>
                <a:cs typeface="Calibri"/>
              </a:rPr>
              <a:t>en</a:t>
            </a:r>
            <a:r>
              <a:rPr lang="en-US" sz="1400">
                <a:latin typeface="Calibri"/>
                <a:ea typeface="Calibri"/>
                <a:cs typeface="Calibri"/>
              </a:rPr>
              <a:t> euros)</a:t>
            </a:r>
          </a:p>
        </p:txBody>
      </p:sp>
      <p:pic>
        <p:nvPicPr>
          <p:cNvPr id="15" name="Image 8" descr="Fichier:IUT VANNES LOGO-2020 .jpg — Wikipédia">
            <a:extLst>
              <a:ext uri="{FF2B5EF4-FFF2-40B4-BE49-F238E27FC236}">
                <a16:creationId xmlns:a16="http://schemas.microsoft.com/office/drawing/2014/main" id="{5B3D74E7-9DCD-EE47-D9AD-AF45377FAA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72875"/>
            <a:ext cx="1009880" cy="682876"/>
          </a:xfrm>
          <a:prstGeom prst="rect">
            <a:avLst/>
          </a:prstGeom>
        </p:spPr>
      </p:pic>
      <p:sp>
        <p:nvSpPr>
          <p:cNvPr id="16" name="ZoneTexte 3">
            <a:extLst>
              <a:ext uri="{FF2B5EF4-FFF2-40B4-BE49-F238E27FC236}">
                <a16:creationId xmlns:a16="http://schemas.microsoft.com/office/drawing/2014/main" id="{32572CE6-C738-E5EF-6B7E-440C8236A33E}"/>
              </a:ext>
            </a:extLst>
          </p:cNvPr>
          <p:cNvSpPr txBox="1"/>
          <p:nvPr/>
        </p:nvSpPr>
        <p:spPr>
          <a:xfrm>
            <a:off x="4256066" y="151977"/>
            <a:ext cx="3026633" cy="21544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fr-FR"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800">
                <a:solidFill>
                  <a:schemeClr val="accent2"/>
                </a:solidFill>
              </a:rPr>
              <a:t>Présentation de l'entreprise</a:t>
            </a:r>
            <a:r>
              <a:rPr lang="en-US" sz="800">
                <a:solidFill>
                  <a:schemeClr val="accent2"/>
                </a:solidFill>
              </a:rPr>
              <a:t>​</a:t>
            </a:r>
            <a:r>
              <a:rPr lang="en-US" sz="800">
                <a:solidFill>
                  <a:schemeClr val="tx1"/>
                </a:solidFill>
              </a:rPr>
              <a:t> |</a:t>
            </a:r>
            <a:r>
              <a:rPr lang="en-US" sz="800">
                <a:solidFill>
                  <a:srgbClr val="E75114"/>
                </a:solidFill>
              </a:rPr>
              <a:t> </a:t>
            </a:r>
            <a:r>
              <a:rPr lang="en-US" sz="800" err="1">
                <a:solidFill>
                  <a:schemeClr val="tx1"/>
                </a:solidFill>
              </a:rPr>
              <a:t>Analyse</a:t>
            </a:r>
            <a:r>
              <a:rPr lang="en-US" sz="800">
                <a:solidFill>
                  <a:schemeClr val="tx1"/>
                </a:solidFill>
              </a:rPr>
              <a:t> par cycle</a:t>
            </a:r>
            <a:r>
              <a:rPr lang="fr-FR" sz="800">
                <a:solidFill>
                  <a:schemeClr val="tx1"/>
                </a:solidFill>
              </a:rPr>
              <a:t>​</a:t>
            </a:r>
            <a:r>
              <a:rPr lang="fr-FR" sz="800">
                <a:solidFill>
                  <a:srgbClr val="E75114"/>
                </a:solidFill>
              </a:rPr>
              <a:t> </a:t>
            </a:r>
            <a:r>
              <a:rPr lang="fr-FR" sz="800">
                <a:solidFill>
                  <a:schemeClr val="tx1"/>
                </a:solidFill>
              </a:rPr>
              <a:t>|</a:t>
            </a:r>
            <a:r>
              <a:rPr lang="fr-FR" sz="800">
                <a:solidFill>
                  <a:srgbClr val="E75114"/>
                </a:solidFill>
              </a:rPr>
              <a:t> Conclusion</a:t>
            </a:r>
          </a:p>
        </p:txBody>
      </p:sp>
      <p:pic>
        <p:nvPicPr>
          <p:cNvPr id="3" name="Image 2" descr="Une image contenant Appareils électroniques, Appareil électronique, ordinateur&#10;&#10;Le contenu généré par l’IA peut être incorrect.">
            <a:extLst>
              <a:ext uri="{FF2B5EF4-FFF2-40B4-BE49-F238E27FC236}">
                <a16:creationId xmlns:a16="http://schemas.microsoft.com/office/drawing/2014/main" id="{D607B903-6FC8-8B98-2DA6-A556009753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0329" y="4117503"/>
            <a:ext cx="1869990" cy="206229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3A19214-E39E-8FDC-4B94-F277956F4EF9}"/>
              </a:ext>
            </a:extLst>
          </p:cNvPr>
          <p:cNvSpPr txBox="1"/>
          <p:nvPr/>
        </p:nvSpPr>
        <p:spPr>
          <a:xfrm>
            <a:off x="504855" y="1533436"/>
            <a:ext cx="299786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latin typeface="Calibri"/>
                <a:ea typeface="Calibri"/>
                <a:cs typeface="Calibri"/>
              </a:rPr>
              <a:t>Cycle 3</a:t>
            </a:r>
          </a:p>
        </p:txBody>
      </p:sp>
    </p:spTree>
    <p:extLst>
      <p:ext uri="{BB962C8B-B14F-4D97-AF65-F5344CB8AC3E}">
        <p14:creationId xmlns:p14="http://schemas.microsoft.com/office/powerpoint/2010/main" val="3921575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E70C75-7210-F297-97DF-8B661866F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Maxence ABRIC-SEGARRA, Agathe DUBOIS, Laurine GAUTIER,  Victor MORVAN ​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BA00FD-F3F6-B18F-8B97-5233AFC06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7</a:t>
            </a:fld>
            <a:endParaRPr lang="fr-FR"/>
          </a:p>
        </p:txBody>
      </p:sp>
      <p:pic>
        <p:nvPicPr>
          <p:cNvPr id="9" name="Espace réservé du contenu 5" descr="Une image contenant texte, capture d’écran, nombre, Tracé&#10;&#10;Le contenu généré par l’IA peut être incorrect.">
            <a:extLst>
              <a:ext uri="{FF2B5EF4-FFF2-40B4-BE49-F238E27FC236}">
                <a16:creationId xmlns:a16="http://schemas.microsoft.com/office/drawing/2014/main" id="{1AB45C84-6763-F686-3364-3506DC678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9353" y="1413463"/>
            <a:ext cx="4687981" cy="2814918"/>
          </a:xfrm>
          <a:prstGeom prst="rect">
            <a:avLst/>
          </a:prstGeom>
        </p:spPr>
      </p:pic>
      <p:sp>
        <p:nvSpPr>
          <p:cNvPr id="11" name="Titre 1">
            <a:extLst>
              <a:ext uri="{FF2B5EF4-FFF2-40B4-BE49-F238E27FC236}">
                <a16:creationId xmlns:a16="http://schemas.microsoft.com/office/drawing/2014/main" id="{88EC37DF-BDAA-0AC3-FB66-5B28CE229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/>
              <a:t>Analyse par cycle </a:t>
            </a:r>
            <a:endParaRPr lang="fr-FR"/>
          </a:p>
          <a:p>
            <a:endParaRPr lang="fr-FR"/>
          </a:p>
        </p:txBody>
      </p:sp>
      <p:pic>
        <p:nvPicPr>
          <p:cNvPr id="12" name="Picture 11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F5E97E3E-61B0-5DD0-7C86-B01E3E979E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8608" y="4231740"/>
            <a:ext cx="4689168" cy="198418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38ECBED-963A-68CA-6C20-8AD9E1791F8B}"/>
              </a:ext>
            </a:extLst>
          </p:cNvPr>
          <p:cNvSpPr txBox="1"/>
          <p:nvPr/>
        </p:nvSpPr>
        <p:spPr>
          <a:xfrm>
            <a:off x="7093558" y="1104343"/>
            <a:ext cx="4582026" cy="30777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/>
                <a:ea typeface="Calibri"/>
                <a:cs typeface="Calibri"/>
              </a:rPr>
              <a:t>Analyse du cycle 4 (</a:t>
            </a:r>
            <a:r>
              <a:rPr lang="en-US" sz="1400" err="1">
                <a:latin typeface="Calibri"/>
                <a:ea typeface="Calibri"/>
                <a:cs typeface="Calibri"/>
              </a:rPr>
              <a:t>en</a:t>
            </a:r>
            <a:r>
              <a:rPr lang="en-US" sz="1400">
                <a:latin typeface="Calibri"/>
                <a:ea typeface="Calibri"/>
                <a:cs typeface="Calibri"/>
              </a:rPr>
              <a:t> euros)</a:t>
            </a:r>
          </a:p>
        </p:txBody>
      </p:sp>
      <p:pic>
        <p:nvPicPr>
          <p:cNvPr id="18" name="Image 8" descr="Fichier:IUT VANNES LOGO-2020 .jpg — Wikipédia">
            <a:extLst>
              <a:ext uri="{FF2B5EF4-FFF2-40B4-BE49-F238E27FC236}">
                <a16:creationId xmlns:a16="http://schemas.microsoft.com/office/drawing/2014/main" id="{779664C9-B8AA-482C-C4D0-A1DFA38827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72875"/>
            <a:ext cx="1009880" cy="682876"/>
          </a:xfrm>
          <a:prstGeom prst="rect">
            <a:avLst/>
          </a:prstGeom>
        </p:spPr>
      </p:pic>
      <p:sp>
        <p:nvSpPr>
          <p:cNvPr id="19" name="ZoneTexte 3">
            <a:extLst>
              <a:ext uri="{FF2B5EF4-FFF2-40B4-BE49-F238E27FC236}">
                <a16:creationId xmlns:a16="http://schemas.microsoft.com/office/drawing/2014/main" id="{54D1FC84-AA91-4CA0-4AAB-19D8B55677FE}"/>
              </a:ext>
            </a:extLst>
          </p:cNvPr>
          <p:cNvSpPr txBox="1"/>
          <p:nvPr/>
        </p:nvSpPr>
        <p:spPr>
          <a:xfrm>
            <a:off x="4256066" y="151977"/>
            <a:ext cx="3026633" cy="21544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fr-FR"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800">
                <a:solidFill>
                  <a:schemeClr val="accent2"/>
                </a:solidFill>
              </a:rPr>
              <a:t>Présentation de l'entreprise</a:t>
            </a:r>
            <a:r>
              <a:rPr lang="en-US" sz="800">
                <a:solidFill>
                  <a:schemeClr val="accent2"/>
                </a:solidFill>
              </a:rPr>
              <a:t>​</a:t>
            </a:r>
            <a:r>
              <a:rPr lang="en-US" sz="800">
                <a:solidFill>
                  <a:schemeClr val="tx1"/>
                </a:solidFill>
              </a:rPr>
              <a:t> |</a:t>
            </a:r>
            <a:r>
              <a:rPr lang="en-US" sz="800">
                <a:solidFill>
                  <a:srgbClr val="E75114"/>
                </a:solidFill>
              </a:rPr>
              <a:t> </a:t>
            </a:r>
            <a:r>
              <a:rPr lang="en-US" sz="800" err="1">
                <a:solidFill>
                  <a:schemeClr val="tx1"/>
                </a:solidFill>
              </a:rPr>
              <a:t>Analyse</a:t>
            </a:r>
            <a:r>
              <a:rPr lang="en-US" sz="800">
                <a:solidFill>
                  <a:schemeClr val="tx1"/>
                </a:solidFill>
              </a:rPr>
              <a:t> par cycle</a:t>
            </a:r>
            <a:r>
              <a:rPr lang="fr-FR" sz="800">
                <a:solidFill>
                  <a:schemeClr val="tx1"/>
                </a:solidFill>
              </a:rPr>
              <a:t>​</a:t>
            </a:r>
            <a:r>
              <a:rPr lang="fr-FR" sz="800">
                <a:solidFill>
                  <a:srgbClr val="E75114"/>
                </a:solidFill>
              </a:rPr>
              <a:t> </a:t>
            </a:r>
            <a:r>
              <a:rPr lang="fr-FR" sz="800">
                <a:solidFill>
                  <a:schemeClr val="tx1"/>
                </a:solidFill>
              </a:rPr>
              <a:t>|</a:t>
            </a:r>
            <a:r>
              <a:rPr lang="fr-FR" sz="800">
                <a:solidFill>
                  <a:srgbClr val="E75114"/>
                </a:solidFill>
              </a:rPr>
              <a:t> Conclusion</a:t>
            </a:r>
          </a:p>
        </p:txBody>
      </p:sp>
      <p:pic>
        <p:nvPicPr>
          <p:cNvPr id="6" name="Image 5" descr="Une image contenant texte, Appareils électroniques&#10;&#10;Le contenu généré par l’IA peut être incorrect.">
            <a:extLst>
              <a:ext uri="{FF2B5EF4-FFF2-40B4-BE49-F238E27FC236}">
                <a16:creationId xmlns:a16="http://schemas.microsoft.com/office/drawing/2014/main" id="{B7CF5084-118B-1EA6-4681-3DD0AA042D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5459" y="4237081"/>
            <a:ext cx="1704461" cy="19775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8BCA05D-C723-9846-9722-DB5B82454DF6}"/>
              </a:ext>
            </a:extLst>
          </p:cNvPr>
          <p:cNvSpPr txBox="1"/>
          <p:nvPr/>
        </p:nvSpPr>
        <p:spPr>
          <a:xfrm>
            <a:off x="504855" y="1410171"/>
            <a:ext cx="299786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latin typeface="Calibri"/>
                <a:ea typeface="Calibri"/>
                <a:cs typeface="Calibri"/>
              </a:rPr>
              <a:t>Cycle 4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CA21C62-6C7E-6D2B-E7AD-5477FCF4ACAA}"/>
              </a:ext>
            </a:extLst>
          </p:cNvPr>
          <p:cNvSpPr txBox="1"/>
          <p:nvPr/>
        </p:nvSpPr>
        <p:spPr>
          <a:xfrm>
            <a:off x="1007458" y="2198563"/>
            <a:ext cx="598404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fr-FR"/>
              <a:t>Recrutement de 1 personnel d'accueil et 1 technicien</a:t>
            </a:r>
            <a:endParaRPr lang="en-US"/>
          </a:p>
          <a:p>
            <a:endParaRPr lang="fr-FR"/>
          </a:p>
          <a:p>
            <a:pPr marL="285750" indent="-285750">
              <a:buFont typeface="Calibri"/>
              <a:buChar char="-"/>
            </a:pPr>
            <a:r>
              <a:rPr lang="fr-FR"/>
              <a:t>Augmentation des salaires à 112 (base 100)</a:t>
            </a:r>
          </a:p>
          <a:p>
            <a:endParaRPr lang="fr-FR"/>
          </a:p>
          <a:p>
            <a:pPr marL="285750" indent="-285750">
              <a:buFont typeface="Calibri"/>
              <a:buChar char="-"/>
            </a:pPr>
            <a:r>
              <a:rPr lang="fr-FR"/>
              <a:t>Augmentation budget des formations</a:t>
            </a:r>
          </a:p>
          <a:p>
            <a:endParaRPr lang="fr-FR"/>
          </a:p>
          <a:p>
            <a:pPr marL="285750" indent="-285750">
              <a:buFont typeface="Calibri"/>
              <a:buChar char="-"/>
            </a:pPr>
            <a:r>
              <a:rPr lang="fr-FR"/>
              <a:t>Stratégie sur la réinstallation PC</a:t>
            </a:r>
          </a:p>
        </p:txBody>
      </p:sp>
    </p:spTree>
    <p:extLst>
      <p:ext uri="{BB962C8B-B14F-4D97-AF65-F5344CB8AC3E}">
        <p14:creationId xmlns:p14="http://schemas.microsoft.com/office/powerpoint/2010/main" val="1152793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space réservé du contenu 5" descr="Une image contenant texte, capture d’écran, nombre, Tracé&#10;&#10;Le contenu généré par l’IA peut être incorrect.">
            <a:extLst>
              <a:ext uri="{FF2B5EF4-FFF2-40B4-BE49-F238E27FC236}">
                <a16:creationId xmlns:a16="http://schemas.microsoft.com/office/drawing/2014/main" id="{4DE4C0E4-EFCE-46B6-7964-0275B9D21B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02379" y="1670529"/>
            <a:ext cx="3993216" cy="2440407"/>
          </a:xfr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4EC7317-C55E-7F69-336E-586953AA1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Maxence ABRIC-SEGARRA, Agathe DUBOIS, Laurine GAUTIER,  Victor MORVAN ​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C2959DE-9BFC-A72B-D593-98E44BDDA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8</a:t>
            </a:fld>
            <a:endParaRPr lang="fr-FR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593B19EC-ECEC-407E-96C4-70AFE9800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467"/>
            <a:ext cx="10515600" cy="1325563"/>
          </a:xfrm>
        </p:spPr>
        <p:txBody>
          <a:bodyPr/>
          <a:lstStyle/>
          <a:p>
            <a:pPr algn="ctr"/>
            <a:r>
              <a:rPr lang="en-US"/>
              <a:t>Analyse par cycle </a:t>
            </a:r>
          </a:p>
        </p:txBody>
      </p:sp>
      <p:pic>
        <p:nvPicPr>
          <p:cNvPr id="10" name="Image 8" descr="Fichier:IUT VANNES LOGO-2020 .jpg — Wikipédia">
            <a:extLst>
              <a:ext uri="{FF2B5EF4-FFF2-40B4-BE49-F238E27FC236}">
                <a16:creationId xmlns:a16="http://schemas.microsoft.com/office/drawing/2014/main" id="{845446EE-E3A8-F20F-1887-75E4F98C27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72875"/>
            <a:ext cx="1009880" cy="682876"/>
          </a:xfrm>
          <a:prstGeom prst="rect">
            <a:avLst/>
          </a:prstGeom>
        </p:spPr>
      </p:pic>
      <p:sp>
        <p:nvSpPr>
          <p:cNvPr id="11" name="ZoneTexte 3">
            <a:extLst>
              <a:ext uri="{FF2B5EF4-FFF2-40B4-BE49-F238E27FC236}">
                <a16:creationId xmlns:a16="http://schemas.microsoft.com/office/drawing/2014/main" id="{3D3E1496-7BFC-5E3A-29CD-EA106086E6EF}"/>
              </a:ext>
            </a:extLst>
          </p:cNvPr>
          <p:cNvSpPr txBox="1"/>
          <p:nvPr/>
        </p:nvSpPr>
        <p:spPr>
          <a:xfrm>
            <a:off x="4256066" y="151977"/>
            <a:ext cx="3026633" cy="21544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fr-FR"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800">
                <a:solidFill>
                  <a:schemeClr val="accent2"/>
                </a:solidFill>
              </a:rPr>
              <a:t>Présentation de l'entreprise</a:t>
            </a:r>
            <a:r>
              <a:rPr lang="en-US" sz="800">
                <a:solidFill>
                  <a:schemeClr val="accent2"/>
                </a:solidFill>
              </a:rPr>
              <a:t>​</a:t>
            </a:r>
            <a:r>
              <a:rPr lang="en-US" sz="800">
                <a:solidFill>
                  <a:schemeClr val="tx1"/>
                </a:solidFill>
              </a:rPr>
              <a:t> |</a:t>
            </a:r>
            <a:r>
              <a:rPr lang="en-US" sz="800">
                <a:solidFill>
                  <a:srgbClr val="E75114"/>
                </a:solidFill>
              </a:rPr>
              <a:t> </a:t>
            </a:r>
            <a:r>
              <a:rPr lang="en-US" sz="800" err="1">
                <a:solidFill>
                  <a:schemeClr val="tx1"/>
                </a:solidFill>
              </a:rPr>
              <a:t>Analyse</a:t>
            </a:r>
            <a:r>
              <a:rPr lang="en-US" sz="800">
                <a:solidFill>
                  <a:schemeClr val="tx1"/>
                </a:solidFill>
              </a:rPr>
              <a:t> par cycle</a:t>
            </a:r>
            <a:r>
              <a:rPr lang="fr-FR" sz="800">
                <a:solidFill>
                  <a:schemeClr val="tx1"/>
                </a:solidFill>
              </a:rPr>
              <a:t>​</a:t>
            </a:r>
            <a:r>
              <a:rPr lang="fr-FR" sz="800">
                <a:solidFill>
                  <a:srgbClr val="E75114"/>
                </a:solidFill>
              </a:rPr>
              <a:t> </a:t>
            </a:r>
            <a:r>
              <a:rPr lang="fr-FR" sz="800">
                <a:solidFill>
                  <a:schemeClr val="tx1"/>
                </a:solidFill>
              </a:rPr>
              <a:t>|</a:t>
            </a:r>
            <a:r>
              <a:rPr lang="fr-FR" sz="800">
                <a:solidFill>
                  <a:srgbClr val="E75114"/>
                </a:solidFill>
              </a:rPr>
              <a:t> Conclusion</a:t>
            </a: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14A3DB0B-E664-7971-2C51-9B9BE34C4E2E}"/>
              </a:ext>
            </a:extLst>
          </p:cNvPr>
          <p:cNvSpPr txBox="1"/>
          <p:nvPr/>
        </p:nvSpPr>
        <p:spPr>
          <a:xfrm>
            <a:off x="762590" y="1499818"/>
            <a:ext cx="299786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latin typeface="Calibri"/>
                <a:ea typeface="Calibri"/>
                <a:cs typeface="Calibri"/>
              </a:rPr>
              <a:t>Cycle 5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91E4116-FD97-432A-59B1-9B424B5355F2}"/>
              </a:ext>
            </a:extLst>
          </p:cNvPr>
          <p:cNvSpPr txBox="1"/>
          <p:nvPr/>
        </p:nvSpPr>
        <p:spPr>
          <a:xfrm>
            <a:off x="759264" y="2496567"/>
            <a:ext cx="4915921" cy="24579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086BF368-909C-00DF-670F-D1BCC9C63FB0}"/>
              </a:ext>
            </a:extLst>
          </p:cNvPr>
          <p:cNvSpPr txBox="1"/>
          <p:nvPr/>
        </p:nvSpPr>
        <p:spPr>
          <a:xfrm>
            <a:off x="1270182" y="2279102"/>
            <a:ext cx="4993134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fr-FR"/>
              <a:t>Recrutement de 1 techniciens par rapport au rapport prévisionnel</a:t>
            </a:r>
          </a:p>
          <a:p>
            <a:pPr marL="285750" indent="-285750">
              <a:buFont typeface="Calibri"/>
              <a:buChar char="-"/>
            </a:pPr>
            <a:endParaRPr lang="fr-FR"/>
          </a:p>
          <a:p>
            <a:pPr marL="285750" indent="-285750">
              <a:buFont typeface="Calibri"/>
              <a:buChar char="-"/>
            </a:pPr>
            <a:r>
              <a:rPr lang="fr-FR"/>
              <a:t>Stratégie sur l'assemblage PC avec la qualité "luxe" pour chacune de nos prestations</a:t>
            </a:r>
          </a:p>
          <a:p>
            <a:pPr marL="285750" indent="-285750">
              <a:buFont typeface="Calibri"/>
              <a:buChar char="-"/>
            </a:pPr>
            <a:endParaRPr lang="fr-FR"/>
          </a:p>
          <a:p>
            <a:pPr marL="285750" indent="-285750">
              <a:buFont typeface="Calibri"/>
              <a:buChar char="-"/>
            </a:pPr>
            <a:endParaRPr lang="fr-FR"/>
          </a:p>
          <a:p>
            <a:endParaRPr lang="fr-FR"/>
          </a:p>
        </p:txBody>
      </p:sp>
      <p:pic>
        <p:nvPicPr>
          <p:cNvPr id="13" name="Image 12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198B9866-845A-DAC6-2A5A-DB46191A72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9829" y="4325753"/>
            <a:ext cx="3996018" cy="1848410"/>
          </a:xfrm>
          <a:prstGeom prst="rect">
            <a:avLst/>
          </a:prstGeom>
        </p:spPr>
      </p:pic>
      <p:pic>
        <p:nvPicPr>
          <p:cNvPr id="15" name="Image 14" descr="Une image contenant Appareils électroniques, Appareil électronique, ordinateur&#10;&#10;Le contenu généré par l’IA peut être incorrect.">
            <a:extLst>
              <a:ext uri="{FF2B5EF4-FFF2-40B4-BE49-F238E27FC236}">
                <a16:creationId xmlns:a16="http://schemas.microsoft.com/office/drawing/2014/main" id="{B557187A-633D-B995-8E2A-7810DB8E4A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0329" y="4117503"/>
            <a:ext cx="1869990" cy="2062292"/>
          </a:xfrm>
          <a:prstGeom prst="rect">
            <a:avLst/>
          </a:prstGeom>
        </p:spPr>
      </p:pic>
      <p:sp>
        <p:nvSpPr>
          <p:cNvPr id="9" name="TextBox 13">
            <a:extLst>
              <a:ext uri="{FF2B5EF4-FFF2-40B4-BE49-F238E27FC236}">
                <a16:creationId xmlns:a16="http://schemas.microsoft.com/office/drawing/2014/main" id="{E9F46BDC-A8E2-9C65-4689-BBDA330F5797}"/>
              </a:ext>
            </a:extLst>
          </p:cNvPr>
          <p:cNvSpPr txBox="1"/>
          <p:nvPr/>
        </p:nvSpPr>
        <p:spPr>
          <a:xfrm>
            <a:off x="7407323" y="1294843"/>
            <a:ext cx="4582026" cy="30777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/>
                <a:ea typeface="Calibri"/>
                <a:cs typeface="Calibri"/>
              </a:rPr>
              <a:t>Analyse du cycle 5 (</a:t>
            </a:r>
            <a:r>
              <a:rPr lang="en-US" sz="1400" err="1">
                <a:latin typeface="Calibri"/>
                <a:ea typeface="Calibri"/>
                <a:cs typeface="Calibri"/>
              </a:rPr>
              <a:t>en</a:t>
            </a:r>
            <a:r>
              <a:rPr lang="en-US" sz="1400">
                <a:latin typeface="Calibri"/>
                <a:ea typeface="Calibri"/>
                <a:cs typeface="Calibri"/>
              </a:rPr>
              <a:t> euros)</a:t>
            </a:r>
          </a:p>
        </p:txBody>
      </p:sp>
    </p:spTree>
    <p:extLst>
      <p:ext uri="{BB962C8B-B14F-4D97-AF65-F5344CB8AC3E}">
        <p14:creationId xmlns:p14="http://schemas.microsoft.com/office/powerpoint/2010/main" val="31350054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space réservé du contenu 5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1F4354C3-7293-8F14-A624-6C1AC5AAD7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74586" y="1403034"/>
            <a:ext cx="4776603" cy="2906013"/>
          </a:xfr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C0106E8-8353-AF96-236D-3867A2FA0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Maxence ABRIC-SEGARRA, Agathe DUBOIS, Laurine GAUTIER,  Victor MORVAN ​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3BB9648-B81D-7E3B-9E52-A3B4A9ACF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9</a:t>
            </a:fld>
            <a:endParaRPr lang="fr-FR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F10C5D42-C216-875A-5C91-36EB55113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467"/>
            <a:ext cx="10515600" cy="1325563"/>
          </a:xfrm>
        </p:spPr>
        <p:txBody>
          <a:bodyPr/>
          <a:lstStyle/>
          <a:p>
            <a:pPr algn="ctr"/>
            <a:r>
              <a:rPr lang="en-US"/>
              <a:t>Analyse par cycle </a:t>
            </a:r>
          </a:p>
        </p:txBody>
      </p:sp>
      <p:pic>
        <p:nvPicPr>
          <p:cNvPr id="11" name="Image 8" descr="Fichier:IUT VANNES LOGO-2020 .jpg — Wikipédia">
            <a:extLst>
              <a:ext uri="{FF2B5EF4-FFF2-40B4-BE49-F238E27FC236}">
                <a16:creationId xmlns:a16="http://schemas.microsoft.com/office/drawing/2014/main" id="{624E08EC-C8CA-8ED4-AC60-35AD955FD3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72875"/>
            <a:ext cx="1009880" cy="682876"/>
          </a:xfrm>
          <a:prstGeom prst="rect">
            <a:avLst/>
          </a:prstGeom>
        </p:spPr>
      </p:pic>
      <p:sp>
        <p:nvSpPr>
          <p:cNvPr id="12" name="ZoneTexte 3">
            <a:extLst>
              <a:ext uri="{FF2B5EF4-FFF2-40B4-BE49-F238E27FC236}">
                <a16:creationId xmlns:a16="http://schemas.microsoft.com/office/drawing/2014/main" id="{041E8ED0-9235-0CCD-6511-D1B8EF02CE34}"/>
              </a:ext>
            </a:extLst>
          </p:cNvPr>
          <p:cNvSpPr txBox="1"/>
          <p:nvPr/>
        </p:nvSpPr>
        <p:spPr>
          <a:xfrm>
            <a:off x="4256066" y="151977"/>
            <a:ext cx="3026633" cy="21544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fr-FR"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800">
                <a:solidFill>
                  <a:schemeClr val="accent2"/>
                </a:solidFill>
              </a:rPr>
              <a:t>Présentation de l'entreprise</a:t>
            </a:r>
            <a:r>
              <a:rPr lang="en-US" sz="800">
                <a:solidFill>
                  <a:schemeClr val="accent2"/>
                </a:solidFill>
              </a:rPr>
              <a:t>​</a:t>
            </a:r>
            <a:r>
              <a:rPr lang="en-US" sz="800">
                <a:solidFill>
                  <a:schemeClr val="tx1"/>
                </a:solidFill>
              </a:rPr>
              <a:t> |</a:t>
            </a:r>
            <a:r>
              <a:rPr lang="en-US" sz="800">
                <a:solidFill>
                  <a:srgbClr val="E75114"/>
                </a:solidFill>
              </a:rPr>
              <a:t> </a:t>
            </a:r>
            <a:r>
              <a:rPr lang="en-US" sz="800" err="1">
                <a:solidFill>
                  <a:schemeClr val="tx1"/>
                </a:solidFill>
              </a:rPr>
              <a:t>Analyse</a:t>
            </a:r>
            <a:r>
              <a:rPr lang="en-US" sz="800">
                <a:solidFill>
                  <a:schemeClr val="tx1"/>
                </a:solidFill>
              </a:rPr>
              <a:t> par cycle</a:t>
            </a:r>
            <a:r>
              <a:rPr lang="fr-FR" sz="800">
                <a:solidFill>
                  <a:schemeClr val="tx1"/>
                </a:solidFill>
              </a:rPr>
              <a:t>​</a:t>
            </a:r>
            <a:r>
              <a:rPr lang="fr-FR" sz="800">
                <a:solidFill>
                  <a:srgbClr val="E75114"/>
                </a:solidFill>
              </a:rPr>
              <a:t> </a:t>
            </a:r>
            <a:r>
              <a:rPr lang="fr-FR" sz="800">
                <a:solidFill>
                  <a:schemeClr val="tx1"/>
                </a:solidFill>
              </a:rPr>
              <a:t>|</a:t>
            </a:r>
            <a:r>
              <a:rPr lang="fr-FR" sz="800">
                <a:solidFill>
                  <a:srgbClr val="E75114"/>
                </a:solidFill>
              </a:rPr>
              <a:t> Conclusion</a:t>
            </a: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8BE535C4-DBEA-7C78-9FD1-ABC9609EAA01}"/>
              </a:ext>
            </a:extLst>
          </p:cNvPr>
          <p:cNvSpPr txBox="1"/>
          <p:nvPr/>
        </p:nvSpPr>
        <p:spPr>
          <a:xfrm>
            <a:off x="841032" y="1449543"/>
            <a:ext cx="620633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latin typeface="Calibri"/>
                <a:ea typeface="Calibri"/>
                <a:cs typeface="Calibri"/>
              </a:rPr>
              <a:t>Cycle 6 </a:t>
            </a:r>
          </a:p>
        </p:txBody>
      </p:sp>
      <p:pic>
        <p:nvPicPr>
          <p:cNvPr id="8" name="Image 7" descr="Une image contenant texte, logo, symbol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763D9377-C184-2050-EF6B-C1317B9369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5042" y="4319458"/>
            <a:ext cx="1754403" cy="1864327"/>
          </a:xfrm>
          <a:prstGeom prst="rect">
            <a:avLst/>
          </a:prstGeom>
        </p:spPr>
      </p:pic>
      <p:pic>
        <p:nvPicPr>
          <p:cNvPr id="9" name="Image 8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7210E4B8-3072-B079-2791-14B88B4707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251" y="4309547"/>
            <a:ext cx="4333875" cy="1781175"/>
          </a:xfrm>
          <a:prstGeom prst="rect">
            <a:avLst/>
          </a:prstGeom>
        </p:spPr>
      </p:pic>
      <p:sp>
        <p:nvSpPr>
          <p:cNvPr id="14" name="ZoneTexte 12">
            <a:extLst>
              <a:ext uri="{FF2B5EF4-FFF2-40B4-BE49-F238E27FC236}">
                <a16:creationId xmlns:a16="http://schemas.microsoft.com/office/drawing/2014/main" id="{64AF2317-9913-EAC6-DB26-1C4299C2747E}"/>
              </a:ext>
            </a:extLst>
          </p:cNvPr>
          <p:cNvSpPr txBox="1"/>
          <p:nvPr/>
        </p:nvSpPr>
        <p:spPr>
          <a:xfrm>
            <a:off x="1015406" y="2372024"/>
            <a:ext cx="6513206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>
                <a:latin typeface="Calibri"/>
                <a:ea typeface="Calibri"/>
                <a:cs typeface="Calibri"/>
              </a:rPr>
              <a:t>Introduction nouveau concurrent</a:t>
            </a:r>
            <a:endParaRPr lang="fr-FR">
              <a:latin typeface="Calibri"/>
              <a:ea typeface="Calibri"/>
              <a:cs typeface="Calibri"/>
            </a:endParaRPr>
          </a:p>
          <a:p>
            <a:pPr marL="285750" indent="-285750">
              <a:buFont typeface="Calibri"/>
              <a:buChar char="-"/>
            </a:pPr>
            <a:endParaRPr lang="fr-FR"/>
          </a:p>
          <a:p>
            <a:pPr marL="285750" indent="-285750">
              <a:buFont typeface="Calibri"/>
              <a:buChar char="-"/>
            </a:pPr>
            <a:r>
              <a:rPr lang="fr-FR"/>
              <a:t>Licenciement de 2 employés à l'accueil  et un technicien</a:t>
            </a:r>
          </a:p>
          <a:p>
            <a:endParaRPr lang="fr-FR"/>
          </a:p>
          <a:p>
            <a:pPr marL="285750" indent="-285750">
              <a:buFont typeface="Calibri"/>
              <a:buChar char="-"/>
            </a:pPr>
            <a:r>
              <a:rPr lang="fr-FR"/>
              <a:t>Stratégie axée sur les produits pour les professionnels comme les pack réseaux pour faire face au nouveau concurrent</a:t>
            </a:r>
          </a:p>
          <a:p>
            <a:pPr marL="285750" indent="-285750">
              <a:buFont typeface="Calibri"/>
              <a:buChar char="-"/>
            </a:pPr>
            <a:endParaRPr lang="fr-FR"/>
          </a:p>
          <a:p>
            <a:pPr marL="285750" indent="-285750">
              <a:buFont typeface="Calibri"/>
              <a:buChar char="-"/>
            </a:pPr>
            <a:endParaRPr lang="fr-FR"/>
          </a:p>
        </p:txBody>
      </p:sp>
      <p:sp>
        <p:nvSpPr>
          <p:cNvPr id="10" name="TextBox 13">
            <a:extLst>
              <a:ext uri="{FF2B5EF4-FFF2-40B4-BE49-F238E27FC236}">
                <a16:creationId xmlns:a16="http://schemas.microsoft.com/office/drawing/2014/main" id="{9A21EA17-849B-2C78-C420-33FE24E1CA9D}"/>
              </a:ext>
            </a:extLst>
          </p:cNvPr>
          <p:cNvSpPr txBox="1"/>
          <p:nvPr/>
        </p:nvSpPr>
        <p:spPr>
          <a:xfrm>
            <a:off x="7093558" y="1104343"/>
            <a:ext cx="4582026" cy="30777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/>
                <a:ea typeface="Calibri"/>
                <a:cs typeface="Calibri"/>
              </a:rPr>
              <a:t>Analyse du cycle 6 (</a:t>
            </a:r>
            <a:r>
              <a:rPr lang="en-US" sz="1400" err="1">
                <a:latin typeface="Calibri"/>
                <a:ea typeface="Calibri"/>
                <a:cs typeface="Calibri"/>
              </a:rPr>
              <a:t>en</a:t>
            </a:r>
            <a:r>
              <a:rPr lang="en-US" sz="1400">
                <a:latin typeface="Calibri"/>
                <a:ea typeface="Calibri"/>
                <a:cs typeface="Calibri"/>
              </a:rPr>
              <a:t> euros)</a:t>
            </a:r>
          </a:p>
        </p:txBody>
      </p:sp>
    </p:spTree>
    <p:extLst>
      <p:ext uri="{BB962C8B-B14F-4D97-AF65-F5344CB8AC3E}">
        <p14:creationId xmlns:p14="http://schemas.microsoft.com/office/powerpoint/2010/main" val="3515404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space réservé du contenu 5" descr="Une image contenant texte, capture d’écran, nombre, Tracé&#10;&#10;Le contenu généré par l’IA peut être incorrect.">
            <a:extLst>
              <a:ext uri="{FF2B5EF4-FFF2-40B4-BE49-F238E27FC236}">
                <a16:creationId xmlns:a16="http://schemas.microsoft.com/office/drawing/2014/main" id="{B2124140-B31B-CCE2-B5E5-EEF8E8B56B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88033" y="1711817"/>
            <a:ext cx="4123687" cy="2469419"/>
          </a:xfr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DE200E0-5764-6BFA-B224-DAED8C2CC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Maxence ABRIC-SEGARRA, Agathe DUBOIS, Laurine GAUTIER,  Victor MORVAN ​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06763E2-A32C-962B-3A5C-E8D842BF2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10</a:t>
            </a:fld>
            <a:endParaRPr lang="fr-FR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C6D4E97B-F560-7C6C-6BED-CEB5EA1C7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467"/>
            <a:ext cx="10515600" cy="1325563"/>
          </a:xfrm>
        </p:spPr>
        <p:txBody>
          <a:bodyPr/>
          <a:lstStyle/>
          <a:p>
            <a:pPr algn="ctr"/>
            <a:r>
              <a:rPr lang="en-US"/>
              <a:t>Analyse par cycle </a:t>
            </a:r>
          </a:p>
        </p:txBody>
      </p:sp>
      <p:pic>
        <p:nvPicPr>
          <p:cNvPr id="11" name="Image 8" descr="Fichier:IUT VANNES LOGO-2020 .jpg — Wikipédia">
            <a:extLst>
              <a:ext uri="{FF2B5EF4-FFF2-40B4-BE49-F238E27FC236}">
                <a16:creationId xmlns:a16="http://schemas.microsoft.com/office/drawing/2014/main" id="{FCB3C5D0-7D7B-8DF7-C1AC-58A4F6895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72875"/>
            <a:ext cx="1009880" cy="682876"/>
          </a:xfrm>
          <a:prstGeom prst="rect">
            <a:avLst/>
          </a:prstGeom>
        </p:spPr>
      </p:pic>
      <p:sp>
        <p:nvSpPr>
          <p:cNvPr id="12" name="ZoneTexte 3">
            <a:extLst>
              <a:ext uri="{FF2B5EF4-FFF2-40B4-BE49-F238E27FC236}">
                <a16:creationId xmlns:a16="http://schemas.microsoft.com/office/drawing/2014/main" id="{BA54D702-4C8B-B57D-483E-51D4EFA20226}"/>
              </a:ext>
            </a:extLst>
          </p:cNvPr>
          <p:cNvSpPr txBox="1"/>
          <p:nvPr/>
        </p:nvSpPr>
        <p:spPr>
          <a:xfrm>
            <a:off x="4256066" y="151977"/>
            <a:ext cx="3026633" cy="21544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fr-FR"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800">
                <a:solidFill>
                  <a:schemeClr val="accent2"/>
                </a:solidFill>
              </a:rPr>
              <a:t>Présentation de l'entreprise</a:t>
            </a:r>
            <a:r>
              <a:rPr lang="en-US" sz="800">
                <a:solidFill>
                  <a:schemeClr val="accent2"/>
                </a:solidFill>
              </a:rPr>
              <a:t>​</a:t>
            </a:r>
            <a:r>
              <a:rPr lang="en-US" sz="800">
                <a:solidFill>
                  <a:schemeClr val="tx1"/>
                </a:solidFill>
              </a:rPr>
              <a:t> |</a:t>
            </a:r>
            <a:r>
              <a:rPr lang="en-US" sz="800">
                <a:solidFill>
                  <a:srgbClr val="E75114"/>
                </a:solidFill>
              </a:rPr>
              <a:t> </a:t>
            </a:r>
            <a:r>
              <a:rPr lang="en-US" sz="800" err="1">
                <a:solidFill>
                  <a:schemeClr val="tx1"/>
                </a:solidFill>
              </a:rPr>
              <a:t>Analyse</a:t>
            </a:r>
            <a:r>
              <a:rPr lang="en-US" sz="800">
                <a:solidFill>
                  <a:schemeClr val="tx1"/>
                </a:solidFill>
              </a:rPr>
              <a:t> par cycle</a:t>
            </a:r>
            <a:r>
              <a:rPr lang="fr-FR" sz="800">
                <a:solidFill>
                  <a:schemeClr val="tx1"/>
                </a:solidFill>
              </a:rPr>
              <a:t>​</a:t>
            </a:r>
            <a:r>
              <a:rPr lang="fr-FR" sz="800">
                <a:solidFill>
                  <a:srgbClr val="E75114"/>
                </a:solidFill>
              </a:rPr>
              <a:t> </a:t>
            </a:r>
            <a:r>
              <a:rPr lang="fr-FR" sz="800">
                <a:solidFill>
                  <a:schemeClr val="tx1"/>
                </a:solidFill>
              </a:rPr>
              <a:t>|</a:t>
            </a:r>
            <a:r>
              <a:rPr lang="fr-FR" sz="800">
                <a:solidFill>
                  <a:srgbClr val="E75114"/>
                </a:solidFill>
              </a:rPr>
              <a:t> Conclusion</a:t>
            </a: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5EFB7AB4-7B41-9295-5684-8AA35731005D}"/>
              </a:ext>
            </a:extLst>
          </p:cNvPr>
          <p:cNvSpPr txBox="1"/>
          <p:nvPr/>
        </p:nvSpPr>
        <p:spPr>
          <a:xfrm>
            <a:off x="661737" y="1443789"/>
            <a:ext cx="368679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latin typeface="Calibri"/>
                <a:ea typeface="Calibri"/>
                <a:cs typeface="Calibri"/>
              </a:rPr>
              <a:t>Cycle 7 : Crise </a:t>
            </a:r>
            <a:r>
              <a:rPr lang="en-US" sz="2800" err="1">
                <a:latin typeface="Calibri"/>
                <a:ea typeface="Calibri"/>
                <a:cs typeface="Calibri"/>
              </a:rPr>
              <a:t>globale</a:t>
            </a:r>
          </a:p>
        </p:txBody>
      </p:sp>
      <p:pic>
        <p:nvPicPr>
          <p:cNvPr id="8" name="Image 7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8DEA0F2D-0B96-7DA5-D469-0B40FC10B8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4372" y="4128058"/>
            <a:ext cx="4448175" cy="1876425"/>
          </a:xfrm>
          <a:prstGeom prst="rect">
            <a:avLst/>
          </a:prstGeom>
        </p:spPr>
      </p:pic>
      <p:pic>
        <p:nvPicPr>
          <p:cNvPr id="10" name="Image 9" descr="Une image contenant texte, logo, symbol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15F6D509-F1FD-BEC0-FF5B-8E9E445FA6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8015" y="4123809"/>
            <a:ext cx="1754403" cy="1864327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F68FA177-05E3-F9B0-E58D-8318D5D12AD0}"/>
              </a:ext>
            </a:extLst>
          </p:cNvPr>
          <p:cNvSpPr txBox="1"/>
          <p:nvPr/>
        </p:nvSpPr>
        <p:spPr>
          <a:xfrm>
            <a:off x="1277781" y="2270626"/>
            <a:ext cx="5958302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fr-FR"/>
              <a:t>Microsoft et Intel en difficultés financières</a:t>
            </a:r>
          </a:p>
          <a:p>
            <a:pPr marL="285750" indent="-285750">
              <a:buFont typeface="Calibri"/>
              <a:buChar char="-"/>
            </a:pPr>
            <a:endParaRPr lang="fr-FR"/>
          </a:p>
          <a:p>
            <a:pPr marL="285750" indent="-285750">
              <a:buFont typeface="Calibri"/>
              <a:buChar char="-"/>
            </a:pPr>
            <a:r>
              <a:rPr lang="fr-FR"/>
              <a:t>Baisse des prix et augmentation du rapport qualité/prix</a:t>
            </a:r>
          </a:p>
          <a:p>
            <a:pPr marL="285750" indent="-285750">
              <a:buFont typeface="Calibri"/>
              <a:buChar char="-"/>
            </a:pPr>
            <a:endParaRPr lang="fr-FR"/>
          </a:p>
          <a:p>
            <a:pPr marL="285750" indent="-285750">
              <a:buFont typeface="Calibri"/>
              <a:buChar char="-"/>
            </a:pPr>
            <a:r>
              <a:rPr lang="fr-FR"/>
              <a:t>Stratégie axée sur le pack réseau avec de grand rendement de marge</a:t>
            </a:r>
          </a:p>
          <a:p>
            <a:endParaRPr lang="fr-FR"/>
          </a:p>
        </p:txBody>
      </p:sp>
      <p:sp>
        <p:nvSpPr>
          <p:cNvPr id="9" name="TextBox 13">
            <a:extLst>
              <a:ext uri="{FF2B5EF4-FFF2-40B4-BE49-F238E27FC236}">
                <a16:creationId xmlns:a16="http://schemas.microsoft.com/office/drawing/2014/main" id="{14643CAB-B494-0912-E60F-C94E2393E40C}"/>
              </a:ext>
            </a:extLst>
          </p:cNvPr>
          <p:cNvSpPr txBox="1"/>
          <p:nvPr/>
        </p:nvSpPr>
        <p:spPr>
          <a:xfrm>
            <a:off x="7071146" y="1294843"/>
            <a:ext cx="4582026" cy="30777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/>
                <a:ea typeface="Calibri"/>
                <a:cs typeface="Calibri"/>
              </a:rPr>
              <a:t>Analyse du cycle 7 (</a:t>
            </a:r>
            <a:r>
              <a:rPr lang="en-US" sz="1400" err="1">
                <a:latin typeface="Calibri"/>
                <a:ea typeface="Calibri"/>
                <a:cs typeface="Calibri"/>
              </a:rPr>
              <a:t>en</a:t>
            </a:r>
            <a:r>
              <a:rPr lang="en-US" sz="1400">
                <a:latin typeface="Calibri"/>
                <a:ea typeface="Calibri"/>
                <a:cs typeface="Calibri"/>
              </a:rPr>
              <a:t> euros)</a:t>
            </a:r>
          </a:p>
        </p:txBody>
      </p:sp>
    </p:spTree>
    <p:extLst>
      <p:ext uri="{BB962C8B-B14F-4D97-AF65-F5344CB8AC3E}">
        <p14:creationId xmlns:p14="http://schemas.microsoft.com/office/powerpoint/2010/main" val="21925552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space réservé du contenu 5" descr="Une image contenant texte, capture d’écran, nombre, Tracé&#10;&#10;Le contenu généré par l’IA peut être incorrect.">
            <a:extLst>
              <a:ext uri="{FF2B5EF4-FFF2-40B4-BE49-F238E27FC236}">
                <a16:creationId xmlns:a16="http://schemas.microsoft.com/office/drawing/2014/main" id="{16EF4180-2228-2962-7EFF-371C43E7FB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62739" y="1307648"/>
            <a:ext cx="4528855" cy="2710262"/>
          </a:xfr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D896518-02FA-9573-F7D2-0BCAAFF8D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Maxence ABRIC-SEGARRA, Agathe DUBOIS, Laurine GAUTIER,  Victor MORVAN ​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E5F115E-CD32-F0C3-4AAA-E78403EF0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11</a:t>
            </a:fld>
            <a:endParaRPr lang="fr-FR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14B4C83C-310C-8246-0B5E-4A43DD096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467"/>
            <a:ext cx="10515600" cy="1325563"/>
          </a:xfrm>
        </p:spPr>
        <p:txBody>
          <a:bodyPr/>
          <a:lstStyle/>
          <a:p>
            <a:pPr algn="ctr"/>
            <a:r>
              <a:rPr lang="en-US"/>
              <a:t>Analyse par cycle </a:t>
            </a:r>
          </a:p>
        </p:txBody>
      </p:sp>
      <p:pic>
        <p:nvPicPr>
          <p:cNvPr id="11" name="Image 8" descr="Fichier:IUT VANNES LOGO-2020 .jpg — Wikipédia">
            <a:extLst>
              <a:ext uri="{FF2B5EF4-FFF2-40B4-BE49-F238E27FC236}">
                <a16:creationId xmlns:a16="http://schemas.microsoft.com/office/drawing/2014/main" id="{B106E2D7-FE0D-0EB0-B6CE-FB0B7E3278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72875"/>
            <a:ext cx="1009880" cy="682876"/>
          </a:xfrm>
          <a:prstGeom prst="rect">
            <a:avLst/>
          </a:prstGeom>
        </p:spPr>
      </p:pic>
      <p:sp>
        <p:nvSpPr>
          <p:cNvPr id="12" name="ZoneTexte 3">
            <a:extLst>
              <a:ext uri="{FF2B5EF4-FFF2-40B4-BE49-F238E27FC236}">
                <a16:creationId xmlns:a16="http://schemas.microsoft.com/office/drawing/2014/main" id="{55EA94F1-EF2E-4DD9-0E73-B1227C80D966}"/>
              </a:ext>
            </a:extLst>
          </p:cNvPr>
          <p:cNvSpPr txBox="1"/>
          <p:nvPr/>
        </p:nvSpPr>
        <p:spPr>
          <a:xfrm>
            <a:off x="4256066" y="151977"/>
            <a:ext cx="3026633" cy="21544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fr-FR"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800">
                <a:solidFill>
                  <a:schemeClr val="accent2"/>
                </a:solidFill>
              </a:rPr>
              <a:t>Présentation de l'entreprise</a:t>
            </a:r>
            <a:r>
              <a:rPr lang="en-US" sz="800">
                <a:solidFill>
                  <a:schemeClr val="accent2"/>
                </a:solidFill>
              </a:rPr>
              <a:t>​</a:t>
            </a:r>
            <a:r>
              <a:rPr lang="en-US" sz="800">
                <a:solidFill>
                  <a:schemeClr val="tx1"/>
                </a:solidFill>
              </a:rPr>
              <a:t> |</a:t>
            </a:r>
            <a:r>
              <a:rPr lang="en-US" sz="800">
                <a:solidFill>
                  <a:srgbClr val="E75114"/>
                </a:solidFill>
              </a:rPr>
              <a:t> </a:t>
            </a:r>
            <a:r>
              <a:rPr lang="en-US" sz="800" err="1">
                <a:solidFill>
                  <a:schemeClr val="tx1"/>
                </a:solidFill>
              </a:rPr>
              <a:t>Analyse</a:t>
            </a:r>
            <a:r>
              <a:rPr lang="en-US" sz="800">
                <a:solidFill>
                  <a:schemeClr val="tx1"/>
                </a:solidFill>
              </a:rPr>
              <a:t> par cycle</a:t>
            </a:r>
            <a:r>
              <a:rPr lang="fr-FR" sz="800">
                <a:solidFill>
                  <a:schemeClr val="tx1"/>
                </a:solidFill>
              </a:rPr>
              <a:t>​</a:t>
            </a:r>
            <a:r>
              <a:rPr lang="fr-FR" sz="800">
                <a:solidFill>
                  <a:srgbClr val="E75114"/>
                </a:solidFill>
              </a:rPr>
              <a:t> </a:t>
            </a:r>
            <a:r>
              <a:rPr lang="fr-FR" sz="800">
                <a:solidFill>
                  <a:schemeClr val="tx1"/>
                </a:solidFill>
              </a:rPr>
              <a:t>|</a:t>
            </a:r>
            <a:r>
              <a:rPr lang="fr-FR" sz="800">
                <a:solidFill>
                  <a:srgbClr val="E75114"/>
                </a:solidFill>
              </a:rPr>
              <a:t> Conclusion</a:t>
            </a: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E7D86504-05E5-0412-6590-84004C657709}"/>
              </a:ext>
            </a:extLst>
          </p:cNvPr>
          <p:cNvSpPr txBox="1"/>
          <p:nvPr/>
        </p:nvSpPr>
        <p:spPr>
          <a:xfrm>
            <a:off x="661737" y="1443789"/>
            <a:ext cx="299786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latin typeface="Calibri"/>
                <a:ea typeface="Calibri"/>
                <a:cs typeface="Calibri"/>
              </a:rPr>
              <a:t>Cycle 8</a:t>
            </a:r>
            <a:endParaRPr lang="fr-FR"/>
          </a:p>
        </p:txBody>
      </p:sp>
      <p:sp>
        <p:nvSpPr>
          <p:cNvPr id="14" name="ZoneTexte 12">
            <a:extLst>
              <a:ext uri="{FF2B5EF4-FFF2-40B4-BE49-F238E27FC236}">
                <a16:creationId xmlns:a16="http://schemas.microsoft.com/office/drawing/2014/main" id="{789AEF64-9A0B-3C76-70B7-5BF78A5CA367}"/>
              </a:ext>
            </a:extLst>
          </p:cNvPr>
          <p:cNvSpPr txBox="1"/>
          <p:nvPr/>
        </p:nvSpPr>
        <p:spPr>
          <a:xfrm>
            <a:off x="1008840" y="1968067"/>
            <a:ext cx="5958302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fr-FR"/>
              <a:t>Retour de la situation actuelle reprise du nombre de prestations du cycle 6</a:t>
            </a:r>
          </a:p>
          <a:p>
            <a:pPr marL="285750" indent="-285750">
              <a:buFont typeface="Calibri"/>
              <a:buChar char="-"/>
            </a:pPr>
            <a:endParaRPr lang="fr-FR"/>
          </a:p>
          <a:p>
            <a:pPr marL="285750" indent="-285750">
              <a:buFont typeface="Calibri"/>
              <a:buChar char="-"/>
            </a:pPr>
            <a:r>
              <a:rPr lang="fr-FR"/>
              <a:t>Recrutement de 3 salariés et achat de deux stations de travail</a:t>
            </a:r>
          </a:p>
          <a:p>
            <a:pPr marL="285750" indent="-285750">
              <a:buFont typeface="Calibri"/>
              <a:buChar char="-"/>
            </a:pPr>
            <a:endParaRPr lang="fr-FR"/>
          </a:p>
          <a:p>
            <a:pPr marL="285750" indent="-285750">
              <a:buFont typeface="Calibri"/>
              <a:buChar char="-"/>
            </a:pPr>
            <a:r>
              <a:rPr lang="fr-FR"/>
              <a:t>Maintien de la stratégie axée sur le pack réseau avec de grand rendement de marge</a:t>
            </a:r>
          </a:p>
          <a:p>
            <a:endParaRPr lang="fr-FR"/>
          </a:p>
        </p:txBody>
      </p:sp>
      <p:pic>
        <p:nvPicPr>
          <p:cNvPr id="9" name="Image 8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EA2FF763-02D8-3B25-103E-3131B6C35B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0349" y="4280200"/>
            <a:ext cx="4372490" cy="1592735"/>
          </a:xfrm>
          <a:prstGeom prst="rect">
            <a:avLst/>
          </a:prstGeom>
        </p:spPr>
      </p:pic>
      <p:pic>
        <p:nvPicPr>
          <p:cNvPr id="13" name="Image 12" descr="Une image contenant texte, logo, symbol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63887FB8-6D18-7B22-1D71-5B6237BA89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8718" y="4020836"/>
            <a:ext cx="1754403" cy="1864327"/>
          </a:xfrm>
          <a:prstGeom prst="rect">
            <a:avLst/>
          </a:prstGeom>
        </p:spPr>
      </p:pic>
      <p:sp>
        <p:nvSpPr>
          <p:cNvPr id="15" name="TextBox 13">
            <a:extLst>
              <a:ext uri="{FF2B5EF4-FFF2-40B4-BE49-F238E27FC236}">
                <a16:creationId xmlns:a16="http://schemas.microsoft.com/office/drawing/2014/main" id="{90CED7E9-CBB1-8B88-6E7A-CC3262F872C9}"/>
              </a:ext>
            </a:extLst>
          </p:cNvPr>
          <p:cNvSpPr txBox="1"/>
          <p:nvPr/>
        </p:nvSpPr>
        <p:spPr>
          <a:xfrm>
            <a:off x="7665058" y="1003490"/>
            <a:ext cx="4582026" cy="30777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/>
                <a:ea typeface="Calibri"/>
                <a:cs typeface="Calibri"/>
              </a:rPr>
              <a:t>Analyse du cycle 8  (</a:t>
            </a:r>
            <a:r>
              <a:rPr lang="en-US" sz="1400" err="1">
                <a:latin typeface="Calibri"/>
                <a:ea typeface="Calibri"/>
                <a:cs typeface="Calibri"/>
              </a:rPr>
              <a:t>en</a:t>
            </a:r>
            <a:r>
              <a:rPr lang="en-US" sz="1400">
                <a:latin typeface="Calibri"/>
                <a:ea typeface="Calibri"/>
                <a:cs typeface="Calibri"/>
              </a:rPr>
              <a:t> euros)</a:t>
            </a:r>
          </a:p>
        </p:txBody>
      </p:sp>
    </p:spTree>
    <p:extLst>
      <p:ext uri="{BB962C8B-B14F-4D97-AF65-F5344CB8AC3E}">
        <p14:creationId xmlns:p14="http://schemas.microsoft.com/office/powerpoint/2010/main" val="1553026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space réservé du contenu 5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2509F981-D7EF-5FE5-9760-0906F3A766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2798" y="2640731"/>
            <a:ext cx="9205232" cy="3311978"/>
          </a:xfr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4577EB6-EFD5-EB70-DDCD-661250E03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Maxence ABRIC-SEGARRA, Agathe DUBOIS, Laurine GAUTIER,  Victor MORVAN ​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6FD64B3-07D9-FCE4-9AB3-57F6A77C1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12</a:t>
            </a:fld>
            <a:endParaRPr lang="fr-FR"/>
          </a:p>
        </p:txBody>
      </p:sp>
      <p:pic>
        <p:nvPicPr>
          <p:cNvPr id="9" name="Image 8" descr="Fichier:IUT VANNES LOGO-2020 .jpg — Wikipédia">
            <a:extLst>
              <a:ext uri="{FF2B5EF4-FFF2-40B4-BE49-F238E27FC236}">
                <a16:creationId xmlns:a16="http://schemas.microsoft.com/office/drawing/2014/main" id="{88623D6E-0DE7-12B5-9E96-EC0C382D6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72875"/>
            <a:ext cx="1009880" cy="682876"/>
          </a:xfrm>
          <a:prstGeom prst="rect">
            <a:avLst/>
          </a:prstGeom>
        </p:spPr>
      </p:pic>
      <p:sp>
        <p:nvSpPr>
          <p:cNvPr id="11" name="ZoneTexte 3">
            <a:extLst>
              <a:ext uri="{FF2B5EF4-FFF2-40B4-BE49-F238E27FC236}">
                <a16:creationId xmlns:a16="http://schemas.microsoft.com/office/drawing/2014/main" id="{9D848268-743B-D270-0D99-AC34AA737D3D}"/>
              </a:ext>
            </a:extLst>
          </p:cNvPr>
          <p:cNvSpPr txBox="1"/>
          <p:nvPr/>
        </p:nvSpPr>
        <p:spPr>
          <a:xfrm>
            <a:off x="4256066" y="151977"/>
            <a:ext cx="3026633" cy="21544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fr-FR"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800">
                <a:solidFill>
                  <a:schemeClr val="accent2"/>
                </a:solidFill>
              </a:rPr>
              <a:t>Présentation de l'entreprise</a:t>
            </a:r>
            <a:r>
              <a:rPr lang="en-US" sz="800">
                <a:solidFill>
                  <a:schemeClr val="accent2"/>
                </a:solidFill>
              </a:rPr>
              <a:t>​</a:t>
            </a:r>
            <a:r>
              <a:rPr lang="en-US" sz="800">
                <a:solidFill>
                  <a:schemeClr val="tx1"/>
                </a:solidFill>
              </a:rPr>
              <a:t> |</a:t>
            </a:r>
            <a:r>
              <a:rPr lang="en-US" sz="800">
                <a:solidFill>
                  <a:srgbClr val="E75114"/>
                </a:solidFill>
              </a:rPr>
              <a:t> </a:t>
            </a:r>
            <a:r>
              <a:rPr lang="en-US" sz="800" err="1">
                <a:solidFill>
                  <a:schemeClr val="accent2"/>
                </a:solidFill>
              </a:rPr>
              <a:t>Analyse</a:t>
            </a:r>
            <a:r>
              <a:rPr lang="en-US" sz="800">
                <a:solidFill>
                  <a:schemeClr val="accent2"/>
                </a:solidFill>
              </a:rPr>
              <a:t> </a:t>
            </a:r>
            <a:r>
              <a:rPr lang="en-GB" sz="800">
                <a:solidFill>
                  <a:srgbClr val="E75114"/>
                </a:solidFill>
              </a:rPr>
              <a:t>par</a:t>
            </a:r>
            <a:r>
              <a:rPr lang="en-US" sz="800">
                <a:solidFill>
                  <a:schemeClr val="accent2"/>
                </a:solidFill>
              </a:rPr>
              <a:t> cycle</a:t>
            </a:r>
            <a:r>
              <a:rPr lang="fr-FR" sz="800">
                <a:solidFill>
                  <a:schemeClr val="accent2"/>
                </a:solidFill>
              </a:rPr>
              <a:t>​ </a:t>
            </a:r>
            <a:r>
              <a:rPr lang="fr-FR" sz="800">
                <a:solidFill>
                  <a:schemeClr val="tx1"/>
                </a:solidFill>
              </a:rPr>
              <a:t>|</a:t>
            </a:r>
            <a:r>
              <a:rPr lang="fr-FR" sz="800">
                <a:solidFill>
                  <a:srgbClr val="E75114"/>
                </a:solidFill>
              </a:rPr>
              <a:t> </a:t>
            </a:r>
            <a:r>
              <a:rPr lang="fr-FR" sz="800">
                <a:solidFill>
                  <a:schemeClr val="tx1"/>
                </a:solidFill>
              </a:rPr>
              <a:t>Conclusion</a:t>
            </a:r>
          </a:p>
        </p:txBody>
      </p:sp>
      <p:sp>
        <p:nvSpPr>
          <p:cNvPr id="13" name="Titre 1">
            <a:extLst>
              <a:ext uri="{FF2B5EF4-FFF2-40B4-BE49-F238E27FC236}">
                <a16:creationId xmlns:a16="http://schemas.microsoft.com/office/drawing/2014/main" id="{A619797A-440E-9AAD-509D-FFE3C73FD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617" y="1416217"/>
            <a:ext cx="10515600" cy="1325563"/>
          </a:xfrm>
        </p:spPr>
        <p:txBody>
          <a:bodyPr/>
          <a:lstStyle/>
          <a:p>
            <a:pPr algn="ctr"/>
            <a:r>
              <a:rPr lang="fr-FR" sz="2800">
                <a:latin typeface="Calibri"/>
                <a:ea typeface="Calibri"/>
                <a:cs typeface="Calibri"/>
              </a:rPr>
              <a:t>Bilan de nos résultats et retour sur notre stratégie de départ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sp>
        <p:nvSpPr>
          <p:cNvPr id="15" name="Titre 1">
            <a:extLst>
              <a:ext uri="{FF2B5EF4-FFF2-40B4-BE49-F238E27FC236}">
                <a16:creationId xmlns:a16="http://schemas.microsoft.com/office/drawing/2014/main" id="{B35E6362-6EDE-3E96-FDA9-BEC68CA0BF43}"/>
              </a:ext>
            </a:extLst>
          </p:cNvPr>
          <p:cNvSpPr txBox="1">
            <a:spLocks/>
          </p:cNvSpPr>
          <p:nvPr/>
        </p:nvSpPr>
        <p:spPr>
          <a:xfrm>
            <a:off x="838200" y="11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8085876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space réservé du contenu 5" descr="Une image contenant texte, capture d’écran, diagramme, nombre&#10;&#10;Le contenu généré par l’IA peut être incorrect.">
            <a:extLst>
              <a:ext uri="{FF2B5EF4-FFF2-40B4-BE49-F238E27FC236}">
                <a16:creationId xmlns:a16="http://schemas.microsoft.com/office/drawing/2014/main" id="{F95995F3-0976-C634-1243-B478FD51A4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4998" y="1709411"/>
            <a:ext cx="10502152" cy="3900207"/>
          </a:xfr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F5A31B6-CF0C-9D71-958A-74B3DE298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Maxence ABRIC-SEGARRA, Agathe DUBOIS, Laurine GAUTIER,  Victor MORVAN ​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3DF35DE-D303-0789-A6A4-4F2F4E8D9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13</a:t>
            </a:fld>
            <a:endParaRPr lang="fr-FR"/>
          </a:p>
        </p:txBody>
      </p:sp>
      <p:sp>
        <p:nvSpPr>
          <p:cNvPr id="7" name="ZoneTexte 3">
            <a:extLst>
              <a:ext uri="{FF2B5EF4-FFF2-40B4-BE49-F238E27FC236}">
                <a16:creationId xmlns:a16="http://schemas.microsoft.com/office/drawing/2014/main" id="{3A7BEC25-AD50-8C14-0C11-99BFA19C89EF}"/>
              </a:ext>
            </a:extLst>
          </p:cNvPr>
          <p:cNvSpPr txBox="1"/>
          <p:nvPr/>
        </p:nvSpPr>
        <p:spPr>
          <a:xfrm>
            <a:off x="4256066" y="151977"/>
            <a:ext cx="3026633" cy="21544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800">
                <a:solidFill>
                  <a:schemeClr val="accent2"/>
                </a:solidFill>
              </a:rPr>
              <a:t>Présentation de l'entreprise</a:t>
            </a:r>
            <a:r>
              <a:rPr lang="en-US" sz="800">
                <a:solidFill>
                  <a:schemeClr val="accent2"/>
                </a:solidFill>
              </a:rPr>
              <a:t>​</a:t>
            </a:r>
            <a:r>
              <a:rPr lang="en-US" sz="800">
                <a:solidFill>
                  <a:schemeClr val="tx1"/>
                </a:solidFill>
              </a:rPr>
              <a:t> |</a:t>
            </a:r>
            <a:r>
              <a:rPr lang="en-US" sz="800">
                <a:solidFill>
                  <a:srgbClr val="E75114"/>
                </a:solidFill>
              </a:rPr>
              <a:t> Analyse </a:t>
            </a:r>
            <a:r>
              <a:rPr lang="en-GB" sz="800">
                <a:solidFill>
                  <a:srgbClr val="E75114"/>
                </a:solidFill>
              </a:rPr>
              <a:t>par</a:t>
            </a:r>
            <a:r>
              <a:rPr lang="en-US" sz="800">
                <a:solidFill>
                  <a:srgbClr val="E75114"/>
                </a:solidFill>
              </a:rPr>
              <a:t> cycles</a:t>
            </a:r>
            <a:r>
              <a:rPr lang="fr-FR" sz="800">
                <a:solidFill>
                  <a:srgbClr val="E75114"/>
                </a:solidFill>
              </a:rPr>
              <a:t>​ </a:t>
            </a:r>
            <a:r>
              <a:rPr lang="fr-FR" sz="800">
                <a:solidFill>
                  <a:schemeClr val="tx1"/>
                </a:solidFill>
              </a:rPr>
              <a:t>|</a:t>
            </a:r>
            <a:r>
              <a:rPr lang="fr-FR" sz="800">
                <a:solidFill>
                  <a:srgbClr val="E75114"/>
                </a:solidFill>
              </a:rPr>
              <a:t> </a:t>
            </a:r>
            <a:r>
              <a:rPr lang="fr-FR" sz="800">
                <a:solidFill>
                  <a:schemeClr val="tx1"/>
                </a:solidFill>
              </a:rPr>
              <a:t>Conclusion</a:t>
            </a:r>
            <a:endParaRPr lang="en-US">
              <a:solidFill>
                <a:schemeClr val="tx1"/>
              </a:solidFill>
            </a:endParaRPr>
          </a:p>
        </p:txBody>
      </p:sp>
      <p:pic>
        <p:nvPicPr>
          <p:cNvPr id="9" name="Image 8" descr="Fichier:IUT VANNES LOGO-2020 .jpg — Wikipédia">
            <a:extLst>
              <a:ext uri="{FF2B5EF4-FFF2-40B4-BE49-F238E27FC236}">
                <a16:creationId xmlns:a16="http://schemas.microsoft.com/office/drawing/2014/main" id="{BE0BC39E-0C45-090B-709D-B935A053A0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72875"/>
            <a:ext cx="1009880" cy="682876"/>
          </a:xfrm>
          <a:prstGeom prst="rect">
            <a:avLst/>
          </a:prstGeom>
        </p:spPr>
      </p:pic>
      <p:sp>
        <p:nvSpPr>
          <p:cNvPr id="11" name="Titre 1">
            <a:extLst>
              <a:ext uri="{FF2B5EF4-FFF2-40B4-BE49-F238E27FC236}">
                <a16:creationId xmlns:a16="http://schemas.microsoft.com/office/drawing/2014/main" id="{D68DE2E9-65C1-65A0-27BE-EC41B0D64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8884"/>
            <a:ext cx="10515600" cy="1325563"/>
          </a:xfrm>
        </p:spPr>
        <p:txBody>
          <a:bodyPr/>
          <a:lstStyle/>
          <a:p>
            <a:pPr algn="ctr"/>
            <a:r>
              <a:rPr lang="fr-FR" sz="2800">
                <a:latin typeface="Aptos"/>
              </a:rPr>
              <a:t>Bilan de nos résultats et retour sur notre stratégie de départ</a:t>
            </a:r>
            <a:endParaRPr lang="en-US"/>
          </a:p>
        </p:txBody>
      </p:sp>
      <p:sp>
        <p:nvSpPr>
          <p:cNvPr id="13" name="Titre 1">
            <a:extLst>
              <a:ext uri="{FF2B5EF4-FFF2-40B4-BE49-F238E27FC236}">
                <a16:creationId xmlns:a16="http://schemas.microsoft.com/office/drawing/2014/main" id="{CD3AE08F-8165-A557-4B61-E2BBBF0E0B92}"/>
              </a:ext>
            </a:extLst>
          </p:cNvPr>
          <p:cNvSpPr txBox="1">
            <a:spLocks/>
          </p:cNvSpPr>
          <p:nvPr/>
        </p:nvSpPr>
        <p:spPr>
          <a:xfrm>
            <a:off x="838200" y="11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/>
              <a:t>Conclusion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010630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707</Words>
  <Application>Microsoft Office PowerPoint</Application>
  <PresentationFormat>Grand écran</PresentationFormat>
  <Paragraphs>123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20" baseType="lpstr">
      <vt:lpstr>Aptos</vt:lpstr>
      <vt:lpstr>Aptos Display</vt:lpstr>
      <vt:lpstr>Arial</vt:lpstr>
      <vt:lpstr>Bell MT</vt:lpstr>
      <vt:lpstr>Calibri</vt:lpstr>
      <vt:lpstr>Calibri,Sans-Serif</vt:lpstr>
      <vt:lpstr>Thème Office</vt:lpstr>
      <vt:lpstr>SAE 2.05 : TERSTRAT</vt:lpstr>
      <vt:lpstr>SOMMAIRE</vt:lpstr>
      <vt:lpstr>Présentation de l'entreprise</vt:lpstr>
      <vt:lpstr>Analyse par cycle </vt:lpstr>
      <vt:lpstr>Analyse par cycle </vt:lpstr>
      <vt:lpstr>Analyse par cycle  </vt:lpstr>
      <vt:lpstr>Analyse par cycle  </vt:lpstr>
      <vt:lpstr>Analyse par cycle </vt:lpstr>
      <vt:lpstr>Analyse par cycle </vt:lpstr>
      <vt:lpstr>Analyse par cycle </vt:lpstr>
      <vt:lpstr>Analyse par cycle </vt:lpstr>
      <vt:lpstr>Bilan de nos résultats et retour sur notre stratégie de départ</vt:lpstr>
      <vt:lpstr>Bilan de nos résultats et retour sur notre stratégie de départ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Maxence Abric-Segarra</dc:creator>
  <cp:lastModifiedBy>Maxence Abric--Segarra</cp:lastModifiedBy>
  <cp:revision>3</cp:revision>
  <dcterms:created xsi:type="dcterms:W3CDTF">2025-03-25T10:56:22Z</dcterms:created>
  <dcterms:modified xsi:type="dcterms:W3CDTF">2025-06-01T16:37:02Z</dcterms:modified>
</cp:coreProperties>
</file>