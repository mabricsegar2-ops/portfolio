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61" r:id="rId3"/>
    <p:sldId id="262" r:id="rId4"/>
    <p:sldId id="266" r:id="rId5"/>
    <p:sldId id="258" r:id="rId6"/>
    <p:sldId id="264" r:id="rId7"/>
    <p:sldId id="263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4168FB-1136-DC47-AD3D-706AD5B230F6}" v="85" vWet="85" dt="2024-11-15T16:27:54.419"/>
    <p1510:client id="{6884DDDE-44CD-39F6-FD0B-420D8AB7E2DF}" v="2766" dt="2024-11-15T16:27:58.428"/>
    <p1510:client id="{FB1796B3-C8ED-4B3A-A9DB-134DB5DC8C5F}" v="12" dt="2024-11-15T16:36:59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0B874C00-2D5E-B5F1-E230-B2CEB0434F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657EAF1-485F-2DA4-5CFD-42CBC6B602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84124-DEA2-479D-B839-B591C628012B}" type="datetimeFigureOut">
              <a:rPr lang="fr-FR" smtClean="0"/>
              <a:t>15/11/2024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1E0BBB8-ED0F-02AB-4B42-5BF7F55098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4B653F1-316C-5BD9-CB3E-08BBE6F202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508A3-5018-44BC-844F-2D42BC19D7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27074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1:07:50.6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 24575,'98'0'0,"0"0"0,0 0 0,1 0 0,-1 0 0,0-1 0,-8 0 0,-1 0 0,-1 1 0,1 1 0,-1 0 0,1-1 0,0 1 0,-1-1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1:07:53.4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 24575,'47'0'0,"9"0"0,7 0 0,-8 0 0,12 0 0,-2 0 0,9 0 0,7 0 0,-18 0 0,-12 0 0,0 0 0,20 0 0,-18 0 0,-1 0 0,20 0 0,-1 0 0,10 0 0,3 0 0,-1 0 0,8 0 0,-17 0 0,8 0 0,-11 0 0,-9 0 0,7 0 0,-15 0 0,-1 0 0,-3 6 0,-6-5 0,8 5 0,-8-1 0,6-3 0,-6 3 0,7-5 0,-6 0 0,4 5 0,-5-3 0,1 4 0,4-6 0,-12 0 0,5 0 0,0 0 0,-5 0 0,-1 0 0,-3 0 0,-11 0 0,5 0 0,-7 0 0,-4 0 0,-2 0 0,-5 0 0,-1 0 0,5 0 0,-4 0 0,8 0 0,4 0 0,15 0 0,8 0 0,8 0 0,8 0 0,-6 0 0,15 0 0,-6-7 0,-1 0 0,-1-1 0,-10 2 0,-6 1 0,-3 4 0,-7-4 0,-7 5 0,5 0 0,-11 0 0,11 0 0,-11 0 0,11 0 0,-10 0 0,3 0 0,1 0 0,-5 0 0,5 0 0,-7 4 0,1-2 0,6 7 0,-5-3 0,4 0 0,-5 3 0,-1-3 0,7 5 0,-5-5 0,11 4 0,-11-4 0,11 5 0,-11 0 0,5-5 0,0 4 0,-5-4 0,5 0 0,0-2 0,-5 1 0,5-4 0,-7 4 0,7-5 0,-5 0 0,5 0 0,-7 4 0,7-3 0,-5 4 0,5-5 0,-7 0 0,1 0 0,-1 0 0,-5 0 0,5 0 0,-10 0 0,9 0 0,-9 0 0,4 0 0,0 0 0,1 0 0,1 0 0,-2 0 0,0 0 0,-4 4 0,9-3 0,-9 3 0,9-4 0,-9 0 0,10 0 0,-10 4 0,9-3 0,-4 3 0,6-4 0,-1 4 0,1-3 0,-1 4 0,1-5 0,5 0 0,-9 4 0,9-3 0,-16 3 0,4-4 0,-5 0 0,0 0 0,0 0 0,8 0 0,-1 0 0,9 0 0,1 0 0,-4 0 0,11 0 0,-11 0 0,0 0 0,-3 0 0,-9 0 0,4 0 0,-5 0 0,0 0 0,4 0 0,-3 0 0,7 4 0,-7-3 0,10 4 0,-10-5 0,4 0 0,-5 0 0,0 0 0,-1 0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1:07:55.1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24575,'41'0'0,"3"0"0,-16 0 0,7 0 0,-1 0 0,1 0 0,0 0 0,-7 0 0,5 0 0,-4 0 0,-1 0 0,-1 0 0,-12 0 0,-1 0 0,-5 0 0,0 0 0,0 0 0,0 0 0,3 0 0,3 0 0,10 0 0,11 0 0,1 0 0,12 0 0,-5 0 0,8 0 0,-8 0 0,-1 0 0,-15 0 0,-1 0 0,-12 0 0,-1 0 0,-5 0 0,0 0 0,3 0 0,2 0 0,19 0 0,-3 0 0,20 6 0,-6-5 0,8 5 0,0 0 0,8-5 0,-6 5 0,6-6 0,-15 5 0,4-4 0,-4 4 0,6-5 0,1 6 0,0-4 0,-1 9 0,1-4 0,0 0 0,-1 5 0,-7-11 0,6 11 0,-13-6 0,13 1 0,-6 4 0,0-4 0,6 0 0,-6 4 0,7-4 0,-7 0 0,6 4 0,-6-9 0,0 9 0,6-10 0,-14 9 0,14-8 0,-13 3 0,5 0 0,-7-4 0,7 10 0,-5-9 0,5 3 0,0 1 0,-5-5 0,5 5 0,-7-1 0,0-3 0,-1 3 0,1-5 0,0 0 0,-1 5 0,9-4 0,-7 4 0,14-5 0,3 0 0,1 6 0,6-4 0,-8 3 0,0-5 0,-1 0 0,1 0 0,0 0 0,-1 0 0,-6 0 0,4 0 0,-12 0 0,13 6 0,-13-5 0,5 5 0,0-6 0,-5 5 0,5-3 0,-7 8 0,-1-9 0,1 4 0,-12-1 0,3-3 0,-16 3 0,4 0 0,-5-3 0,0 3 0,0-4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1:07:59.2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24575,'50'0'0,"5"0"0,-2 0 0,10 0 0,-1 0 0,8 0 0,-17 0 0,27 0 0,-32 0 0,30 0 0,-32 0 0,15 0 0,-1 0 0,-6 0 0,6 0 0,0 0 0,-6 6 0,15-4 0,-6 10 0,0-11 0,-3 6 0,0-7 0,-6 5 0,-1-3 0,-3 4 0,-14-6 0,29 0 0,-24 0 0,17 0 0,-24 0 0,1 0 0,0 0 0,0 0 0,-1 5 0,8-4 0,-5 4 0,5-5 0,-7 0 0,7 0 0,-5 0 0,13 0 0,-6 0 0,7 0 0,1 6 0,0-5 0,0 5 0,-1-6 0,1 0 0,-8 5 0,6-4 0,-13 5 0,12-6 0,-12 0 0,5 0 0,-7 5 0,0-4 0,-1 4 0,1-5 0,7 6 0,-5-5 0,5 5 0,1 0 0,-7-5 0,14 5 0,-13-6 0,12 6 0,-4-5 0,-1 5 0,6-6 0,-14 0 0,6 5 0,1-4 0,-7 5 0,7-6 0,-9 0 0,1 5 0,-7-4 0,6 4 0,-6 0 0,7-3 0,-7 3 0,5-5 0,-5 0 0,15 5 0,-7-3 0,7 4 0,-1-6 0,2 0 0,0 0 0,6 5 0,-6-3 0,0 4 0,6-6 0,-13 5 0,12-4 0,-12 4 0,5-5 0,1 6 0,-7-5 0,7 5 0,-9-6 0,9 0 0,-7 0 0,6 5 0,-7-4 0,0 5 0,-1-6 0,1 0 0,-7 0 0,-6 0 0,-3 0 0,-9 0 0,4 0 0,-5 0 0,0 4 0,0-3 0,0 2 0,20-3 0,4 0 0,13 0 0,3 0 0,-5 0 0,8 0 0,-1 0 0,-7 0 0,-1 0 0,-9 0 0,-5 0 0,4 0 0,-11 0 0,11 0 0,-11 0 0,11 0 0,-5 0 0,1 0 0,4 0 0,-11 0 0,5 0 0,-7 0 0,7 0 0,-5 0 0,5 0 0,-1 0 0,-4 0 0,5 0 0,-7 0 0,7 0 0,-10 0 0,9 0 0,-16 0 0,4 0 0,-5 0 0,0 0 0,-1 0 0,1 0 0,0 0 0,5 0 0,-4 0 0,9 0 0,-3 5 0,4-4 0,1 4 0,-6-5 0,-1 0 0,-5 0 0,0 0 0,0 0 0,3 0 0,-2 0 0,8 0 0,-8 0 0,4 0 0,-5 0 0,0 0 0,-1 0 0,1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1:08:01.6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0 174 24575,'55'0'0,"3"0"0,-2 0 0,-5 0 0,-2 0 0,-8 0 0,49 0 0,-43 0 0,15 0 0,1 0 0,16 0 0,-22 0 0,22 0 0,-17 0 0,1 0 0,6 0 0,-15 0 0,6 0 0,-8 0 0,-15 0 0,11 0 0,-17 0 0,10 0 0,-6 0 0,-7 0 0,5 0 0,-11 0 0,12 0 0,-12 0 0,4 0 0,-5 0 0,5 0 0,-4 0 0,12 0 0,-12 0 0,11 0 0,-11 0 0,11 0 0,-5 0 0,1 0 0,4 0 0,-5-11 0,7 9 0,-1-9 0,1 11 0,0 0 0,-1 0 0,1 0 0,0 0 0,-7 0 0,5 0 0,-11 0 0,5 0 0,-6 0 0,5-5 0,-3 4 0,3-4 0,-5 5 0,6 0 0,-5 0 0,4 0 0,1-5 0,-5 3 0,5-3 0,-12 5 0,4 0 0,-9 0 0,4 0 0,-5 0 0,0 0 0,4-4 0,1 3 0,12-3 0,2 4 0,7 0 0,-1-5 0,1 4 0,-1-4 0,1 5 0,-7-5 0,5 4 0,-4-3 0,-1 4 0,-1 0 0,0 0 0,-5 0 0,4 0 0,-10 0 0,3 0 0,-4 0 0,6-5 0,-1 4 0,1-3 0,-1-1 0,0 4 0,7-4 0,-5 5 0,5 0 0,-6-4 0,5 3 0,-4-4 0,11 5 0,-4-5 0,-1 4 0,5-4 0,-11 0 0,11 4 0,-11-8 0,5 8 0,0-9 0,-5 9 0,5-4 0,-1-1 0,-4 5 0,4-4 0,1 5 0,-5 0 0,5 0 0,-6 0 0,-6 0 0,4 0 0,-4 0 0,1 0 0,-2 0 0,0 0 0,-4 0 0,9-4 0,-9 2 0,4-2 0,-5 4 0,5 0 0,-4 0 0,4 0 0,-5 0 0,0 0 0,0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1:08:42.3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24575,'56'0'0,"39"0"0,-3 0-492,-38 0 0,0 0 236,-2 0 0,-1 0 256,33 0 0,-33 0 0,2 0 0,1 0 0,-1 0 0,6 0 0,1 0-492,11 0 0,2 0 339,-5 0 0,2 0 153,10 0 0,0 0 0,-6 0 0,-1 0 0,0 0 0,0 0 0,-6 0 0,1 0 0,11 0 0,-1 0 0,-16 0 0,1 0 0,22 0 0,1 0 0,-17 0 0,0 0 0,10 0 0,-2 0 0,-20 3 0,-1 0 0,10 2 0,3 0 0,1 4 0,1 0 0,-2 0 0,3 0 0,22 3 0,2 1 0,-19-3 0,-2 0 0,-8 1 0,0 0 0,4-2 0,-3 0 35,30 6-35,-45-6 0,1-1 0,-1 0 0,-1 0 0,42 7 0,-11 0 0,8 1-45,-26-8 45,14 5 683,-26-11-683,8 4 983,-17-6-600,6 6 312,-20-5-695,11 5 52,-13-6-52,0 0 0,-6 0 0,-8 0 0,-5 0 0,0 0 0,0 0 0,-1 0 0,1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1:08:44.7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24575,'54'0'0,"-6"0"0,31 0 0,-22 0 0,42 0-841,-21 0 841,-22 0 0,2 0 0,-4 0 0,0 0 0,4 0 0,2 0-396,5 0 0,1 0 396,-6 0 0,2 0 0,9 0 0,1 0 0,-10 0 0,-2 0 0,-5 0 0,0 0 0,1 0 0,2 0 0,10 0 0,2 0 0,-6 0 0,1 0 0,15 0 0,0 0 0,-14 0 0,-1 0 0,-4 0 0,0 0 0,-7 0 0,2 0 0,21 0 0,-1 0 0,-21 0 0,-2 0 0,16 0 0,0 0 0,-11 0 0,-3 0 0,42 0 0,-39 0 0,3 0-492,11 0 0,0 0 326,-9 0 0,-1 0 166,11 0 0,-1 0 0,-12-1 0,-1 2 0,6 2 0,1 2 0,-5-1 0,0 1 0,11 4 0,-2 0 0,-20-1 0,0 0-436,18 1 1,0 0 435,-18-1 0,1 0 0,14 0 0,1 1 0,-12-1 0,-1 0 0,0 1 0,-1-1 532,41 7-532,-31-4 0,1 0 0,-12-2 0,-1-1 0,8 0 0,-2-1 0,26 6 912,-11-11-912,-8 10 983,6-11-607,-23 5 607,13 0-949,-23-5-34,0 5 0,-9-6 0,-7 0 0,-4 0 0,-2 0 0,-5 0 0,-1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7E20E-4915-C541-8C2B-5B380B061539}" type="datetimeFigureOut">
              <a:rPr lang="fr-FR" smtClean="0"/>
              <a:t>15/11/2024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768F0-3E24-AA4A-9CBD-BB5359B583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612931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8677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7224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6F3847-7D93-251C-FBF5-342972163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B6BDCD0-3A70-8281-8CF0-48DC063A3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E1D953-832F-A817-051B-98C2E5C05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9ABCE-C65A-431A-9BB2-4967A293B216}" type="datetime1">
              <a:rPr lang="fr-FR" smtClean="0"/>
              <a:t>15/11/2024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0E7A9D-E8A1-D221-EA73-BFF8D03E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8EBC57-DC9F-9F5A-CDA9-950452C04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5236047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735A47-83C6-AA64-ED49-22E06CD57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4255EC-E166-A499-0B99-4E106B729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A8329-9570-7AF9-B034-4E41DAC49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5775-0FEE-495B-8409-E6A248364688}" type="datetime1">
              <a:rPr lang="fr-FR" smtClean="0"/>
              <a:t>15/11/2024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772A26-5939-D828-663F-34FEECC88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606FB0-6AE8-6C54-0F13-DDECBDE0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8639942"/>
      </p:ext>
    </p:extLst>
  </p:cSld>
  <p:clrMapOvr>
    <a:masterClrMapping/>
  </p:clrMapOvr>
  <p:transition spd="slow">
    <p:push dir="u"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237821-3095-D396-F8D5-28A14F0E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47B3FC-F0EA-7BB4-FAB9-712F5F10C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B39A1F-BCE8-0008-680C-563EAB70F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C5D-30C5-4B7A-94C1-369E42E579DB}" type="datetime1">
              <a:rPr lang="fr-FR" smtClean="0"/>
              <a:t>15/11/2024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433C42-64B4-6169-6D70-5A2D91705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6ADFF8-8667-D989-FD70-9EA4EB68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996049"/>
      </p:ext>
    </p:extLst>
  </p:cSld>
  <p:clrMapOvr>
    <a:masterClrMapping/>
  </p:clrMapOvr>
  <p:transition spd="slow">
    <p:push dir="u"/>
  </p:transition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1AFDC7-A2D1-B0DC-BAEC-63AA33576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D528A8-3761-0DD4-D700-CE4BD536F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B79854-C44B-DA77-6AC9-DC7CF9459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C12743-0E60-5B3B-0D71-B483A82C0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6A806-84F8-465E-8445-ADC18D631BE8}" type="datetime1">
              <a:rPr lang="fr-FR" smtClean="0"/>
              <a:t>15/11/2024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973530-B982-49C4-5BAE-BDDC4AB48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69E56B-310B-0984-AC9F-913E922A1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7181162"/>
      </p:ext>
    </p:extLst>
  </p:cSld>
  <p:clrMapOvr>
    <a:masterClrMapping/>
  </p:clrMapOvr>
  <p:transition spd="slow">
    <p:push dir="u"/>
  </p:transition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D7B979-AEF8-6A15-E62C-85F34A2DE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A38AE7-63E5-CA33-CA76-622F167DA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19002F-650B-236B-76B4-BFFE88FC9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104BE1E-D471-7FB8-7688-7FED51F5F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9021A0C-1304-AC94-5BAF-7334650761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A536BE7-19F8-B737-5A08-AE3AAFE60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8F6AF-FE9A-4D6E-8AB2-73E7FE1DCDBC}" type="datetime1">
              <a:rPr lang="fr-FR" smtClean="0"/>
              <a:t>15/11/2024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6AEC666-62F0-0C29-4C2F-C84CF549C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74ADA49-53AF-0326-0E4C-8AD2E0D2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4091292"/>
      </p:ext>
    </p:extLst>
  </p:cSld>
  <p:clrMapOvr>
    <a:masterClrMapping/>
  </p:clrMapOvr>
  <p:transition spd="slow">
    <p:push dir="u"/>
  </p:transition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296422-41CE-F172-BBD5-E592003BA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1842C99-B833-EA10-0EAA-B16E9680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645E8-6EE4-4310-A02A-EFA9746E90B3}" type="datetime1">
              <a:rPr lang="fr-FR" smtClean="0"/>
              <a:t>15/11/2024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4FAABC-A77E-A80F-040A-B6E125CCD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7279CBC-B63C-50B9-0DDC-7E1075253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3317607"/>
      </p:ext>
    </p:extLst>
  </p:cSld>
  <p:clrMapOvr>
    <a:masterClrMapping/>
  </p:clrMapOvr>
  <p:transition spd="slow">
    <p:push dir="u"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BC27FCD-DCEC-0550-ECD5-1DCAD4503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36C7-7D3A-4F75-A96A-54BA73595170}" type="datetime1">
              <a:rPr lang="fr-FR" smtClean="0"/>
              <a:t>15/11/2024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03E9F80-6BF5-78E4-6CD5-F4E8FC0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B85F13-2D4C-41B1-8042-9AE5CBE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4745329"/>
      </p:ext>
    </p:extLst>
  </p:cSld>
  <p:clrMapOvr>
    <a:masterClrMapping/>
  </p:clrMapOvr>
  <p:transition spd="slow">
    <p:push dir="u"/>
  </p:transition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FD0422-62B1-7309-D10C-E5E922E7B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336247-23DF-179C-F08A-B76BF3607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668B673-95D5-D8A5-A648-EF3E2C43D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EBCBC8-08BD-F412-423F-847CADD42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BB162-454B-4D02-B0DB-017A55A98D57}" type="datetime1">
              <a:rPr lang="fr-FR" smtClean="0"/>
              <a:t>15/11/2024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4368E7-4CE8-4BFD-1D6F-81DD8649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DD5127-AE85-1F71-BDA9-0701358E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6020933"/>
      </p:ext>
    </p:extLst>
  </p:cSld>
  <p:clrMapOvr>
    <a:masterClrMapping/>
  </p:clrMapOvr>
  <p:transition spd="slow">
    <p:push dir="u"/>
  </p:transition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FC821D-9E5C-7E27-034F-3059FC92B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EA035D0-1F39-A126-AD68-659811E22A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14258D8-0042-1464-9E6A-7354C9512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F6DE22-F239-3F13-E4EB-FC458787F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59E36-F014-4236-9A3B-E2EFFBD5BE22}" type="datetime1">
              <a:rPr lang="fr-FR" smtClean="0"/>
              <a:t>15/11/2024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C3246A-35D2-0BF0-76C8-8191F3F7D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669E43-54B7-7E5C-D41C-7E3BD7B29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6181273"/>
      </p:ext>
    </p:extLst>
  </p:cSld>
  <p:clrMapOvr>
    <a:masterClrMapping/>
  </p:clrMapOvr>
  <p:transition spd="slow">
    <p:push dir="u"/>
  </p:transition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063790-03DC-BD31-6C23-E43AD9891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58E59D9-1154-14A3-8BA5-862DBB38C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7D15CC-4A06-FA43-7767-75BF5F3C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F5F53-B458-4995-9CC9-152A256F22C0}" type="datetime1">
              <a:rPr lang="fr-FR" smtClean="0"/>
              <a:t>15/11/2024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68B137-65C7-E64F-9072-8F0F3E31D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6042E3-C159-30C8-8518-635058A82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3333822"/>
      </p:ext>
    </p:extLst>
  </p:cSld>
  <p:clrMapOvr>
    <a:masterClrMapping/>
  </p:clrMapOvr>
  <p:transition spd="slow">
    <p:push dir="u"/>
  </p:transition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6A79694-3880-D477-162C-EF9640AAE7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404DA20-FD17-9D6F-09F2-4D1ABB51D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4D9F87-C997-BEB9-C5CC-24AA601FA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2199-2A4F-4091-B6E6-E543DE7BCC8F}" type="datetime1">
              <a:rPr lang="fr-FR" smtClean="0"/>
              <a:t>15/11/2024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CA8ADD-D7FE-EDFE-F4F6-E0B15A77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0D3A2B-87E6-3D96-CF13-3D3C3234D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4766579"/>
      </p:ext>
    </p:extLst>
  </p:cSld>
  <p:clrMapOvr>
    <a:masterClrMapping/>
  </p:clrMapOvr>
  <p:transition spd="slow">
    <p:push dir="u"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72BDEC9-F440-5A3E-698D-CD050BB02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21640F-C799-747E-FB5E-238F207E9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E0F4BE-524C-91F6-7A19-0007D4C7E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D3837-9B4D-44A4-9F55-79587CB5C377}" type="datetime1">
              <a:rPr lang="fr-FR" smtClean="0"/>
              <a:t>15/11/2024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B428DD-12FF-6099-2FF9-0A8E53E03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D85505-9649-FCDF-2BA9-AF3D4E08A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F920F-C3A0-B746-ABCF-5D69445787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3766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greste.agriculture.gouv.fr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5.png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03410A-8D94-03DE-0FB6-789FD041C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047" y="1893748"/>
            <a:ext cx="8763000" cy="1717221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fr-FR" sz="3600" kern="1200">
                <a:latin typeface="+mj-lt"/>
                <a:ea typeface="+mj-ea"/>
                <a:cs typeface="+mj-cs"/>
              </a:rPr>
              <a:t>Analyse critique des résultats économiques </a:t>
            </a:r>
            <a:r>
              <a:rPr lang="en-US" sz="3600" kern="1200">
                <a:latin typeface="+mj-lt"/>
                <a:ea typeface="+mj-ea"/>
                <a:cs typeface="+mj-cs"/>
              </a:rPr>
              <a:t>de la </a:t>
            </a:r>
            <a:r>
              <a:rPr lang="fr-FR" sz="3600" kern="1200">
                <a:latin typeface="+mj-lt"/>
                <a:ea typeface="+mj-ea"/>
                <a:cs typeface="+mj-cs"/>
              </a:rPr>
              <a:t>flotte</a:t>
            </a:r>
            <a:r>
              <a:rPr lang="en-US" sz="3600" kern="1200">
                <a:latin typeface="+mj-lt"/>
                <a:ea typeface="+mj-ea"/>
                <a:cs typeface="+mj-cs"/>
              </a:rPr>
              <a:t> de </a:t>
            </a:r>
            <a:r>
              <a:rPr lang="fr-FR" sz="3600" kern="1200">
                <a:latin typeface="+mj-lt"/>
                <a:ea typeface="+mj-ea"/>
                <a:cs typeface="+mj-cs"/>
              </a:rPr>
              <a:t>pêche</a:t>
            </a:r>
            <a:r>
              <a:rPr lang="en-US" sz="3600" kern="1200">
                <a:latin typeface="+mj-lt"/>
                <a:ea typeface="+mj-ea"/>
                <a:cs typeface="+mj-cs"/>
              </a:rPr>
              <a:t> française</a:t>
            </a:r>
            <a:endParaRPr lang="en-US" sz="3600" kern="12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0D17BCEE-0E47-0577-D719-56046CA753D2}"/>
              </a:ext>
            </a:extLst>
          </p:cNvPr>
          <p:cNvSpPr txBox="1"/>
          <p:nvPr/>
        </p:nvSpPr>
        <p:spPr>
          <a:xfrm>
            <a:off x="6797842" y="6022551"/>
            <a:ext cx="7014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/>
              <a:t>Réalisé par : Adam Chakra, Maxence Abric-Segarra, Luigi Zept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303A7F-1F21-1FA4-6C04-53A1B5BAF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1</a:t>
            </a:fld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C2FCC1F-3D91-C398-A5DC-3A8C4E7D8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E5DAF-2CF7-46D2-B706-D3007505B346}" type="datetime1">
              <a:rPr lang="fr-FR" smtClean="0"/>
              <a:t>15/11/2024</a:t>
            </a:fld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562DC9-B9D0-B671-EA99-45BE6CACA955}"/>
              </a:ext>
            </a:extLst>
          </p:cNvPr>
          <p:cNvSpPr/>
          <p:nvPr/>
        </p:nvSpPr>
        <p:spPr>
          <a:xfrm>
            <a:off x="10909426" y="6455121"/>
            <a:ext cx="878186" cy="266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51882107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FC84663-6497-361F-52CD-A8FD400E89E6}"/>
              </a:ext>
            </a:extLst>
          </p:cNvPr>
          <p:cNvSpPr txBox="1"/>
          <p:nvPr/>
        </p:nvSpPr>
        <p:spPr>
          <a:xfrm>
            <a:off x="180474" y="228600"/>
            <a:ext cx="11550315" cy="99411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2800" b="1" i="1" u="sng"/>
              <a:t>Introduction : </a:t>
            </a:r>
          </a:p>
          <a:p>
            <a:r>
              <a:rPr lang="fr-FR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fr-FR"/>
              <a:t>Résultats économiques de la pêche française entre 2015 et 2021 </a:t>
            </a:r>
          </a:p>
          <a:p>
            <a:endParaRPr lang="fr-FR" b="0" i="0" u="none" strike="noStrike">
              <a:solidFill>
                <a:srgbClr val="000000"/>
              </a:solidFill>
              <a:effectLst/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solidFill>
                  <a:srgbClr val="000000"/>
                </a:solidFill>
              </a:rPr>
              <a:t>Classement</a:t>
            </a:r>
            <a:r>
              <a:rPr lang="fr-FR" b="0" i="0" u="none" strike="noStrike">
                <a:solidFill>
                  <a:srgbClr val="000000"/>
                </a:solidFill>
                <a:effectLst/>
              </a:rPr>
              <a:t> de la France </a:t>
            </a:r>
            <a:r>
              <a:rPr lang="fr-FR">
                <a:solidFill>
                  <a:srgbClr val="000000"/>
                </a:solidFill>
              </a:rPr>
              <a:t>sur </a:t>
            </a:r>
            <a:r>
              <a:rPr lang="fr-FR" b="0" i="0" u="none" strike="noStrike">
                <a:solidFill>
                  <a:srgbClr val="000000"/>
                </a:solidFill>
                <a:effectLst/>
              </a:rPr>
              <a:t> :</a:t>
            </a:r>
          </a:p>
          <a:p>
            <a:pPr marL="742950" lvl="1" indent="-285750">
              <a:buFont typeface="Arial" pitchFamily="2" charset="2"/>
              <a:buChar char="•"/>
            </a:pPr>
            <a:endParaRPr lang="fr-FR" b="0" i="0" u="none" strike="noStrike">
              <a:solidFill>
                <a:srgbClr val="000000"/>
              </a:solidFill>
              <a:effectLst/>
            </a:endParaRPr>
          </a:p>
          <a:p>
            <a:pPr marL="742950" lvl="1" indent="-285750">
              <a:buFont typeface="Arial"/>
              <a:buChar char="•"/>
            </a:pPr>
            <a:r>
              <a:rPr lang="fr-FR" b="0" i="0" u="none" strike="noStrike">
                <a:solidFill>
                  <a:srgbClr val="000000"/>
                </a:solidFill>
                <a:effectLst/>
              </a:rPr>
              <a:t>Le nombre de navires de pêche</a:t>
            </a:r>
          </a:p>
          <a:p>
            <a:pPr marL="742950" lvl="1" indent="-285750">
              <a:buFont typeface="Arial" pitchFamily="2" charset="2"/>
              <a:buChar char="•"/>
            </a:pPr>
            <a:endParaRPr lang="fr-FR" b="0" i="0" u="none" strike="noStrike">
              <a:solidFill>
                <a:srgbClr val="000000"/>
              </a:solidFill>
              <a:effectLst/>
            </a:endParaRPr>
          </a:p>
          <a:p>
            <a:pPr marL="742950" lvl="1" indent="-285750">
              <a:buFont typeface="Arial" pitchFamily="2" charset="2"/>
              <a:buChar char="•"/>
            </a:pPr>
            <a:r>
              <a:rPr lang="fr-FR" b="0" i="0" u="none" strike="noStrike">
                <a:solidFill>
                  <a:srgbClr val="000000"/>
                </a:solidFill>
                <a:effectLst/>
              </a:rPr>
              <a:t>Le tonnage des navires</a:t>
            </a:r>
          </a:p>
          <a:p>
            <a:pPr marL="742950" lvl="1" indent="-285750">
              <a:buFont typeface="Arial" pitchFamily="2" charset="2"/>
              <a:buChar char="•"/>
            </a:pPr>
            <a:endParaRPr lang="fr-FR" b="0" i="0" u="none" strike="noStrike">
              <a:solidFill>
                <a:srgbClr val="000000"/>
              </a:solidFill>
              <a:effectLst/>
            </a:endParaRPr>
          </a:p>
          <a:p>
            <a:pPr marL="742950" lvl="1" indent="-285750">
              <a:buFont typeface="Arial" pitchFamily="2" charset="2"/>
              <a:buChar char="•"/>
            </a:pPr>
            <a:r>
              <a:rPr lang="fr-FR" b="0" i="0" u="none" strike="noStrike">
                <a:solidFill>
                  <a:srgbClr val="000000"/>
                </a:solidFill>
                <a:effectLst/>
              </a:rPr>
              <a:t>Le poids des débarquements</a:t>
            </a:r>
          </a:p>
          <a:p>
            <a:pPr marL="742950" lvl="1" indent="-285750">
              <a:buFont typeface="Arial" pitchFamily="2" charset="2"/>
              <a:buChar char="•"/>
            </a:pPr>
            <a:endParaRPr lang="fr-FR" b="0" i="0" u="none" strike="noStrike">
              <a:solidFill>
                <a:srgbClr val="000000"/>
              </a:solidFill>
              <a:effectLst/>
            </a:endParaRPr>
          </a:p>
          <a:p>
            <a:pPr marL="742950" lvl="1" indent="-285750">
              <a:buFont typeface="Arial" pitchFamily="2" charset="2"/>
              <a:buChar char="•"/>
            </a:pPr>
            <a:r>
              <a:rPr lang="fr-FR" b="0" i="0" u="none" strike="noStrike">
                <a:solidFill>
                  <a:srgbClr val="000000"/>
                </a:solidFill>
                <a:effectLst/>
              </a:rPr>
              <a:t>La valeur des débarquements</a:t>
            </a:r>
            <a:endParaRPr lang="fr-FR">
              <a:solidFill>
                <a:srgbClr val="000000"/>
              </a:solidFill>
            </a:endParaRPr>
          </a:p>
          <a:p>
            <a:pPr lvl="1"/>
            <a:endParaRPr lang="fr-FR" b="0" i="0" u="none" strike="noStrike">
              <a:solidFill>
                <a:srgbClr val="000000"/>
              </a:solidFill>
              <a:effectLst/>
              <a:latin typeface="Aptos" panose="02110004020202020204"/>
            </a:endParaRPr>
          </a:p>
          <a:p>
            <a:pPr marL="285750" indent="-285750">
              <a:buFont typeface="Arial" pitchFamily="2" charset="2"/>
              <a:buChar char="•"/>
            </a:pPr>
            <a:r>
              <a:rPr lang="fr-FR">
                <a:latin typeface="Arial"/>
                <a:cs typeface="Arial"/>
              </a:rPr>
              <a:t>L’article est publié sur le site internet </a:t>
            </a:r>
            <a:r>
              <a:rPr lang="fr-FR">
                <a:latin typeface="Aptos" panose="02110004020202020204"/>
                <a:hlinkClick r:id="rId2"/>
              </a:rPr>
              <a:t>www.agreste.agriculture.gouv.fr</a:t>
            </a:r>
            <a:r>
              <a:rPr lang="fr-FR">
                <a:latin typeface="Arial"/>
                <a:cs typeface="Arial"/>
              </a:rPr>
              <a:t> en mars 2024</a:t>
            </a:r>
            <a:endParaRPr lang="fr-F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FBF7407-4BDB-6A68-B347-CDF098E23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206379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611E07C-E331-7909-6C62-84CF690C0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3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4FA0360-9E7E-7EC9-2E2C-AF81C8B76D7F}"/>
              </a:ext>
            </a:extLst>
          </p:cNvPr>
          <p:cNvSpPr txBox="1"/>
          <p:nvPr/>
        </p:nvSpPr>
        <p:spPr>
          <a:xfrm>
            <a:off x="1005253" y="1280614"/>
            <a:ext cx="10177397" cy="4555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2000" b="1" u="sng"/>
              <a:t>Composition de la flotte </a:t>
            </a:r>
            <a:r>
              <a:rPr lang="fr-FR" b="1" u="sng"/>
              <a:t>:</a:t>
            </a:r>
            <a:endParaRPr lang="fr-FR"/>
          </a:p>
          <a:p>
            <a:pPr marL="742950" lvl="1" indent="-285750">
              <a:buFont typeface="Arial"/>
              <a:buChar char="•"/>
            </a:pPr>
            <a:r>
              <a:rPr lang="fr-FR" b="1"/>
              <a:t>Navires : </a:t>
            </a:r>
            <a:r>
              <a:rPr lang="fr-FR">
                <a:ea typeface="+mn-lt"/>
                <a:cs typeface="+mn-lt"/>
              </a:rPr>
              <a:t>6 159 au total, dont 5 266 actifs.</a:t>
            </a:r>
          </a:p>
          <a:p>
            <a:pPr marL="1200150" lvl="2" indent="-285750">
              <a:buFont typeface="Wingdings"/>
              <a:buChar char="§"/>
            </a:pPr>
            <a:r>
              <a:rPr lang="fr-FR" b="1">
                <a:ea typeface="+mn-lt"/>
                <a:cs typeface="+mn-lt"/>
              </a:rPr>
              <a:t>Petite flotte : </a:t>
            </a:r>
            <a:r>
              <a:rPr lang="fr-FR">
                <a:ea typeface="+mn-lt"/>
                <a:cs typeface="+mn-lt"/>
              </a:rPr>
              <a:t>71 % mais tonnage 9 %</a:t>
            </a:r>
          </a:p>
          <a:p>
            <a:pPr marL="1200150" lvl="2" indent="-285750">
              <a:buFont typeface="Wingdings"/>
              <a:buChar char="§"/>
            </a:pPr>
            <a:r>
              <a:rPr lang="fr-FR" b="1">
                <a:ea typeface="+mn-lt"/>
                <a:cs typeface="+mn-lt"/>
              </a:rPr>
              <a:t>Grande flotte : </a:t>
            </a:r>
            <a:r>
              <a:rPr lang="fr-FR">
                <a:ea typeface="+mn-lt"/>
                <a:cs typeface="+mn-lt"/>
              </a:rPr>
              <a:t>67 % du tonnage.</a:t>
            </a:r>
          </a:p>
          <a:p>
            <a:pPr marL="1200150" lvl="2" indent="-285750">
              <a:buFont typeface="Wingdings"/>
              <a:buChar char="§"/>
            </a:pPr>
            <a:r>
              <a:rPr lang="fr-FR" b="1">
                <a:ea typeface="+mn-lt"/>
                <a:cs typeface="+mn-lt"/>
              </a:rPr>
              <a:t>Flotte hauturière longue distance : </a:t>
            </a:r>
            <a:r>
              <a:rPr lang="fr-FR">
                <a:ea typeface="+mn-lt"/>
                <a:cs typeface="+mn-lt"/>
              </a:rPr>
              <a:t>&lt;1 % des navires mais 24 % du tonnage et 12 % des valeurs débarquées.</a:t>
            </a:r>
          </a:p>
          <a:p>
            <a:pPr marL="285750" indent="-285750">
              <a:buFont typeface="Arial"/>
              <a:buChar char="•"/>
            </a:pPr>
            <a:r>
              <a:rPr lang="fr-FR" b="1" u="sng">
                <a:ea typeface="+mn-lt"/>
                <a:cs typeface="+mn-lt"/>
              </a:rPr>
              <a:t>Emploi :</a:t>
            </a:r>
          </a:p>
          <a:p>
            <a:pPr marL="742950" lvl="1" indent="-285750">
              <a:buFont typeface="Arial"/>
              <a:buChar char="•"/>
            </a:pPr>
            <a:r>
              <a:rPr lang="fr-FR" b="1">
                <a:ea typeface="+mn-lt"/>
                <a:cs typeface="+mn-lt"/>
              </a:rPr>
              <a:t>Nombre d’emplois</a:t>
            </a:r>
            <a:r>
              <a:rPr lang="fr-FR">
                <a:ea typeface="+mn-lt"/>
                <a:cs typeface="+mn-lt"/>
              </a:rPr>
              <a:t> : 12 500</a:t>
            </a:r>
            <a:endParaRPr lang="fr-FR" u="sng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fr-FR" b="1">
                <a:ea typeface="+mn-lt"/>
                <a:cs typeface="+mn-lt"/>
              </a:rPr>
              <a:t>Équivalents temps plein (ETP)</a:t>
            </a:r>
            <a:r>
              <a:rPr lang="fr-FR">
                <a:ea typeface="+mn-lt"/>
                <a:cs typeface="+mn-lt"/>
              </a:rPr>
              <a:t> : 7 600</a:t>
            </a:r>
          </a:p>
          <a:p>
            <a:pPr marL="742950" lvl="1" indent="-285750">
              <a:buFont typeface="Arial"/>
              <a:buChar char="•"/>
            </a:pPr>
            <a:endParaRPr lang="fr-FR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fr-FR" b="1" u="sng">
                <a:ea typeface="+mn-lt"/>
                <a:cs typeface="+mn-lt"/>
              </a:rPr>
              <a:t>Sources :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,Sans-Serif"/>
              <a:buChar char="•"/>
            </a:pPr>
            <a:r>
              <a:rPr lang="fr-FR">
                <a:ea typeface="+mn-lt"/>
                <a:cs typeface="+mn-lt"/>
              </a:rPr>
              <a:t> 27 % des navires français inscrits au registre européen (1 146 navires).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,Sans-Serif"/>
              <a:buChar char="•"/>
            </a:pPr>
            <a:r>
              <a:rPr lang="fr-FR">
                <a:ea typeface="+mn-lt"/>
                <a:cs typeface="+mn-lt"/>
              </a:rPr>
              <a:t>données fiables mais influencées par des estimations ( DOM, grands navires )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endParaRPr lang="fr-FR">
              <a:ea typeface="+mn-lt"/>
              <a:cs typeface="+mn-lt"/>
            </a:endParaRPr>
          </a:p>
          <a:p>
            <a:endParaRPr lang="fr-FR" b="1" u="sng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endParaRPr lang="fr-FR">
              <a:ea typeface="+mn-lt"/>
              <a:cs typeface="+mn-lt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AF07B75-012B-57EF-003F-2FF7B4F0320D}"/>
              </a:ext>
            </a:extLst>
          </p:cNvPr>
          <p:cNvSpPr txBox="1"/>
          <p:nvPr/>
        </p:nvSpPr>
        <p:spPr>
          <a:xfrm>
            <a:off x="3820437" y="438411"/>
            <a:ext cx="455112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 i="1" u="sng"/>
              <a:t>Présentation des données</a:t>
            </a:r>
          </a:p>
        </p:txBody>
      </p:sp>
    </p:spTree>
    <p:extLst>
      <p:ext uri="{BB962C8B-B14F-4D97-AF65-F5344CB8AC3E}">
        <p14:creationId xmlns:p14="http://schemas.microsoft.com/office/powerpoint/2010/main" val="300868847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611E07C-E331-7909-6C62-84CF690C0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4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4FA0360-9E7E-7EC9-2E2C-AF81C8B76D7F}"/>
              </a:ext>
            </a:extLst>
          </p:cNvPr>
          <p:cNvSpPr txBox="1"/>
          <p:nvPr/>
        </p:nvSpPr>
        <p:spPr>
          <a:xfrm>
            <a:off x="1005253" y="1984741"/>
            <a:ext cx="10177397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2000" b="1" u="sng">
                <a:ea typeface="+mn-lt"/>
                <a:cs typeface="+mn-lt"/>
              </a:rPr>
              <a:t>Production et économie</a:t>
            </a:r>
            <a:r>
              <a:rPr lang="fr-FR" sz="2000" b="1" u="sng"/>
              <a:t> :</a:t>
            </a:r>
          </a:p>
          <a:p>
            <a:r>
              <a:rPr lang="fr-FR">
                <a:ea typeface="+mn-lt"/>
                <a:cs typeface="+mn-lt"/>
              </a:rPr>
              <a:t>  - </a:t>
            </a:r>
            <a:r>
              <a:rPr lang="fr-FR" b="1">
                <a:ea typeface="+mn-lt"/>
                <a:cs typeface="+mn-lt"/>
              </a:rPr>
              <a:t>Débarquements</a:t>
            </a:r>
            <a:r>
              <a:rPr lang="fr-FR">
                <a:ea typeface="+mn-lt"/>
                <a:cs typeface="+mn-lt"/>
              </a:rPr>
              <a:t> : 505 000T pour une valeur de 1,23 milliard d’euros.</a:t>
            </a:r>
          </a:p>
          <a:p>
            <a:r>
              <a:rPr lang="fr-FR">
                <a:ea typeface="+mn-lt"/>
                <a:cs typeface="+mn-lt"/>
              </a:rPr>
              <a:t>  - </a:t>
            </a:r>
            <a:r>
              <a:rPr lang="fr-FR" b="1">
                <a:ea typeface="+mn-lt"/>
                <a:cs typeface="+mn-lt"/>
              </a:rPr>
              <a:t>Chiffre d’affaires global</a:t>
            </a:r>
            <a:r>
              <a:rPr lang="fr-FR">
                <a:ea typeface="+mn-lt"/>
                <a:cs typeface="+mn-lt"/>
              </a:rPr>
              <a:t> : 1,29 milliard d’euros.</a:t>
            </a:r>
          </a:p>
          <a:p>
            <a:r>
              <a:rPr lang="fr-FR">
                <a:ea typeface="+mn-lt"/>
                <a:cs typeface="+mn-lt"/>
              </a:rPr>
              <a:t>  - </a:t>
            </a:r>
            <a:r>
              <a:rPr lang="fr-FR" b="1">
                <a:ea typeface="+mn-lt"/>
                <a:cs typeface="+mn-lt"/>
              </a:rPr>
              <a:t>Valeur ajoutée</a:t>
            </a:r>
            <a:r>
              <a:rPr lang="fr-FR">
                <a:ea typeface="+mn-lt"/>
                <a:cs typeface="+mn-lt"/>
              </a:rPr>
              <a:t> : 636 millions d’euros.</a:t>
            </a:r>
          </a:p>
          <a:p>
            <a:r>
              <a:rPr lang="fr-FR">
                <a:ea typeface="+mn-lt"/>
                <a:cs typeface="+mn-lt"/>
              </a:rPr>
              <a:t>  -</a:t>
            </a:r>
            <a:r>
              <a:rPr lang="fr-FR" b="1">
                <a:ea typeface="+mn-lt"/>
                <a:cs typeface="+mn-lt"/>
              </a:rPr>
              <a:t>Marge brute</a:t>
            </a:r>
            <a:r>
              <a:rPr lang="fr-FR">
                <a:ea typeface="+mn-lt"/>
                <a:cs typeface="+mn-lt"/>
              </a:rPr>
              <a:t> : 128,4 millions d’euros.</a:t>
            </a:r>
          </a:p>
          <a:p>
            <a:endParaRPr lang="fr-FR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fr-FR" b="1" u="sng">
                <a:ea typeface="+mn-lt"/>
                <a:cs typeface="+mn-lt"/>
              </a:rPr>
              <a:t>Couts (2021):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,Sans-Serif"/>
              <a:buChar char="•"/>
            </a:pPr>
            <a:r>
              <a:rPr lang="fr-FR" b="1">
                <a:ea typeface="+mn-lt"/>
                <a:cs typeface="+mn-lt"/>
              </a:rPr>
              <a:t>Charges globales</a:t>
            </a:r>
            <a:r>
              <a:rPr lang="fr-FR">
                <a:ea typeface="+mn-lt"/>
                <a:cs typeface="+mn-lt"/>
              </a:rPr>
              <a:t> : 1,28 milliard d’euros</a:t>
            </a:r>
          </a:p>
          <a:p>
            <a:pPr marL="1200150" lvl="2" indent="-285750">
              <a:buFont typeface="Wingdings,Sans-Serif"/>
              <a:buChar char="§"/>
            </a:pPr>
            <a:r>
              <a:rPr lang="fr-FR" b="1">
                <a:ea typeface="+mn-lt"/>
                <a:cs typeface="+mn-lt"/>
              </a:rPr>
              <a:t>Salaires</a:t>
            </a:r>
            <a:r>
              <a:rPr lang="fr-FR">
                <a:ea typeface="+mn-lt"/>
                <a:cs typeface="+mn-lt"/>
              </a:rPr>
              <a:t> : 39 % des coûts</a:t>
            </a:r>
            <a:endParaRPr lang="en-US">
              <a:ea typeface="+mn-lt"/>
              <a:cs typeface="+mn-lt"/>
            </a:endParaRPr>
          </a:p>
          <a:p>
            <a:pPr marL="1200150" lvl="2" indent="-285750">
              <a:buFont typeface="Wingdings,Sans-Serif"/>
              <a:buChar char="§"/>
            </a:pPr>
            <a:r>
              <a:rPr lang="fr-FR" b="1">
                <a:ea typeface="+mn-lt"/>
                <a:cs typeface="+mn-lt"/>
              </a:rPr>
              <a:t>Energie : </a:t>
            </a:r>
            <a:r>
              <a:rPr lang="fr-FR">
                <a:ea typeface="+mn-lt"/>
                <a:cs typeface="+mn-lt"/>
              </a:rPr>
              <a:t>13 % des coûts</a:t>
            </a:r>
          </a:p>
          <a:p>
            <a:pPr marL="1200150" lvl="2" indent="-285750">
              <a:buFont typeface="Wingdings,Sans-Serif"/>
              <a:buChar char="§"/>
            </a:pPr>
            <a:r>
              <a:rPr lang="fr-FR" b="1">
                <a:ea typeface="+mn-lt"/>
                <a:cs typeface="+mn-lt"/>
              </a:rPr>
              <a:t>Maintenance et réparations : </a:t>
            </a:r>
            <a:r>
              <a:rPr lang="fr-FR">
                <a:ea typeface="+mn-lt"/>
                <a:cs typeface="+mn-lt"/>
              </a:rPr>
              <a:t>+9,5 %</a:t>
            </a:r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AF07B75-012B-57EF-003F-2FF7B4F0320D}"/>
              </a:ext>
            </a:extLst>
          </p:cNvPr>
          <p:cNvSpPr txBox="1"/>
          <p:nvPr/>
        </p:nvSpPr>
        <p:spPr>
          <a:xfrm>
            <a:off x="3820437" y="438411"/>
            <a:ext cx="455112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 i="1" u="sng"/>
              <a:t>Présentation des données</a:t>
            </a:r>
          </a:p>
        </p:txBody>
      </p:sp>
    </p:spTree>
    <p:extLst>
      <p:ext uri="{BB962C8B-B14F-4D97-AF65-F5344CB8AC3E}">
        <p14:creationId xmlns:p14="http://schemas.microsoft.com/office/powerpoint/2010/main" val="315868246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384D0F9C-ED9D-2DD2-AE11-131DF53B1D3D}"/>
              </a:ext>
            </a:extLst>
          </p:cNvPr>
          <p:cNvGrpSpPr/>
          <p:nvPr/>
        </p:nvGrpSpPr>
        <p:grpSpPr>
          <a:xfrm>
            <a:off x="1664754" y="6275065"/>
            <a:ext cx="8733240" cy="266040"/>
            <a:chOff x="1664754" y="6275065"/>
            <a:chExt cx="873324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Encre 3">
                  <a:extLst>
                    <a:ext uri="{FF2B5EF4-FFF2-40B4-BE49-F238E27FC236}">
                      <a16:creationId xmlns:a16="http://schemas.microsoft.com/office/drawing/2014/main" id="{69CC11F0-B991-46E8-4488-8EB5928355AD}"/>
                    </a:ext>
                  </a:extLst>
                </p14:cNvPr>
                <p14:cNvContentPartPr/>
                <p14:nvPr/>
              </p14:nvContentPartPr>
              <p14:xfrm>
                <a:off x="2095674" y="6361105"/>
                <a:ext cx="468360" cy="1800"/>
              </p14:xfrm>
            </p:contentPart>
          </mc:Choice>
          <mc:Fallback>
            <p:pic>
              <p:nvPicPr>
                <p:cNvPr id="4" name="Encre 3">
                  <a:extLst>
                    <a:ext uri="{FF2B5EF4-FFF2-40B4-BE49-F238E27FC236}">
                      <a16:creationId xmlns:a16="http://schemas.microsoft.com/office/drawing/2014/main" id="{69CC11F0-B991-46E8-4488-8EB5928355A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032626" y="6282355"/>
                  <a:ext cx="594097" cy="1588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Encre 4">
                  <a:extLst>
                    <a:ext uri="{FF2B5EF4-FFF2-40B4-BE49-F238E27FC236}">
                      <a16:creationId xmlns:a16="http://schemas.microsoft.com/office/drawing/2014/main" id="{AE1F1B86-AB2D-B825-66DD-5738766A912D}"/>
                    </a:ext>
                  </a:extLst>
                </p14:cNvPr>
                <p14:cNvContentPartPr/>
                <p14:nvPr/>
              </p14:nvContentPartPr>
              <p14:xfrm>
                <a:off x="1664754" y="6352105"/>
                <a:ext cx="1934640" cy="71280"/>
              </p14:xfrm>
            </p:contentPart>
          </mc:Choice>
          <mc:Fallback>
            <p:pic>
              <p:nvPicPr>
                <p:cNvPr id="5" name="Encre 4">
                  <a:extLst>
                    <a:ext uri="{FF2B5EF4-FFF2-40B4-BE49-F238E27FC236}">
                      <a16:creationId xmlns:a16="http://schemas.microsoft.com/office/drawing/2014/main" id="{AE1F1B86-AB2D-B825-66DD-5738766A912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01754" y="6289105"/>
                  <a:ext cx="20602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Encre 5">
                  <a:extLst>
                    <a:ext uri="{FF2B5EF4-FFF2-40B4-BE49-F238E27FC236}">
                      <a16:creationId xmlns:a16="http://schemas.microsoft.com/office/drawing/2014/main" id="{F45BDA69-6C2A-319D-5CFF-E8F5F4E51334}"/>
                    </a:ext>
                  </a:extLst>
                </p14:cNvPr>
                <p14:cNvContentPartPr/>
                <p14:nvPr/>
              </p14:nvContentPartPr>
              <p14:xfrm>
                <a:off x="3599034" y="6423025"/>
                <a:ext cx="1572840" cy="118080"/>
              </p14:xfrm>
            </p:contentPart>
          </mc:Choice>
          <mc:Fallback>
            <p:pic>
              <p:nvPicPr>
                <p:cNvPr id="6" name="Encre 5">
                  <a:extLst>
                    <a:ext uri="{FF2B5EF4-FFF2-40B4-BE49-F238E27FC236}">
                      <a16:creationId xmlns:a16="http://schemas.microsoft.com/office/drawing/2014/main" id="{F45BDA69-6C2A-319D-5CFF-E8F5F4E5133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36048" y="6360025"/>
                  <a:ext cx="1698451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Encre 8">
                  <a:extLst>
                    <a:ext uri="{FF2B5EF4-FFF2-40B4-BE49-F238E27FC236}">
                      <a16:creationId xmlns:a16="http://schemas.microsoft.com/office/drawing/2014/main" id="{A698B626-DE9E-A0DB-2DBF-831373CA9D47}"/>
                    </a:ext>
                  </a:extLst>
                </p14:cNvPr>
                <p14:cNvContentPartPr/>
                <p14:nvPr/>
              </p14:nvContentPartPr>
              <p14:xfrm>
                <a:off x="4281954" y="6376225"/>
                <a:ext cx="2274480" cy="87480"/>
              </p14:xfrm>
            </p:contentPart>
          </mc:Choice>
          <mc:Fallback>
            <p:pic>
              <p:nvPicPr>
                <p:cNvPr id="9" name="Encre 8">
                  <a:extLst>
                    <a:ext uri="{FF2B5EF4-FFF2-40B4-BE49-F238E27FC236}">
                      <a16:creationId xmlns:a16="http://schemas.microsoft.com/office/drawing/2014/main" id="{A698B626-DE9E-A0DB-2DBF-831373CA9D4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18954" y="6313483"/>
                  <a:ext cx="2400120" cy="2126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7A8E3E4F-589C-CB5F-00A4-DA2503E4C3B6}"/>
                    </a:ext>
                  </a:extLst>
                </p14:cNvPr>
                <p14:cNvContentPartPr/>
                <p14:nvPr/>
              </p14:nvContentPartPr>
              <p14:xfrm>
                <a:off x="5757234" y="6275065"/>
                <a:ext cx="1442520" cy="62640"/>
              </p14:xfrm>
            </p:contentPart>
          </mc:Choice>
          <mc:Fallback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7A8E3E4F-589C-CB5F-00A4-DA2503E4C3B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94234" y="6212065"/>
                  <a:ext cx="15681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635B4F0C-B462-74CC-6B5D-A3AEABD207CB}"/>
                    </a:ext>
                  </a:extLst>
                </p14:cNvPr>
                <p14:cNvContentPartPr/>
                <p14:nvPr/>
              </p14:nvContentPartPr>
              <p14:xfrm>
                <a:off x="7161954" y="6403225"/>
                <a:ext cx="1716840" cy="98640"/>
              </p14:xfrm>
            </p:contentPart>
          </mc:Choice>
          <mc:Fallback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635B4F0C-B462-74CC-6B5D-A3AEABD207C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98941" y="6340225"/>
                  <a:ext cx="1842506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3" name="Encre 22">
                  <a:extLst>
                    <a:ext uri="{FF2B5EF4-FFF2-40B4-BE49-F238E27FC236}">
                      <a16:creationId xmlns:a16="http://schemas.microsoft.com/office/drawing/2014/main" id="{517D7D47-A09A-6626-3B72-07A919D0EA93}"/>
                    </a:ext>
                  </a:extLst>
                </p14:cNvPr>
                <p14:cNvContentPartPr/>
                <p14:nvPr/>
              </p14:nvContentPartPr>
              <p14:xfrm>
                <a:off x="8373714" y="6395305"/>
                <a:ext cx="2024280" cy="91080"/>
              </p14:xfrm>
            </p:contentPart>
          </mc:Choice>
          <mc:Fallback>
            <p:pic>
              <p:nvPicPr>
                <p:cNvPr id="23" name="Encre 22">
                  <a:extLst>
                    <a:ext uri="{FF2B5EF4-FFF2-40B4-BE49-F238E27FC236}">
                      <a16:creationId xmlns:a16="http://schemas.microsoft.com/office/drawing/2014/main" id="{517D7D47-A09A-6626-3B72-07A919D0EA9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10703" y="6332305"/>
                  <a:ext cx="2149942" cy="216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87C2BD-4155-CA35-9688-E08B871BC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5</a:t>
            </a:fld>
            <a:endParaRPr lang="fr-FR"/>
          </a:p>
        </p:txBody>
      </p:sp>
      <p:pic>
        <p:nvPicPr>
          <p:cNvPr id="10" name="Image 9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FFFB53B7-B46C-A681-ED29-CE1175761BE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04820" y="1308670"/>
            <a:ext cx="9388642" cy="4857976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624DA38-BF22-E986-01C9-4D13C09F7541}"/>
              </a:ext>
            </a:extLst>
          </p:cNvPr>
          <p:cNvSpPr txBox="1"/>
          <p:nvPr/>
        </p:nvSpPr>
        <p:spPr>
          <a:xfrm>
            <a:off x="4361119" y="256994"/>
            <a:ext cx="347055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 i="1" u="sng"/>
              <a:t>Analyse graphique</a:t>
            </a:r>
          </a:p>
        </p:txBody>
      </p:sp>
    </p:spTree>
    <p:extLst>
      <p:ext uri="{BB962C8B-B14F-4D97-AF65-F5344CB8AC3E}">
        <p14:creationId xmlns:p14="http://schemas.microsoft.com/office/powerpoint/2010/main" val="178029021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D0B5F15-690E-8E8F-E1BA-417E6348A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920F-C3A0-B746-ABCF-5D6944578781}" type="slidenum">
              <a:rPr lang="fr-FR" smtClean="0"/>
              <a:t>6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8F067D6-A8ED-128B-7DE8-122D72BFE88C}"/>
              </a:ext>
            </a:extLst>
          </p:cNvPr>
          <p:cNvSpPr txBox="1"/>
          <p:nvPr/>
        </p:nvSpPr>
        <p:spPr>
          <a:xfrm>
            <a:off x="834905" y="1614689"/>
            <a:ext cx="9919502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2000" b="1"/>
              <a:t>Forces de l’article : </a:t>
            </a:r>
          </a:p>
          <a:p>
            <a:pPr marL="1200150" lvl="2" indent="-285750">
              <a:buFont typeface="Arial,Sans-Serif"/>
              <a:buChar char="•"/>
            </a:pPr>
            <a:r>
              <a:rPr lang="fr-FR" sz="1600">
                <a:ea typeface="+mn-lt"/>
                <a:cs typeface="+mn-lt"/>
              </a:rPr>
              <a:t>Graphiques pertinents avec le texte </a:t>
            </a:r>
          </a:p>
          <a:p>
            <a:pPr marL="1200150" lvl="2" indent="-285750">
              <a:buFont typeface="Arial,Sans-Serif"/>
              <a:buChar char="•"/>
            </a:pPr>
            <a:r>
              <a:rPr lang="fr-FR" sz="1600">
                <a:ea typeface="+mn-lt"/>
                <a:cs typeface="+mn-lt"/>
              </a:rPr>
              <a:t>La segmentation des flottes (petite, grande, hauturière) est pertinente</a:t>
            </a:r>
          </a:p>
          <a:p>
            <a:pPr marL="1200150" lvl="2" indent="-285750">
              <a:buFont typeface="Arial,Sans-Serif"/>
              <a:buChar char="•"/>
            </a:pPr>
            <a:r>
              <a:rPr lang="fr-FR" sz="1600">
                <a:ea typeface="+mn-lt"/>
                <a:cs typeface="+mn-lt"/>
              </a:rPr>
              <a:t>Le texte arrive a lié résultats avec crise sanitaire</a:t>
            </a:r>
            <a:endParaRPr lang="en-US" sz="1600">
              <a:ea typeface="+mn-lt"/>
              <a:cs typeface="+mn-lt"/>
            </a:endParaRPr>
          </a:p>
          <a:p>
            <a:pPr marL="1200150" lvl="2" indent="-285750">
              <a:buFont typeface="Arial,Sans-Serif"/>
              <a:buChar char="•"/>
            </a:pPr>
            <a:r>
              <a:rPr lang="fr-FR" sz="1600">
                <a:ea typeface="+mn-lt"/>
                <a:cs typeface="+mn-lt"/>
              </a:rPr>
              <a:t>Souligne la force de la France dans l'UE</a:t>
            </a:r>
            <a:endParaRPr lang="en-US" sz="16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2000" b="1">
                <a:ea typeface="+mn-lt"/>
                <a:cs typeface="+mn-lt"/>
              </a:rPr>
              <a:t>Limites et critiques :</a:t>
            </a:r>
            <a:endParaRPr lang="fr-FR" sz="2000" b="1"/>
          </a:p>
          <a:p>
            <a:pPr marL="1200150" lvl="2" indent="-285750">
              <a:buFont typeface="Arial"/>
              <a:buChar char="•"/>
            </a:pPr>
            <a:r>
              <a:rPr lang="fr-FR" sz="1600"/>
              <a:t>Répétition des données graphiques dans le texte</a:t>
            </a:r>
          </a:p>
          <a:p>
            <a:pPr marL="1200150" lvl="2" indent="-285750">
              <a:buFont typeface="Arial"/>
              <a:buChar char="•"/>
            </a:pPr>
            <a:r>
              <a:rPr lang="fr-FR" sz="1600"/>
              <a:t>Limités en termes de précisons</a:t>
            </a:r>
          </a:p>
          <a:p>
            <a:pPr marL="1200150" lvl="2" indent="-285750">
              <a:buFont typeface="Arial"/>
              <a:buChar char="•"/>
            </a:pPr>
            <a:r>
              <a:rPr lang="fr-FR" sz="1600"/>
              <a:t>Ajouter le modèle de flotte des autres pays ( répartitions )</a:t>
            </a:r>
          </a:p>
          <a:p>
            <a:pPr marL="1200150" lvl="2" indent="-285750">
              <a:buFont typeface="Arial"/>
              <a:buChar char="•"/>
            </a:pPr>
            <a:r>
              <a:rPr lang="fr-FR" sz="1600"/>
              <a:t>Elargir données étudiés</a:t>
            </a:r>
          </a:p>
          <a:p>
            <a:pPr marL="1200150" lvl="2" indent="-285750">
              <a:buFont typeface="Arial"/>
              <a:buChar char="•"/>
            </a:pPr>
            <a:r>
              <a:rPr lang="fr-FR" sz="1600"/>
              <a:t>Ajouter les facteurs qui restreignent la pêche ( écologie, émission CO2... )</a:t>
            </a:r>
          </a:p>
          <a:p>
            <a:pPr marL="1200150" lvl="2" indent="-285750">
              <a:buFont typeface="Arial"/>
              <a:buChar char="•"/>
            </a:pPr>
            <a:endParaRPr lang="fr-FR" sz="1600"/>
          </a:p>
          <a:p>
            <a:pPr marL="285750" indent="-285750">
              <a:buFont typeface="Arial"/>
              <a:buChar char="•"/>
            </a:pPr>
            <a:endParaRPr lang="fr-FR" sz="1600"/>
          </a:p>
          <a:p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8E99EC2-AB10-88A6-AB29-6CAB332F76CC}"/>
              </a:ext>
            </a:extLst>
          </p:cNvPr>
          <p:cNvSpPr txBox="1"/>
          <p:nvPr/>
        </p:nvSpPr>
        <p:spPr>
          <a:xfrm>
            <a:off x="4098441" y="405509"/>
            <a:ext cx="338572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 i="1" u="sng"/>
              <a:t>Réflexion critiques</a:t>
            </a:r>
          </a:p>
        </p:txBody>
      </p:sp>
    </p:spTree>
    <p:extLst>
      <p:ext uri="{BB962C8B-B14F-4D97-AF65-F5344CB8AC3E}">
        <p14:creationId xmlns:p14="http://schemas.microsoft.com/office/powerpoint/2010/main" val="408193053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46" name="Freeform: Shape 33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7" name="Freeform: Shape 35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9" name="Freeform: Shape 71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" name="Freeform: Shape 73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75">
            <a:extLst>
              <a:ext uri="{FF2B5EF4-FFF2-40B4-BE49-F238E27FC236}">
                <a16:creationId xmlns:a16="http://schemas.microsoft.com/office/drawing/2014/main" id="{B1F9B6B4-B0C4-45C6-A086-901C960D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44774" y="0"/>
            <a:ext cx="2756893" cy="6858000"/>
          </a:xfrm>
          <a:custGeom>
            <a:avLst/>
            <a:gdLst>
              <a:gd name="connsiteX0" fmla="*/ 1133870 w 2756893"/>
              <a:gd name="connsiteY0" fmla="*/ 0 h 6858000"/>
              <a:gd name="connsiteX1" fmla="*/ 898082 w 2756893"/>
              <a:gd name="connsiteY1" fmla="*/ 0 h 6858000"/>
              <a:gd name="connsiteX2" fmla="*/ 920668 w 2756893"/>
              <a:gd name="connsiteY2" fmla="*/ 14997 h 6858000"/>
              <a:gd name="connsiteX3" fmla="*/ 2554961 w 2756893"/>
              <a:gd name="connsiteY3" fmla="*/ 3621656 h 6858000"/>
              <a:gd name="connsiteX4" fmla="*/ 641513 w 2756893"/>
              <a:gd name="connsiteY4" fmla="*/ 6374814 h 6858000"/>
              <a:gd name="connsiteX5" fmla="*/ 114086 w 2756893"/>
              <a:gd name="connsiteY5" fmla="*/ 6780599 h 6858000"/>
              <a:gd name="connsiteX6" fmla="*/ 0 w 2756893"/>
              <a:gd name="connsiteY6" fmla="*/ 6858000 h 6858000"/>
              <a:gd name="connsiteX7" fmla="*/ 40637 w 2756893"/>
              <a:gd name="connsiteY7" fmla="*/ 6858000 h 6858000"/>
              <a:gd name="connsiteX8" fmla="*/ 254139 w 2756893"/>
              <a:gd name="connsiteY8" fmla="*/ 6858000 h 6858000"/>
              <a:gd name="connsiteX9" fmla="*/ 365895 w 2756893"/>
              <a:gd name="connsiteY9" fmla="*/ 6780599 h 6858000"/>
              <a:gd name="connsiteX10" fmla="*/ 882543 w 2756893"/>
              <a:gd name="connsiteY10" fmla="*/ 6374814 h 6858000"/>
              <a:gd name="connsiteX11" fmla="*/ 2756893 w 2756893"/>
              <a:gd name="connsiteY11" fmla="*/ 3621656 h 6858000"/>
              <a:gd name="connsiteX12" fmla="*/ 1155994 w 2756893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56893" h="6858000">
                <a:moveTo>
                  <a:pt x="1133870" y="0"/>
                </a:moveTo>
                <a:lnTo>
                  <a:pt x="898082" y="0"/>
                </a:lnTo>
                <a:lnTo>
                  <a:pt x="920668" y="14997"/>
                </a:lnTo>
                <a:cubicBezTo>
                  <a:pt x="1969257" y="754641"/>
                  <a:pt x="2554961" y="2093192"/>
                  <a:pt x="2554961" y="3621656"/>
                </a:cubicBezTo>
                <a:cubicBezTo>
                  <a:pt x="2554961" y="4969131"/>
                  <a:pt x="1606863" y="5602839"/>
                  <a:pt x="641513" y="6374814"/>
                </a:cubicBezTo>
                <a:cubicBezTo>
                  <a:pt x="465717" y="6515397"/>
                  <a:pt x="291531" y="6653108"/>
                  <a:pt x="114086" y="6780599"/>
                </a:cubicBezTo>
                <a:lnTo>
                  <a:pt x="0" y="6858000"/>
                </a:lnTo>
                <a:lnTo>
                  <a:pt x="40637" y="6858000"/>
                </a:lnTo>
                <a:lnTo>
                  <a:pt x="254139" y="6858000"/>
                </a:lnTo>
                <a:lnTo>
                  <a:pt x="365895" y="6780599"/>
                </a:lnTo>
                <a:cubicBezTo>
                  <a:pt x="539713" y="6653108"/>
                  <a:pt x="710340" y="6515397"/>
                  <a:pt x="882543" y="6374814"/>
                </a:cubicBezTo>
                <a:cubicBezTo>
                  <a:pt x="1828168" y="5602839"/>
                  <a:pt x="2756893" y="4969131"/>
                  <a:pt x="2756893" y="3621656"/>
                </a:cubicBezTo>
                <a:cubicBezTo>
                  <a:pt x="2756893" y="2093192"/>
                  <a:pt x="2183157" y="754641"/>
                  <a:pt x="1155994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 4" descr="Une image contenant transport, plein air, eau, ciel&#10;&#10;Description générée automatiquement">
            <a:extLst>
              <a:ext uri="{FF2B5EF4-FFF2-40B4-BE49-F238E27FC236}">
                <a16:creationId xmlns:a16="http://schemas.microsoft.com/office/drawing/2014/main" id="{B9E3C56C-7AD5-0106-FD3E-84DAD4F1C9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074" b="-1"/>
          <a:stretch/>
        </p:blipFill>
        <p:spPr>
          <a:xfrm>
            <a:off x="2644776" y="10"/>
            <a:ext cx="9547224" cy="6857990"/>
          </a:xfrm>
          <a:custGeom>
            <a:avLst/>
            <a:gdLst/>
            <a:ahLst/>
            <a:cxnLst/>
            <a:rect l="l" t="t" r="r" b="b"/>
            <a:pathLst>
              <a:path w="9547224" h="6858000">
                <a:moveTo>
                  <a:pt x="1623023" y="0"/>
                </a:moveTo>
                <a:lnTo>
                  <a:pt x="2716256" y="0"/>
                </a:lnTo>
                <a:lnTo>
                  <a:pt x="3032455" y="0"/>
                </a:lnTo>
                <a:lnTo>
                  <a:pt x="3496422" y="0"/>
                </a:lnTo>
                <a:lnTo>
                  <a:pt x="5205951" y="0"/>
                </a:lnTo>
                <a:lnTo>
                  <a:pt x="9547224" y="0"/>
                </a:lnTo>
                <a:lnTo>
                  <a:pt x="9547224" y="6858000"/>
                </a:lnTo>
                <a:lnTo>
                  <a:pt x="5205951" y="6858000"/>
                </a:lnTo>
                <a:lnTo>
                  <a:pt x="3496422" y="6858000"/>
                </a:lnTo>
                <a:lnTo>
                  <a:pt x="3032455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  <p:sp>
        <p:nvSpPr>
          <p:cNvPr id="148" name="Freeform: Shape 37">
            <a:extLst>
              <a:ext uri="{FF2B5EF4-FFF2-40B4-BE49-F238E27FC236}">
                <a16:creationId xmlns:a16="http://schemas.microsoft.com/office/drawing/2014/main" id="{B1F9B6B4-B0C4-45C6-A086-901C960D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44774" y="0"/>
            <a:ext cx="2756893" cy="6858000"/>
          </a:xfrm>
          <a:custGeom>
            <a:avLst/>
            <a:gdLst>
              <a:gd name="connsiteX0" fmla="*/ 1133870 w 2756893"/>
              <a:gd name="connsiteY0" fmla="*/ 0 h 6858000"/>
              <a:gd name="connsiteX1" fmla="*/ 898082 w 2756893"/>
              <a:gd name="connsiteY1" fmla="*/ 0 h 6858000"/>
              <a:gd name="connsiteX2" fmla="*/ 920668 w 2756893"/>
              <a:gd name="connsiteY2" fmla="*/ 14997 h 6858000"/>
              <a:gd name="connsiteX3" fmla="*/ 2554961 w 2756893"/>
              <a:gd name="connsiteY3" fmla="*/ 3621656 h 6858000"/>
              <a:gd name="connsiteX4" fmla="*/ 641513 w 2756893"/>
              <a:gd name="connsiteY4" fmla="*/ 6374814 h 6858000"/>
              <a:gd name="connsiteX5" fmla="*/ 114086 w 2756893"/>
              <a:gd name="connsiteY5" fmla="*/ 6780599 h 6858000"/>
              <a:gd name="connsiteX6" fmla="*/ 0 w 2756893"/>
              <a:gd name="connsiteY6" fmla="*/ 6858000 h 6858000"/>
              <a:gd name="connsiteX7" fmla="*/ 40637 w 2756893"/>
              <a:gd name="connsiteY7" fmla="*/ 6858000 h 6858000"/>
              <a:gd name="connsiteX8" fmla="*/ 254139 w 2756893"/>
              <a:gd name="connsiteY8" fmla="*/ 6858000 h 6858000"/>
              <a:gd name="connsiteX9" fmla="*/ 365895 w 2756893"/>
              <a:gd name="connsiteY9" fmla="*/ 6780599 h 6858000"/>
              <a:gd name="connsiteX10" fmla="*/ 882543 w 2756893"/>
              <a:gd name="connsiteY10" fmla="*/ 6374814 h 6858000"/>
              <a:gd name="connsiteX11" fmla="*/ 2756893 w 2756893"/>
              <a:gd name="connsiteY11" fmla="*/ 3621656 h 6858000"/>
              <a:gd name="connsiteX12" fmla="*/ 1155994 w 2756893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56893" h="6858000">
                <a:moveTo>
                  <a:pt x="1133870" y="0"/>
                </a:moveTo>
                <a:lnTo>
                  <a:pt x="898082" y="0"/>
                </a:lnTo>
                <a:lnTo>
                  <a:pt x="920668" y="14997"/>
                </a:lnTo>
                <a:cubicBezTo>
                  <a:pt x="1969257" y="754641"/>
                  <a:pt x="2554961" y="2093192"/>
                  <a:pt x="2554961" y="3621656"/>
                </a:cubicBezTo>
                <a:cubicBezTo>
                  <a:pt x="2554961" y="4969131"/>
                  <a:pt x="1606863" y="5602839"/>
                  <a:pt x="641513" y="6374814"/>
                </a:cubicBezTo>
                <a:cubicBezTo>
                  <a:pt x="465717" y="6515397"/>
                  <a:pt x="291531" y="6653108"/>
                  <a:pt x="114086" y="6780599"/>
                </a:cubicBezTo>
                <a:lnTo>
                  <a:pt x="0" y="6858000"/>
                </a:lnTo>
                <a:lnTo>
                  <a:pt x="40637" y="6858000"/>
                </a:lnTo>
                <a:lnTo>
                  <a:pt x="254139" y="6858000"/>
                </a:lnTo>
                <a:lnTo>
                  <a:pt x="365895" y="6780599"/>
                </a:lnTo>
                <a:cubicBezTo>
                  <a:pt x="539713" y="6653108"/>
                  <a:pt x="710340" y="6515397"/>
                  <a:pt x="882543" y="6374814"/>
                </a:cubicBezTo>
                <a:cubicBezTo>
                  <a:pt x="1828168" y="5602839"/>
                  <a:pt x="2756893" y="4969131"/>
                  <a:pt x="2756893" y="3621656"/>
                </a:cubicBezTo>
                <a:cubicBezTo>
                  <a:pt x="2756893" y="2093192"/>
                  <a:pt x="2183157" y="754641"/>
                  <a:pt x="1155994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68EE8BC-E6EE-D2C9-B384-577046059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3928" y="6355080"/>
            <a:ext cx="1188720" cy="365760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561F920F-C3A0-B746-ABCF-5D6944578781}" type="slidenum">
              <a:rPr lang="fr-FR" sz="1600">
                <a:solidFill>
                  <a:srgbClr val="FFFFFF"/>
                </a:solidFill>
              </a:rPr>
              <a:pPr algn="l">
                <a:spcAft>
                  <a:spcPts val="600"/>
                </a:spcAft>
              </a:pPr>
              <a:t>7</a:t>
            </a:fld>
            <a:endParaRPr lang="fr-FR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84297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356</Words>
  <Application>Microsoft Office PowerPoint</Application>
  <PresentationFormat>Grand écran</PresentationFormat>
  <Paragraphs>83</Paragraphs>
  <Slides>7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5" baseType="lpstr">
      <vt:lpstr>Meiryo</vt:lpstr>
      <vt:lpstr>Aptos</vt:lpstr>
      <vt:lpstr>Aptos Display</vt:lpstr>
      <vt:lpstr>Arial</vt:lpstr>
      <vt:lpstr>Arial,Sans-Serif</vt:lpstr>
      <vt:lpstr>Wingdings</vt:lpstr>
      <vt:lpstr>Wingdings,Sans-Serif</vt:lpstr>
      <vt:lpstr>Thème Office</vt:lpstr>
      <vt:lpstr>Analyse critique des résultats économiques de la flotte de pêche française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Chakra</dc:creator>
  <cp:lastModifiedBy>Maxence Abric--Segarra</cp:lastModifiedBy>
  <cp:revision>1</cp:revision>
  <dcterms:created xsi:type="dcterms:W3CDTF">2024-11-14T20:42:26Z</dcterms:created>
  <dcterms:modified xsi:type="dcterms:W3CDTF">2024-11-15T16:36:59Z</dcterms:modified>
</cp:coreProperties>
</file>