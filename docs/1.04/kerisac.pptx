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omments/modernComment_105_D2B6BBF1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2" r:id="rId1"/>
  </p:sldMasterIdLst>
  <p:notesMasterIdLst>
    <p:notesMasterId r:id="rId16"/>
  </p:notesMasterIdLst>
  <p:sldIdLst>
    <p:sldId id="257" r:id="rId2"/>
    <p:sldId id="258" r:id="rId3"/>
    <p:sldId id="259" r:id="rId4"/>
    <p:sldId id="265" r:id="rId5"/>
    <p:sldId id="262" r:id="rId6"/>
    <p:sldId id="266" r:id="rId7"/>
    <p:sldId id="267" r:id="rId8"/>
    <p:sldId id="268" r:id="rId9"/>
    <p:sldId id="260" r:id="rId10"/>
    <p:sldId id="269" r:id="rId11"/>
    <p:sldId id="270" r:id="rId12"/>
    <p:sldId id="261" r:id="rId13"/>
    <p:sldId id="271" r:id="rId14"/>
    <p:sldId id="272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1EEC956C-0DD7-456A-BF43-796DC29C633C}">
          <p14:sldIdLst>
            <p14:sldId id="257"/>
          </p14:sldIdLst>
        </p14:section>
        <p14:section name="Section sans titre" id="{5F09179B-1A23-4827-9AB0-1EBBB6E8CABD}">
          <p14:sldIdLst>
            <p14:sldId id="258"/>
            <p14:sldId id="259"/>
            <p14:sldId id="265"/>
            <p14:sldId id="262"/>
            <p14:sldId id="266"/>
            <p14:sldId id="267"/>
            <p14:sldId id="268"/>
            <p14:sldId id="260"/>
            <p14:sldId id="269"/>
            <p14:sldId id="270"/>
            <p14:sldId id="261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8BF004-1940-8ED9-772F-8729DF9C457E}" name="Paul Uguen" initials="PU" userId="S::uguen.e2400676@etud.univ-ubs.fr::d9165bc1-c8c4-4ff7-9f7c-52e8b9f39ec4" providerId="AD"/>
  <p188:author id="{0DC94B5D-7817-2D35-ECBC-D532655D43F2}" name="Elias Leclercq" initials="EL" userId="S::leclercq.e2403781@etud.univ-ubs.fr::a810317e-da18-475d-b48d-8fce2cf7ba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2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AE94F-1C9B-5593-B44E-CD6CC88FF6F4}" v="854" dt="2025-01-07T11:53:58.579"/>
    <p1510:client id="{0B236A42-AC5C-55A0-FBCA-76D15166A5D9}" v="26" dt="2025-01-08T10:39:18.403"/>
    <p1510:client id="{165E2FFB-559B-240C-BE2D-16525BC24D4D}" v="468" dt="2025-01-08T22:30:03.643"/>
    <p1510:client id="{27ED757E-8109-43F6-B312-8E722ECBD7F4}" v="1" dt="2025-05-29T13:55:59.358"/>
    <p1510:client id="{28946144-F54D-0F59-A8AF-63CC35C1C82C}" v="1119" dt="2025-01-07T11:58:02.979"/>
    <p1510:client id="{2D138182-9196-51D5-1FA9-387EA9FFD47D}" v="28" dt="2025-01-08T10:40:20.486"/>
    <p1510:client id="{3AE8DF20-3A98-B275-7B89-D479D195D019}" v="195" dt="2025-01-08T23:44:37.982"/>
    <p1510:client id="{3DF9AB62-87CD-378A-07E9-AA591D7296AE}" v="161" dt="2025-01-08T07:55:33.187"/>
    <p1510:client id="{46676F9A-69F4-2515-8FC1-8FC45E84EDE0}" v="155" dt="2025-01-09T09:19:05.629"/>
    <p1510:client id="{620C0D32-5A9F-9C63-0120-A6E7D1058564}" v="1776" dt="2025-01-08T09:11:07.969"/>
    <p1510:client id="{6B4EBEF2-F7C6-3D43-C8D2-2B4863453637}" v="320" dt="2025-01-07T11:14:52.607"/>
    <p1510:client id="{70211767-4483-1992-82EB-5E5C1D806E5B}" v="25" dt="2025-01-08T23:14:43.877"/>
    <p1510:client id="{72BA3F23-77A7-D72D-7253-15F801D23290}" v="15" dt="2025-01-07T10:31:48.069"/>
    <p1510:client id="{7E5BB99D-403A-60E4-31CF-1CAE5D204DC1}" v="59" dt="2025-01-07T12:47:20.025"/>
    <p1510:client id="{7ED524A4-3BBF-7CFB-D9BF-2D4D1D3DA4F6}" v="2" dt="2025-01-09T07:16:41.408"/>
    <p1510:client id="{8C66FD8D-ED89-263D-5805-428F6174D235}" v="133" dt="2025-01-08T21:14:11.538"/>
    <p1510:client id="{AE16B70B-3F5F-B76D-EFD0-4A0583AD7634}" v="5" dt="2025-01-09T07:07:04.775"/>
    <p1510:client id="{B93CA8CA-E67E-BF4E-A776-1BC026022003}" v="222" vWet="234" dt="2025-01-07T10:07:42.233"/>
    <p1510:client id="{BE1B35B2-B59F-C8CE-368D-38B0FA24DFA5}" v="286" dt="2025-01-08T07:53:04.069"/>
    <p1510:client id="{D03898CF-6F2D-D519-737C-C94156C6BFFC}" v="193" dt="2025-01-08T15:59:01.800"/>
    <p1510:client id="{D24656C9-7B08-B4B6-8806-07A95537D980}" v="212" dt="2025-01-09T09:09:41.389"/>
    <p1510:client id="{EF7E21E9-8EBD-21A1-E7EB-5533F656745B}" v="1" dt="2025-01-07T11:36:40.631"/>
    <p1510:client id="{F1677F39-0EFB-D17A-3C89-BE2A0B2DC79A}" v="28" dt="2025-01-07T11:28:5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5_D2B6BB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D5BAE6-E28A-4A71-9B07-13389E24C02B}" authorId="{A38BF004-1940-8ED9-772F-8729DF9C457E}" created="2025-01-06T10:15:55.475" startDate="2025-01-06T10:16:59.337" dueDate="2025-01-06T10:16:59.337" assignedTo="{A38BF004-1940-8ED9-772F-8729DF9C457E}" title="@Paul Uguen j'adore ça pourtant tu devrais essayer">
    <pc:sldMkLst xmlns:pc="http://schemas.microsoft.com/office/powerpoint/2013/main/command">
      <pc:docMk/>
      <pc:sldMk cId="3535191025" sldId="261"/>
    </pc:sldMkLst>
    <p188:replyLst>
      <p188:reply id="{F8E7863A-8093-4F0C-9D59-C1BFAFF5CEE4}" authorId="{0DC94B5D-7817-2D35-ECBC-D532655D43F2}" created="2025-01-06T10:16:59.337">
        <p188:txBody>
          <a:bodyPr/>
          <a:lstStyle/>
          <a:p>
            <a:r>
              <a:rPr lang="fr-FR"/>
              <a:t>[@Paul Uguen] j'adore ça pourtant tu devrais essayer</a:t>
            </a:r>
          </a:p>
        </p188:txBody>
      </p188:reply>
      <p188:reply id="{5BD5E5E5-FEB0-48F4-A1D0-F670672521FC}" authorId="{0DC94B5D-7817-2D35-ECBC-D532655D43F2}" created="2025-01-06T10:17:05.837">
        <p188:txBody>
          <a:bodyPr/>
          <a:lstStyle/>
          <a:p>
            <a:r>
              <a:rPr lang="fr-FR"/>
              <a:t>j'ai dormi 3h</a:t>
            </a:r>
          </a:p>
        </p188:txBody>
      </p188:reply>
      <p188:reply id="{0BF8469B-5DF9-434A-A89F-EBE04DE3E0CB}" authorId="{A38BF004-1940-8ED9-772F-8729DF9C457E}" created="2025-01-06T10:20:29.812">
        <p188:txBody>
          <a:bodyPr/>
          <a:lstStyle/>
          <a:p>
            <a:r>
              <a:rPr lang="fr-FR"/>
              <a:t>ca me passe au dessus timagine pas </a:t>
            </a:r>
          </a:p>
        </p188:txBody>
      </p188:reply>
    </p188:replyLst>
    <p188:txBody>
      <a:bodyPr/>
      <a:lstStyle/>
      <a:p>
        <a:r>
          <a:rPr lang="fr-FR"/>
          <a:t>[@Elias Leclercq] arrete de te la toucher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1-06T10:16:59.337" id="{0101B6C8-5E23-46E3-B558-0C5D38ACDFE9}">
              <p228:atrbtn authorId="{0DC94B5D-7817-2D35-ECBC-D532655D43F2}"/>
              <p228:anchr>
                <p228:comment id="{F8E7863A-8093-4F0C-9D59-C1BFAFF5CEE4}"/>
              </p228:anchr>
              <p228:add/>
            </p228:event>
            <p228:event time="2025-01-06T10:16:59.337" id="{3C3108E1-8F16-4349-81E9-E5B5E27177F9}">
              <p228:atrbtn authorId="{0DC94B5D-7817-2D35-ECBC-D532655D43F2}"/>
              <p228:anchr>
                <p228:comment id="{F8E7863A-8093-4F0C-9D59-C1BFAFF5CEE4}"/>
              </p228:anchr>
              <p228:asgn authorId="{A38BF004-1940-8ED9-772F-8729DF9C457E}"/>
            </p228:event>
            <p228:event time="2025-01-06T10:16:59.337" id="{920A14FF-7E57-45B4-8EB5-226D70C639AE}">
              <p228:atrbtn authorId="{0DC94B5D-7817-2D35-ECBC-D532655D43F2}"/>
              <p228:anchr>
                <p228:comment id="{F8E7863A-8093-4F0C-9D59-C1BFAFF5CEE4}"/>
              </p228:anchr>
              <p228:date stDt="2025-01-06T10:16:59.337" endDt="2025-01-06T10:16:59.337"/>
            </p228:event>
            <p228:event time="2025-01-06T10:16:59.337" id="{8B0770F8-5AB1-427D-B3DF-C018E8286CD4}">
              <p228:atrbtn authorId="{0DC94B5D-7817-2D35-ECBC-D532655D43F2}"/>
              <p228:anchr>
                <p228:comment id="{F8E7863A-8093-4F0C-9D59-C1BFAFF5CEE4}"/>
              </p228:anchr>
              <p228:title val="@Paul Uguen j'adore ça pourtant tu devrais essayer"/>
            </p228:event>
          </p228:history>
        </p228:taskDetails>
      </p:ext>
    </p188:extLst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09T09:05:51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17436 13705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09T09:05:51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17436 13705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09T09:05:51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17436 13705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BAD2C-DDE5-49D4-874C-E3781D084959}" type="datetimeFigureOut">
              <a:t>29/05/2025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27EB-EBBE-45F2-8B35-0D9EAA5138B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1913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27EB-EBBE-45F2-8B35-0D9EAA5138BC}" type="slidenum"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92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1166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3474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35443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4758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630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8022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6446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6836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752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4191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7457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53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customXml" Target="../ink/ink3.xml"/><Relationship Id="rId4" Type="http://schemas.openxmlformats.org/officeDocument/2006/relationships/image" Target="../media/image3.png"/><Relationship Id="rId9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5_D2B6BBF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10A5A8E3-84D1-7AF1-F56F-2BCC354E4D49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F25C1D6A-261B-7F0C-5077-0904B69EDA7E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" name="Image 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39D3184-CC29-72F3-A069-5086830C07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8" name="Image 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D3F7A51-6193-A029-077A-978122396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9" name="Image 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7764E05-4D06-50CB-66AA-397D694B3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A4E86EFD-B0A5-E206-C197-8213574C57F7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0DF73C61-5BC7-8B8B-A2D9-815B8918A8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DBB2F44-E6E7-A229-8677-BE5D403DBC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0A114C9-75A4-7DC8-FF61-3396748FDA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C07E6228-7B00-EBAD-F194-6AF259907955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0468119-8AD6-75C0-DC01-20EE55861D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C713550-56C1-E850-7A85-49FFDAF0D1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ECE9B812-B1FD-5300-7534-B86C0BE8C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D2837C1F-8C4A-DAC6-FCD0-A30967A91173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2D374F0B-AFB0-5FCB-B4E7-E96B0EAEB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0CB89F40-3EB2-86D1-B4AD-FEC2CA658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4" name="Image 2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5D0F6F2-EAF9-D2FF-858E-7CF46A41C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pic>
        <p:nvPicPr>
          <p:cNvPr id="5" name="Image 4" descr="Une image contenant dessin humoristique, Visage humain, affiche, Graphique&#10;&#10;Description générée automatiquement">
            <a:extLst>
              <a:ext uri="{FF2B5EF4-FFF2-40B4-BE49-F238E27FC236}">
                <a16:creationId xmlns:a16="http://schemas.microsoft.com/office/drawing/2014/main" id="{02E6A870-6A76-C618-006B-07BED02FA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849" y="1635438"/>
            <a:ext cx="5559893" cy="21720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A9B95F8-B6AB-C9C0-B6FE-FF29829F788A}"/>
              </a:ext>
            </a:extLst>
          </p:cNvPr>
          <p:cNvSpPr txBox="1"/>
          <p:nvPr/>
        </p:nvSpPr>
        <p:spPr>
          <a:xfrm>
            <a:off x="-961869" y="3937583"/>
            <a:ext cx="1344858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500">
                <a:latin typeface="Rockwell"/>
              </a:rPr>
              <a:t>ABRIC--SEGARRA Maxence</a:t>
            </a:r>
            <a:endParaRPr lang="fr-FR">
              <a:latin typeface="Rockwell"/>
            </a:endParaRPr>
          </a:p>
          <a:p>
            <a:pPr algn="ctr"/>
            <a:r>
              <a:rPr lang="fr-FR" sz="1500">
                <a:latin typeface="Rockwell"/>
              </a:rPr>
              <a:t>CHAKRA Adam</a:t>
            </a:r>
            <a:endParaRPr lang="fr-FR">
              <a:latin typeface="Rockwell"/>
            </a:endParaRPr>
          </a:p>
          <a:p>
            <a:pPr algn="ctr"/>
            <a:r>
              <a:rPr lang="fr-FR" sz="1500">
                <a:latin typeface="Rockwell"/>
              </a:rPr>
              <a:t>LECLERCQ Elias</a:t>
            </a:r>
            <a:endParaRPr lang="fr-FR">
              <a:latin typeface="Rockwell"/>
            </a:endParaRPr>
          </a:p>
          <a:p>
            <a:pPr algn="ctr"/>
            <a:r>
              <a:rPr lang="fr-FR" sz="1500">
                <a:latin typeface="Rockwell"/>
              </a:rPr>
              <a:t>UGUEN Paul </a:t>
            </a:r>
            <a:endParaRPr lang="fr-FR">
              <a:latin typeface="Rockwell"/>
            </a:endParaRPr>
          </a:p>
        </p:txBody>
      </p:sp>
      <p:pic>
        <p:nvPicPr>
          <p:cNvPr id="10" name="Image 9" descr="Catalogue de formations 2023 - IUT de Vannes">
            <a:extLst>
              <a:ext uri="{FF2B5EF4-FFF2-40B4-BE49-F238E27FC236}">
                <a16:creationId xmlns:a16="http://schemas.microsoft.com/office/drawing/2014/main" id="{381BF3FB-362A-21FC-67D7-AA2AC9039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354" y="-36009"/>
            <a:ext cx="1905000" cy="14287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A6C506A-4B39-781B-8493-390BD6B71532}"/>
              </a:ext>
            </a:extLst>
          </p:cNvPr>
          <p:cNvSpPr/>
          <p:nvPr/>
        </p:nvSpPr>
        <p:spPr>
          <a:xfrm>
            <a:off x="11704320" y="6512560"/>
            <a:ext cx="518160" cy="31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2C7FEDF-2F37-A1A8-FEFB-1832FF79232D}"/>
              </a:ext>
            </a:extLst>
          </p:cNvPr>
          <p:cNvSpPr txBox="1"/>
          <p:nvPr/>
        </p:nvSpPr>
        <p:spPr>
          <a:xfrm>
            <a:off x="5064511" y="5036634"/>
            <a:ext cx="1414347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500">
                <a:latin typeface="Rockwell"/>
                <a:ea typeface="Calibri"/>
                <a:cs typeface="Calibri"/>
              </a:rPr>
              <a:t>01/09/2025</a:t>
            </a:r>
            <a:endParaRPr lang="fr-FR" sz="1500">
              <a:latin typeface="Rockwell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41F7B9-ACED-A01C-4DD7-F138AB73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160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06E9C670-9746-41DB-F897-E2B9C482ADAB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71A5D20D-9C8B-72BD-E346-4B4238ACAF86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432C2148-D413-DD67-6424-B6527E7303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DF166F4-7B43-1136-2E5A-B73E6536A0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19F755E-0A2A-701B-1FDE-C3DB01BC34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AD274230-3D0C-1AEF-B7EB-82561DB1ABCD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2FD07230-D65C-3503-DDFA-8C3C4E84D0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D134EA9-98EB-863E-5C56-DD7A98364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ABE3C4A-2984-9331-1C22-ABA9C4F6B3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8CCF05A9-AA29-2882-E24B-F28080277A56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0D54B6A-CC57-F4D2-5125-2338F7EC4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B5DC86D-FF11-E22D-425C-7ABFD01BD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E2172045-FE09-C10F-A8F6-2A1DE9DA6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0F66B463-C627-AB7F-8342-D68C14E5014F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2" name="Image 1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28E7B5A-0859-1F5F-2E04-3CE8603949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3" name="Image 1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9DD8DA0-43CD-9794-33A7-C67D57933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17788E7-C619-EA1A-1661-A9F23FC98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CF0E11AB-3EC6-FE6E-6B1C-59101F2A535E}"/>
              </a:ext>
            </a:extLst>
          </p:cNvPr>
          <p:cNvSpPr txBox="1"/>
          <p:nvPr/>
        </p:nvSpPr>
        <p:spPr>
          <a:xfrm>
            <a:off x="4794314" y="392734"/>
            <a:ext cx="259744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>
                <a:latin typeface="Rockwell"/>
              </a:rPr>
              <a:t>Table of contents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AEEB8C5-60DA-57BD-0953-D1AB16A64076}"/>
              </a:ext>
            </a:extLst>
          </p:cNvPr>
          <p:cNvSpPr txBox="1"/>
          <p:nvPr/>
        </p:nvSpPr>
        <p:spPr>
          <a:xfrm>
            <a:off x="1290320" y="2042160"/>
            <a:ext cx="7745396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 sz="200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err="1">
                <a:latin typeface="Rockwell"/>
              </a:rPr>
              <a:t>Presentation</a:t>
            </a:r>
            <a:r>
              <a:rPr lang="fr-FR" sz="2000">
                <a:latin typeface="Rockwell"/>
              </a:rPr>
              <a:t> of </a:t>
            </a:r>
            <a:r>
              <a:rPr lang="fr-FR" sz="2000" err="1">
                <a:latin typeface="Rockwell"/>
              </a:rPr>
              <a:t>Kerisac</a:t>
            </a:r>
            <a:r>
              <a:rPr lang="fr-FR" sz="2000">
                <a:latin typeface="Rockwell"/>
              </a:rPr>
              <a:t> and </a:t>
            </a:r>
            <a:r>
              <a:rPr lang="fr-FR" sz="2000" err="1">
                <a:latin typeface="Rockwell"/>
              </a:rPr>
              <a:t>our</a:t>
            </a:r>
            <a:r>
              <a:rPr lang="fr-FR" sz="2000">
                <a:latin typeface="Rockwell"/>
              </a:rPr>
              <a:t> </a:t>
            </a:r>
            <a:r>
              <a:rPr lang="fr-FR" sz="2000" err="1">
                <a:latin typeface="Rockwell"/>
              </a:rPr>
              <a:t>project</a:t>
            </a:r>
            <a:endParaRPr lang="fr-FR" sz="2000">
              <a:latin typeface="Rockwell"/>
            </a:endParaRPr>
          </a:p>
          <a:p>
            <a:endParaRPr lang="fr-FR" sz="200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err="1">
                <a:latin typeface="Rockwell"/>
              </a:rPr>
              <a:t>Why</a:t>
            </a:r>
            <a:r>
              <a:rPr lang="fr-FR" sz="2000">
                <a:latin typeface="Rockwell"/>
              </a:rPr>
              <a:t> </a:t>
            </a:r>
            <a:r>
              <a:rPr lang="fr-FR" sz="2000" err="1">
                <a:latin typeface="Rockwell"/>
              </a:rPr>
              <a:t>this</a:t>
            </a:r>
            <a:r>
              <a:rPr lang="fr-FR" sz="2000">
                <a:latin typeface="Rockwell"/>
              </a:rPr>
              <a:t> country?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>
                <a:latin typeface="Rockwell"/>
              </a:rPr>
              <a:t>How </a:t>
            </a:r>
            <a:r>
              <a:rPr lang="fr-FR" sz="2000" err="1">
                <a:latin typeface="Rockwell"/>
              </a:rPr>
              <a:t>will</a:t>
            </a:r>
            <a:r>
              <a:rPr lang="fr-FR" sz="2000">
                <a:latin typeface="Rockwell"/>
              </a:rPr>
              <a:t> </a:t>
            </a:r>
            <a:r>
              <a:rPr lang="fr-FR" sz="2000" err="1">
                <a:latin typeface="Rockwell"/>
              </a:rPr>
              <a:t>it</a:t>
            </a:r>
            <a:r>
              <a:rPr lang="fr-FR" sz="2000">
                <a:latin typeface="Rockwell"/>
              </a:rPr>
              <a:t> </a:t>
            </a:r>
            <a:r>
              <a:rPr lang="fr-FR" sz="2000" err="1">
                <a:latin typeface="Rockwell"/>
              </a:rPr>
              <a:t>result</a:t>
            </a:r>
            <a:r>
              <a:rPr lang="fr-FR" sz="2000">
                <a:latin typeface="Rockwell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>
                <a:latin typeface="Rockwell"/>
              </a:rPr>
              <a:t>PESTEL </a:t>
            </a:r>
            <a:r>
              <a:rPr lang="fr-FR" sz="2000" err="1">
                <a:latin typeface="Rockwell"/>
              </a:rPr>
              <a:t>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>
                <a:latin typeface="Rockwell"/>
              </a:rPr>
              <a:t>Conclusion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952C3F4-D25A-3E65-3663-68A0E200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fr-FR"/>
          </a:p>
        </p:txBody>
      </p:sp>
      <p:pic>
        <p:nvPicPr>
          <p:cNvPr id="5" name="Image 4" descr="Catalogue de formations 2023 - IUT de Vannes">
            <a:extLst>
              <a:ext uri="{FF2B5EF4-FFF2-40B4-BE49-F238E27FC236}">
                <a16:creationId xmlns:a16="http://schemas.microsoft.com/office/drawing/2014/main" id="{10A3131C-B112-4D88-BAF5-F825DBD96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  <p:sp>
        <p:nvSpPr>
          <p:cNvPr id="8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01/09/2025</a:t>
            </a:r>
          </a:p>
        </p:txBody>
      </p:sp>
      <p:pic>
        <p:nvPicPr>
          <p:cNvPr id="25" name="Image 24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DEC9537A-14F3-F137-3E44-DD9D14624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4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435123A5-79AB-B16B-5FA2-6217C44E6F07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AD756751-EB4E-7C61-9C67-14204BDF9613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6" name="Image 2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42E190F4-1FED-BAB8-80D6-43097A0E7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1DFAC2E-7A88-8F2D-7F6A-9691B7630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8" name="Image 2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08D8E50-98A8-9A3E-7328-580B49B682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CCFD2819-297F-3432-CA11-BA89BA8E85DF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E9DCC5D-E054-2EB7-ED6F-E3BE537708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4" name="Image 2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7DE84D4-E4A8-2DA7-6AAE-AE3C98D65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5" name="Image 2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3AC528B-2D29-8B0F-D398-8462B6C77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D58EFE9B-D27D-7BB7-2230-A7AB07606EDA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A0F153A-76FE-9B8B-D6B7-9EE54B5E1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5007731-368F-901B-5E4D-C1BB08C346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4CA3617-CFC4-2A0D-A86E-273E7B1F06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E310825A-0343-25E5-5949-29F625DDFDE1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D853B86-0613-8663-4A6A-19DED4E3C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EB8AB7AD-8958-88A2-89B7-D2CC2FF1C6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C40BBE1-2CE1-F3DD-8272-5CF72AF7EA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126B493-932A-6794-0B43-AF294B52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167D-D297-4C17-B552-4A7D0534AE68}" type="datetime1">
              <a:rPr lang="en-US"/>
              <a:t>5/29/2025</a:t>
            </a:fld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9D7EF-7CF4-0B24-E455-5D0F5A82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8F980D6-921A-A480-FA20-71A230590E00}"/>
              </a:ext>
            </a:extLst>
          </p:cNvPr>
          <p:cNvSpPr txBox="1"/>
          <p:nvPr/>
        </p:nvSpPr>
        <p:spPr>
          <a:xfrm>
            <a:off x="1061251" y="1883136"/>
            <a:ext cx="8839200" cy="26314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500" b="1">
                <a:latin typeface="Rockwell"/>
              </a:rPr>
              <a:t>Producer</a:t>
            </a:r>
            <a:r>
              <a:rPr lang="fr-FR" sz="1500">
                <a:latin typeface="Rockwell"/>
              </a:rPr>
              <a:t>: Établissements Guillet Frères, </a:t>
            </a:r>
            <a:r>
              <a:rPr lang="fr-FR" sz="1500" err="1">
                <a:latin typeface="Rockwell"/>
              </a:rPr>
              <a:t>family-owned</a:t>
            </a:r>
            <a:r>
              <a:rPr lang="fr-FR" sz="1500">
                <a:latin typeface="Rockwell"/>
              </a:rPr>
              <a:t> business</a:t>
            </a:r>
          </a:p>
          <a:p>
            <a:pPr marL="285750" indent="-285750">
              <a:buFont typeface="Arial"/>
              <a:buChar char="•"/>
            </a:pPr>
            <a:endParaRPr lang="fr-FR" sz="15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500" b="1" err="1">
                <a:latin typeface="Rockwell"/>
              </a:rPr>
              <a:t>Founded</a:t>
            </a:r>
            <a:r>
              <a:rPr lang="fr-FR" sz="1500">
                <a:latin typeface="Rockwell"/>
              </a:rPr>
              <a:t>: 1954, Brittany, France</a:t>
            </a:r>
          </a:p>
          <a:p>
            <a:pPr marL="285750" indent="-285750">
              <a:buFont typeface="Arial"/>
              <a:buChar char="•"/>
            </a:pPr>
            <a:endParaRPr lang="fr-FR" sz="15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500" b="1">
                <a:latin typeface="Rockwell"/>
              </a:rPr>
              <a:t>Specialty</a:t>
            </a:r>
            <a:r>
              <a:rPr lang="fr-FR" sz="1500">
                <a:latin typeface="Rockwell"/>
              </a:rPr>
              <a:t>: </a:t>
            </a:r>
            <a:r>
              <a:rPr lang="fr-FR" sz="1500" err="1">
                <a:latin typeface="Rockwell"/>
              </a:rPr>
              <a:t>Ciders</a:t>
            </a:r>
            <a:r>
              <a:rPr lang="fr-FR" sz="1500">
                <a:latin typeface="Rockwell"/>
              </a:rPr>
              <a:t> and </a:t>
            </a:r>
            <a:r>
              <a:rPr lang="fr-FR" sz="1500" err="1">
                <a:latin typeface="Rockwell"/>
              </a:rPr>
              <a:t>apple-based</a:t>
            </a:r>
            <a:r>
              <a:rPr lang="fr-FR" sz="1500">
                <a:latin typeface="Rockwell"/>
              </a:rPr>
              <a:t> </a:t>
            </a:r>
            <a:r>
              <a:rPr lang="fr-FR" sz="1500" err="1">
                <a:latin typeface="Rockwell"/>
              </a:rPr>
              <a:t>beverages</a:t>
            </a:r>
            <a:endParaRPr lang="fr-FR" sz="1500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 sz="15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500" b="1">
                <a:latin typeface="Rockwell"/>
              </a:rPr>
              <a:t>Tradition</a:t>
            </a:r>
            <a:r>
              <a:rPr lang="fr-FR" sz="1500">
                <a:latin typeface="Rockwell"/>
              </a:rPr>
              <a:t>: Breton know-how </a:t>
            </a:r>
            <a:r>
              <a:rPr lang="fr-FR" sz="1500" err="1">
                <a:latin typeface="Rockwell"/>
              </a:rPr>
              <a:t>passed</a:t>
            </a:r>
            <a:r>
              <a:rPr lang="fr-FR" sz="1500">
                <a:latin typeface="Rockwell"/>
              </a:rPr>
              <a:t> down </a:t>
            </a:r>
            <a:r>
              <a:rPr lang="fr-FR" sz="1500" err="1">
                <a:latin typeface="Rockwell"/>
              </a:rPr>
              <a:t>through</a:t>
            </a:r>
            <a:r>
              <a:rPr lang="fr-FR" sz="1500">
                <a:latin typeface="Rockwell"/>
              </a:rPr>
              <a:t> </a:t>
            </a:r>
            <a:r>
              <a:rPr lang="fr-FR" sz="1500" err="1">
                <a:latin typeface="Rockwell"/>
              </a:rPr>
              <a:t>generations</a:t>
            </a:r>
            <a:endParaRPr lang="fr-FR" sz="1500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 sz="1500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500" b="1">
                <a:latin typeface="Rockwell"/>
                <a:ea typeface="Calibri"/>
                <a:cs typeface="Calibri"/>
              </a:rPr>
              <a:t>Employees </a:t>
            </a:r>
            <a:r>
              <a:rPr lang="fr-FR" sz="1500">
                <a:latin typeface="Rockwell"/>
                <a:ea typeface="Calibri"/>
                <a:cs typeface="Calibri"/>
              </a:rPr>
              <a:t>: 49</a:t>
            </a:r>
          </a:p>
          <a:p>
            <a:endParaRPr lang="fr-FR" sz="1500">
              <a:latin typeface="Rockwell"/>
              <a:ea typeface="Calibri"/>
              <a:cs typeface="Calibri"/>
            </a:endParaRPr>
          </a:p>
          <a:p>
            <a:endParaRPr lang="fr-FR" sz="1500">
              <a:ea typeface="Calibri"/>
              <a:cs typeface="Calibri"/>
            </a:endParaRPr>
          </a:p>
        </p:txBody>
      </p:sp>
      <p:pic>
        <p:nvPicPr>
          <p:cNvPr id="7" name="Image 6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377C0D4B-083E-8B11-E86D-CAB705AE9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pic>
        <p:nvPicPr>
          <p:cNvPr id="12" name="Image 11" descr="Catalogue de formations 2023 - IUT de Vannes">
            <a:extLst>
              <a:ext uri="{FF2B5EF4-FFF2-40B4-BE49-F238E27FC236}">
                <a16:creationId xmlns:a16="http://schemas.microsoft.com/office/drawing/2014/main" id="{70D4B2CC-2C88-E2D1-ED11-CE0AB48F0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  <p:pic>
        <p:nvPicPr>
          <p:cNvPr id="5" name="Image 4" descr="Une image contenant boisson, boisson alcoolisée, alcool, nourriture&#10;&#10;Description générée automatiquement">
            <a:extLst>
              <a:ext uri="{FF2B5EF4-FFF2-40B4-BE49-F238E27FC236}">
                <a16:creationId xmlns:a16="http://schemas.microsoft.com/office/drawing/2014/main" id="{60E09193-EB91-F180-C6A2-508CABA09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588" y="1628123"/>
            <a:ext cx="2812525" cy="284324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BC54705F-1A3A-AE41-B5D9-FF4C9F838F8B}"/>
              </a:ext>
            </a:extLst>
          </p:cNvPr>
          <p:cNvSpPr txBox="1"/>
          <p:nvPr/>
        </p:nvSpPr>
        <p:spPr>
          <a:xfrm>
            <a:off x="4724400" y="687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>
                <a:latin typeface="Rockwell"/>
              </a:rPr>
              <a:t>WHAT IS KERISAC?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B3ADBAA-05EE-F546-3DEE-C924B10C33FD}"/>
              </a:ext>
            </a:extLst>
          </p:cNvPr>
          <p:cNvSpPr txBox="1"/>
          <p:nvPr/>
        </p:nvSpPr>
        <p:spPr>
          <a:xfrm>
            <a:off x="4724400" y="375424"/>
            <a:ext cx="2743200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WHY THIS COUNTRY?</a:t>
            </a:r>
          </a:p>
          <a:p>
            <a:pPr algn="ctr"/>
            <a:r>
              <a:rPr lang="fr-FR" sz="1100">
                <a:latin typeface="Rockwell"/>
              </a:rPr>
              <a:t>HOW WILL IT RESULT?</a:t>
            </a:r>
          </a:p>
          <a:p>
            <a:pPr algn="ctr"/>
            <a:r>
              <a:rPr lang="fr-FR" sz="1100">
                <a:latin typeface="Rockwell"/>
              </a:rPr>
              <a:t>PESTEL ANALYSIS</a:t>
            </a:r>
          </a:p>
          <a:p>
            <a:pPr algn="ctr"/>
            <a:endParaRPr lang="fr-FR"/>
          </a:p>
        </p:txBody>
      </p:sp>
      <p:sp>
        <p:nvSpPr>
          <p:cNvPr id="18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01/09/2025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FCD1B8-A7BA-FE21-FC02-79A2775C62C8}"/>
              </a:ext>
            </a:extLst>
          </p:cNvPr>
          <p:cNvSpPr/>
          <p:nvPr/>
        </p:nvSpPr>
        <p:spPr>
          <a:xfrm>
            <a:off x="1133707" y="6551342"/>
            <a:ext cx="901390" cy="176560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768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>
            <a:extLst>
              <a:ext uri="{FF2B5EF4-FFF2-40B4-BE49-F238E27FC236}">
                <a16:creationId xmlns:a16="http://schemas.microsoft.com/office/drawing/2014/main" id="{1E9AE31E-9867-EA77-A244-42441D28F6ED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3FEB0F8B-EA6E-5CC3-1010-749923FB1516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1BD9C4A8-7F8F-9984-4A83-D4048B7D4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8" name="Image 2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1E801A6-48DB-F77F-ED98-68831E302E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9" name="Image 2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0F794BDC-E63F-C459-0011-87AA73CA2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D69C57F0-0732-6FBE-9D63-2480EEC0DA28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24" name="Image 2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00D61A03-85AC-88AD-B108-C6A1DBB21A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5" name="Image 2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021795EA-E7BB-58BF-1CAF-1E510BE5D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6" name="Image 2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BAB98ED-EC38-C1FD-690B-C87CBFE9A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8D82FF14-0053-2A82-D35F-A82B694BC275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A5CC520-DD42-5D82-9876-775E25AC79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D0E4070-BEBF-F178-3611-599F97A85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79CCDA7-7B0A-1FE9-22F1-77A149012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5F1A3DE1-7327-039F-9CC8-9176A8EDC7A6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B6927C2-3CFA-0A13-79A4-5C4BE800DA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BFEB429-3854-8E67-A917-DA5DCF7AF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1FA69A7-39A2-6EC1-FAD3-A42244B89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126B493-932A-6794-0B43-AF294B52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167D-D297-4C17-B552-4A7D0534AE68}" type="datetime1">
              <a:rPr lang="en-US"/>
              <a:t>5/29/2025</a:t>
            </a:fld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9D7EF-7CF4-0B24-E455-5D0F5A82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/>
          </a:p>
        </p:txBody>
      </p:sp>
      <p:pic>
        <p:nvPicPr>
          <p:cNvPr id="5" name="Image 4" descr="Une image contenant diagramme, texte, ligne, Tracé&#10;&#10;Description générée automatiquement">
            <a:extLst>
              <a:ext uri="{FF2B5EF4-FFF2-40B4-BE49-F238E27FC236}">
                <a16:creationId xmlns:a16="http://schemas.microsoft.com/office/drawing/2014/main" id="{425227C0-019B-AD18-435D-06235993F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73" y="1717172"/>
            <a:ext cx="7953840" cy="4241413"/>
          </a:xfrm>
          <a:prstGeom prst="rect">
            <a:avLst/>
          </a:prstGeom>
        </p:spPr>
      </p:pic>
      <p:pic>
        <p:nvPicPr>
          <p:cNvPr id="8" name="Image 7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DD9D946A-1337-2E8C-7985-A27404535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pic>
        <p:nvPicPr>
          <p:cNvPr id="15" name="Image 14" descr="Catalogue de formations 2023 - IUT de Vannes">
            <a:extLst>
              <a:ext uri="{FF2B5EF4-FFF2-40B4-BE49-F238E27FC236}">
                <a16:creationId xmlns:a16="http://schemas.microsoft.com/office/drawing/2014/main" id="{F26F4325-D9F1-ABB4-75AE-19310A93A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C605A44E-8F1C-A933-D3A9-42B6089EF59B}"/>
              </a:ext>
            </a:extLst>
          </p:cNvPr>
          <p:cNvSpPr txBox="1"/>
          <p:nvPr/>
        </p:nvSpPr>
        <p:spPr>
          <a:xfrm>
            <a:off x="4180937" y="1343592"/>
            <a:ext cx="38427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err="1">
                <a:latin typeface="Rockwell"/>
                <a:ea typeface="+mn-lt"/>
                <a:cs typeface="+mn-lt"/>
              </a:rPr>
              <a:t>Kerisac</a:t>
            </a:r>
            <a:r>
              <a:rPr lang="fr-FR">
                <a:latin typeface="Rockwell"/>
                <a:ea typeface="+mn-lt"/>
                <a:cs typeface="+mn-lt"/>
              </a:rPr>
              <a:t> turnover in €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606BE5B-8D88-70C5-9877-640E52B58A57}"/>
              </a:ext>
            </a:extLst>
          </p:cNvPr>
          <p:cNvSpPr txBox="1"/>
          <p:nvPr/>
        </p:nvSpPr>
        <p:spPr>
          <a:xfrm>
            <a:off x="4724400" y="687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>
                <a:latin typeface="Rockwell"/>
              </a:rPr>
              <a:t>WHAT IS KERISAC?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44886A5-E9F1-6137-DBEF-E794954884C2}"/>
              </a:ext>
            </a:extLst>
          </p:cNvPr>
          <p:cNvSpPr txBox="1"/>
          <p:nvPr/>
        </p:nvSpPr>
        <p:spPr>
          <a:xfrm>
            <a:off x="4724400" y="375424"/>
            <a:ext cx="2743200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WHY THIS COUNTRY?</a:t>
            </a:r>
          </a:p>
          <a:p>
            <a:pPr algn="ctr"/>
            <a:r>
              <a:rPr lang="fr-FR" sz="1100">
                <a:latin typeface="Rockwell"/>
              </a:rPr>
              <a:t>HOW WILL IT RESULT?</a:t>
            </a:r>
          </a:p>
          <a:p>
            <a:pPr algn="ctr"/>
            <a:r>
              <a:rPr lang="fr-FR" sz="1100">
                <a:latin typeface="Rockwell"/>
              </a:rPr>
              <a:t>PESTEL ANALYSIS</a:t>
            </a:r>
          </a:p>
          <a:p>
            <a:pPr algn="ctr"/>
            <a:endParaRPr lang="fr-FR"/>
          </a:p>
        </p:txBody>
      </p:sp>
      <p:sp>
        <p:nvSpPr>
          <p:cNvPr id="13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01/09/2025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4E714-85D5-2D38-E4E4-5B9A7C54F30B}"/>
              </a:ext>
            </a:extLst>
          </p:cNvPr>
          <p:cNvSpPr/>
          <p:nvPr/>
        </p:nvSpPr>
        <p:spPr>
          <a:xfrm>
            <a:off x="1133707" y="6551342"/>
            <a:ext cx="901390" cy="176560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8BEF40-8016-4F91-029C-7490D41C88CB}"/>
              </a:ext>
            </a:extLst>
          </p:cNvPr>
          <p:cNvSpPr/>
          <p:nvPr/>
        </p:nvSpPr>
        <p:spPr>
          <a:xfrm>
            <a:off x="1228234" y="6645869"/>
            <a:ext cx="901390" cy="176560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90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>
            <a:extLst>
              <a:ext uri="{FF2B5EF4-FFF2-40B4-BE49-F238E27FC236}">
                <a16:creationId xmlns:a16="http://schemas.microsoft.com/office/drawing/2014/main" id="{C35B2FFC-0826-1C3F-E96A-33A01D0445F8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C336EDEE-0B2B-37A8-2556-89143F39812F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C0C5F10-7CEF-8E67-EECD-1B000F57F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8" name="Image 2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40979637-06F5-D048-4C6F-D7805B9415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9" name="Image 2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DAF5C43-3BEC-5757-7B75-8DCAE405F9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1F15223-56CA-E24B-E771-29C533440DCA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24" name="Image 2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46F93DE-D2C8-FAE4-BC6C-48F6327CB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5" name="Image 2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CF1E890-0290-6522-AFD3-49B306C08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6" name="Image 2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D454622-72CC-C520-D0A8-308ACF3AA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084E440-8BF6-08DE-B445-BCF57B142AAB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35C48F6-4383-13BD-F1E0-76A48F117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EC256FEC-4763-5410-D407-9E0EFE8E79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3177871-229B-BB51-1982-471BAE9EA4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ECD3C744-B902-BE5B-81F2-EE8BD3EF259A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3" name="Image 1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0010019-901E-E182-2E3A-772F20AD61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72153CF-D400-7E76-1521-1BB676605B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AF7CA5A-836B-197D-04D5-D770BD1462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D3F591B-EDE8-A44C-31F1-678C42B6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9EDB-6A14-EA49-B3CA-BD4D24161422}" type="datetime1">
              <a:rPr lang="en-US" smtClean="0"/>
              <a:t>5/29/2025</a:t>
            </a:fld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CCBF33-A477-6CBE-4783-E7B89CB5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DE8D52-1C66-A813-A6EF-EC23673B01F4}"/>
              </a:ext>
            </a:extLst>
          </p:cNvPr>
          <p:cNvSpPr txBox="1"/>
          <p:nvPr/>
        </p:nvSpPr>
        <p:spPr>
          <a:xfrm>
            <a:off x="-1558" y="2090379"/>
            <a:ext cx="6283267" cy="21698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500">
                <a:latin typeface="Rockwell"/>
                <a:cs typeface="Arial"/>
              </a:rPr>
              <a:t>•</a:t>
            </a:r>
            <a:r>
              <a:rPr lang="en-US" sz="1500">
                <a:latin typeface="Rockwell"/>
              </a:rPr>
              <a:t>Three-quarters of wine consumption is concentrated in two</a:t>
            </a:r>
            <a:endParaRPr lang="fr-FR" sz="1500">
              <a:latin typeface="Rockwell"/>
            </a:endParaRPr>
          </a:p>
          <a:p>
            <a:endParaRPr lang="fr-FR" sz="1500">
              <a:latin typeface="Rockwell"/>
            </a:endParaRPr>
          </a:p>
          <a:p>
            <a:r>
              <a:rPr lang="en-US" sz="1500">
                <a:latin typeface="Rockwell"/>
              </a:rPr>
              <a:t>key regions: Gauteng (46% ) and the Western Cape (28%).</a:t>
            </a:r>
            <a:endParaRPr lang="en-US"/>
          </a:p>
          <a:p>
            <a:endParaRPr lang="fr-FR" sz="1500">
              <a:latin typeface="Rockwell"/>
              <a:cs typeface="Arial"/>
            </a:endParaRPr>
          </a:p>
          <a:p>
            <a:r>
              <a:rPr lang="fr-FR" sz="1500">
                <a:latin typeface="Rockwell"/>
                <a:cs typeface="Arial"/>
              </a:rPr>
              <a:t>•P</a:t>
            </a:r>
            <a:r>
              <a:rPr lang="en-US" sz="1500" err="1">
                <a:latin typeface="Rockwell"/>
              </a:rPr>
              <a:t>roducts</a:t>
            </a:r>
            <a:r>
              <a:rPr lang="en-US" sz="1400">
                <a:latin typeface="-webkit-standard"/>
              </a:rPr>
              <a:t> </a:t>
            </a:r>
            <a:r>
              <a:rPr lang="en-US" sz="1500">
                <a:latin typeface="Rockwell"/>
              </a:rPr>
              <a:t>from the European Union benefit from tariff </a:t>
            </a:r>
          </a:p>
          <a:p>
            <a:endParaRPr lang="en-US" sz="1500">
              <a:latin typeface="Rockwell"/>
            </a:endParaRPr>
          </a:p>
          <a:p>
            <a:r>
              <a:rPr lang="en-US" sz="1500">
                <a:latin typeface="Rockwell"/>
              </a:rPr>
              <a:t>preferences, making French imports, such as wines and </a:t>
            </a:r>
            <a:endParaRPr lang="en-US">
              <a:latin typeface="Calibri" panose="020F0502020204030204"/>
              <a:ea typeface="Calibri"/>
              <a:cs typeface="Calibri"/>
            </a:endParaRPr>
          </a:p>
          <a:p>
            <a:endParaRPr lang="en-US" sz="1500">
              <a:latin typeface="Rockwell"/>
            </a:endParaRPr>
          </a:p>
          <a:p>
            <a:r>
              <a:rPr lang="en-US" sz="1500">
                <a:latin typeface="Rockwell"/>
              </a:rPr>
              <a:t>Cognacs, exempt from customs duties.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9" name="Image 8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34D18F09-BD72-090C-634E-6EF394F30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pic>
        <p:nvPicPr>
          <p:cNvPr id="15" name="Image 14" descr="Catalogue de formations 2023 - IUT de Vannes">
            <a:extLst>
              <a:ext uri="{FF2B5EF4-FFF2-40B4-BE49-F238E27FC236}">
                <a16:creationId xmlns:a16="http://schemas.microsoft.com/office/drawing/2014/main" id="{C25A690B-4775-0703-B557-2B1900C6B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EC721C5-45B7-9A7F-7637-2228CF3285D6}"/>
              </a:ext>
            </a:extLst>
          </p:cNvPr>
          <p:cNvSpPr txBox="1"/>
          <p:nvPr/>
        </p:nvSpPr>
        <p:spPr>
          <a:xfrm>
            <a:off x="4724400" y="20380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>
                <a:latin typeface="Rockwell"/>
              </a:rPr>
              <a:t>WHY THIS COUNTRY?</a:t>
            </a:r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7D3DADF-958A-F49E-78D3-9711C71538F7}"/>
              </a:ext>
            </a:extLst>
          </p:cNvPr>
          <p:cNvSpPr txBox="1"/>
          <p:nvPr/>
        </p:nvSpPr>
        <p:spPr>
          <a:xfrm>
            <a:off x="4724400" y="510462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HOW WILL IT RESULT?</a:t>
            </a:r>
            <a:endParaRPr lang="fr-FR"/>
          </a:p>
          <a:p>
            <a:pPr algn="ctr"/>
            <a:r>
              <a:rPr lang="fr-FR" sz="1100">
                <a:latin typeface="Rockwell"/>
              </a:rPr>
              <a:t>PESTEL ANALYSIS</a:t>
            </a:r>
          </a:p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0664771-E551-5DB9-E7F7-A6D34A2BFF5B}"/>
              </a:ext>
            </a:extLst>
          </p:cNvPr>
          <p:cNvSpPr txBox="1"/>
          <p:nvPr/>
        </p:nvSpPr>
        <p:spPr>
          <a:xfrm>
            <a:off x="4724399" y="3782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WHAT IS KERISAC?</a:t>
            </a:r>
          </a:p>
        </p:txBody>
      </p:sp>
      <p:sp>
        <p:nvSpPr>
          <p:cNvPr id="19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01/09/2025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A1CDC4-4746-6591-A1B1-BA49C2209337}"/>
              </a:ext>
            </a:extLst>
          </p:cNvPr>
          <p:cNvSpPr/>
          <p:nvPr/>
        </p:nvSpPr>
        <p:spPr>
          <a:xfrm>
            <a:off x="1133707" y="6551342"/>
            <a:ext cx="901390" cy="176560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texte, ligne, Tracé, capture d’écran&#10;&#10;Description générée automatiquement">
            <a:extLst>
              <a:ext uri="{FF2B5EF4-FFF2-40B4-BE49-F238E27FC236}">
                <a16:creationId xmlns:a16="http://schemas.microsoft.com/office/drawing/2014/main" id="{035AB01A-99ED-6D9F-B201-88661BC79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327" y="862432"/>
            <a:ext cx="5445673" cy="2481613"/>
          </a:xfrm>
          <a:prstGeom prst="rect">
            <a:avLst/>
          </a:prstGeom>
        </p:spPr>
      </p:pic>
      <p:pic>
        <p:nvPicPr>
          <p:cNvPr id="16" name="Image 15" descr="Une image contenant texte, Police, diagramme, capture d’écran&#10;&#10;Description générée automatiquement">
            <a:extLst>
              <a:ext uri="{FF2B5EF4-FFF2-40B4-BE49-F238E27FC236}">
                <a16:creationId xmlns:a16="http://schemas.microsoft.com/office/drawing/2014/main" id="{1ED99D5B-0E88-8C1C-46F4-0A0B0A256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603" y="3430396"/>
            <a:ext cx="4880742" cy="2894123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458F936E-96CE-01CD-689E-52B16EC539A1}"/>
              </a:ext>
            </a:extLst>
          </p:cNvPr>
          <p:cNvSpPr txBox="1"/>
          <p:nvPr/>
        </p:nvSpPr>
        <p:spPr>
          <a:xfrm>
            <a:off x="4537790" y="6016322"/>
            <a:ext cx="347420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>
                <a:solidFill>
                  <a:srgbClr val="0070C0"/>
                </a:solidFill>
                <a:latin typeface="Rockwell"/>
                <a:ea typeface="Calibri"/>
                <a:cs typeface="Calibri"/>
              </a:rPr>
              <a:t>The GDP of South </a:t>
            </a:r>
            <a:r>
              <a:rPr lang="fr-FR" sz="1600" err="1">
                <a:solidFill>
                  <a:srgbClr val="0070C0"/>
                </a:solidFill>
                <a:latin typeface="Rockwell"/>
                <a:ea typeface="Calibri"/>
                <a:cs typeface="Calibri"/>
              </a:rPr>
              <a:t>Africa</a:t>
            </a:r>
            <a:r>
              <a:rPr lang="fr-FR" sz="1600">
                <a:solidFill>
                  <a:srgbClr val="0070C0"/>
                </a:solidFill>
                <a:latin typeface="Rockwell"/>
                <a:ea typeface="Calibri"/>
                <a:cs typeface="Calibri"/>
              </a:rPr>
              <a:t>  </a:t>
            </a:r>
            <a:endParaRPr lang="fr-FR" sz="1600">
              <a:solidFill>
                <a:srgbClr val="0070C0"/>
              </a:solidFill>
              <a:latin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E87BF66A-FDDC-AC8F-B21B-5BF6DEADE29B}"/>
                  </a:ext>
                </a:extLst>
              </p14:cNvPr>
              <p14:cNvContentPartPr/>
              <p14:nvPr/>
            </p14:nvContentPartPr>
            <p14:xfrm>
              <a:off x="6896745" y="6134745"/>
              <a:ext cx="12915" cy="12915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E87BF66A-FDDC-AC8F-B21B-5BF6DEADE2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50995" y="5488995"/>
                <a:ext cx="1291500" cy="1291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DBB4F660-2DC0-04C7-8964-6BAFB8C2CD37}"/>
                  </a:ext>
                </a:extLst>
              </p14:cNvPr>
              <p14:cNvContentPartPr/>
              <p14:nvPr/>
            </p14:nvContentPartPr>
            <p14:xfrm>
              <a:off x="6896745" y="6134745"/>
              <a:ext cx="12915" cy="12915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DBB4F660-2DC0-04C7-8964-6BAFB8C2CD3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50995" y="5488995"/>
                <a:ext cx="1291500" cy="1291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25D14E5D-A19E-A1A7-82BC-94A262C46BC4}"/>
                  </a:ext>
                </a:extLst>
              </p14:cNvPr>
              <p14:cNvContentPartPr/>
              <p14:nvPr/>
            </p14:nvContentPartPr>
            <p14:xfrm>
              <a:off x="6896745" y="6134745"/>
              <a:ext cx="12915" cy="12915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25D14E5D-A19E-A1A7-82BC-94A262C46B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50995" y="5488995"/>
                <a:ext cx="1291500" cy="1291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741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e 27">
            <a:extLst>
              <a:ext uri="{FF2B5EF4-FFF2-40B4-BE49-F238E27FC236}">
                <a16:creationId xmlns:a16="http://schemas.microsoft.com/office/drawing/2014/main" id="{FB9D2D78-074C-5174-2602-8937B3EF3C7D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9490BFB4-C3F7-BF55-81F0-5200E0691DD5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5" name="Image 2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8695423-F4D1-A873-424E-506ADE09A4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6" name="Image 2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1EFF0D7-8825-09AF-0801-952A81B5E2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796F4E8-5CB3-3CF9-B1CC-BFF33B69B3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84102BF8-8A04-363A-9B32-84A09C1FE447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25AA070-EC01-3579-836F-5643E2D91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25EA5D8-0D76-0330-BE45-74F49FB711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4" name="Image 2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F7E1089-B498-92E9-6BD0-22016F698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7C327F2-2E5F-140E-C6BD-087B01BD71F3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9B2D8CF-44B7-1F7B-B8C2-0B51BA01F2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A191D8B-340B-4EE0-BC66-876825C92C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4A0876F-0823-91F0-2A42-B56C5D712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83DDFBCD-6249-C835-EA3D-06F8D6673F61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49E7C042-5EE6-9D78-8958-E0EE779FC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B1D12F8-51ED-6141-E36A-AD17AF16A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46C9983-BD7A-4E61-3CAA-9DBF541F1F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pic>
        <p:nvPicPr>
          <p:cNvPr id="3" name="Image 2" descr="Une image contenant texte, capture d’écran, Parallèle, Tracé&#10;&#10;Description générée automatiquement">
            <a:extLst>
              <a:ext uri="{FF2B5EF4-FFF2-40B4-BE49-F238E27FC236}">
                <a16:creationId xmlns:a16="http://schemas.microsoft.com/office/drawing/2014/main" id="{29CEF1D9-728C-6C44-5894-599A56C22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807" y="1926326"/>
            <a:ext cx="6166545" cy="314482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B8D5BFE-AA48-FDEA-6007-4287F046546F}"/>
              </a:ext>
            </a:extLst>
          </p:cNvPr>
          <p:cNvSpPr txBox="1"/>
          <p:nvPr/>
        </p:nvSpPr>
        <p:spPr>
          <a:xfrm>
            <a:off x="7070786" y="1452982"/>
            <a:ext cx="41407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>
                <a:latin typeface="Rockwell"/>
                <a:ea typeface="+mn-lt"/>
                <a:cs typeface="+mn-lt"/>
              </a:rPr>
              <a:t>Distribution of Transport Modes </a:t>
            </a:r>
            <a:r>
              <a:rPr lang="fr-FR" sz="1200" err="1">
                <a:latin typeface="Rockwell"/>
                <a:ea typeface="+mn-lt"/>
                <a:cs typeface="+mn-lt"/>
              </a:rPr>
              <a:t>Used</a:t>
            </a:r>
            <a:r>
              <a:rPr lang="fr-FR" sz="1200">
                <a:latin typeface="Rockwell"/>
                <a:ea typeface="+mn-lt"/>
                <a:cs typeface="+mn-lt"/>
              </a:rPr>
              <a:t> by France to Export </a:t>
            </a:r>
            <a:r>
              <a:rPr lang="fr-FR" sz="1200" err="1">
                <a:latin typeface="Rockwell"/>
                <a:ea typeface="+mn-lt"/>
                <a:cs typeface="+mn-lt"/>
              </a:rPr>
              <a:t>Cider</a:t>
            </a:r>
            <a:r>
              <a:rPr lang="fr-FR" sz="1200">
                <a:latin typeface="Rockwell"/>
                <a:ea typeface="+mn-lt"/>
                <a:cs typeface="+mn-lt"/>
              </a:rPr>
              <a:t> to South </a:t>
            </a:r>
            <a:r>
              <a:rPr lang="fr-FR" sz="1200" err="1">
                <a:latin typeface="Rockwell"/>
                <a:ea typeface="+mn-lt"/>
                <a:cs typeface="+mn-lt"/>
              </a:rPr>
              <a:t>Africa</a:t>
            </a:r>
            <a:endParaRPr lang="fr-FR" sz="1200" err="1">
              <a:latin typeface="Rockwel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32C44F2-B9D3-6CA7-7870-3A6DA450EAC4}"/>
              </a:ext>
            </a:extLst>
          </p:cNvPr>
          <p:cNvSpPr txBox="1"/>
          <p:nvPr/>
        </p:nvSpPr>
        <p:spPr>
          <a:xfrm>
            <a:off x="4724400" y="20380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>
                <a:latin typeface="Rockwell"/>
              </a:rPr>
              <a:t>WHY THIS COUNTRY?</a:t>
            </a:r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F881DCA-2DCE-AFBA-C4AE-D72DAEF495DF}"/>
              </a:ext>
            </a:extLst>
          </p:cNvPr>
          <p:cNvSpPr txBox="1"/>
          <p:nvPr/>
        </p:nvSpPr>
        <p:spPr>
          <a:xfrm>
            <a:off x="4724400" y="510462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HOW WILL IT RESULT?</a:t>
            </a:r>
            <a:endParaRPr lang="fr-FR"/>
          </a:p>
          <a:p>
            <a:pPr algn="ctr"/>
            <a:r>
              <a:rPr lang="fr-FR" sz="1100">
                <a:latin typeface="Rockwell"/>
              </a:rPr>
              <a:t>PESTEL ANALYSIS</a:t>
            </a:r>
          </a:p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2FC7DBD-90B0-69A0-2BB2-5D3D6FCA5D16}"/>
              </a:ext>
            </a:extLst>
          </p:cNvPr>
          <p:cNvSpPr txBox="1"/>
          <p:nvPr/>
        </p:nvSpPr>
        <p:spPr>
          <a:xfrm>
            <a:off x="4724399" y="3782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WHAT IS KERISAC?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9B7F2357-C4E9-8949-66DD-7EC550D0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6</a:t>
            </a:fld>
            <a:endParaRPr lang="fr-FR"/>
          </a:p>
        </p:txBody>
      </p:sp>
      <p:sp>
        <p:nvSpPr>
          <p:cNvPr id="14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01/09/2025</a:t>
            </a:r>
            <a:endParaRPr lang="fr-FR">
              <a:solidFill>
                <a:srgbClr val="000000"/>
              </a:solidFill>
            </a:endParaRPr>
          </a:p>
        </p:txBody>
      </p:sp>
      <p:pic>
        <p:nvPicPr>
          <p:cNvPr id="16" name="Image 15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1E33041F-69FC-3C39-6BCB-645586BA3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A424D85-5523-D4C6-72CA-2136572B33CA}"/>
              </a:ext>
            </a:extLst>
          </p:cNvPr>
          <p:cNvSpPr txBox="1"/>
          <p:nvPr/>
        </p:nvSpPr>
        <p:spPr>
          <a:xfrm>
            <a:off x="232474" y="2053525"/>
            <a:ext cx="5321084" cy="27238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latin typeface="Rockwell"/>
                <a:ea typeface="Calibri" panose="020F0502020204030204"/>
                <a:cs typeface="Calibri" panose="020F0502020204030204"/>
              </a:rPr>
              <a:t>Maritime transport is the dominant method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Rockwell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Rockwell"/>
                <a:ea typeface="Calibri" panose="020F0502020204030204"/>
                <a:cs typeface="Calibri" panose="020F0502020204030204"/>
              </a:rPr>
              <a:t>Road transport is nearly negligible in this context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Rockwell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Rockwell"/>
                <a:ea typeface="+mn-lt"/>
                <a:cs typeface="+mn-lt"/>
              </a:rPr>
              <a:t>Maritime:</a:t>
            </a:r>
            <a:r>
              <a:rPr lang="en-US" sz="1600">
                <a:latin typeface="Rockwell"/>
                <a:ea typeface="+mn-lt"/>
                <a:cs typeface="+mn-lt"/>
              </a:rPr>
              <a:t> Most used,</a:t>
            </a:r>
            <a:r>
              <a:rPr lang="en-US" sz="1600">
                <a:latin typeface="Rockwell"/>
                <a:ea typeface="Calibri" panose="020F0502020204030204"/>
                <a:cs typeface="Calibri" panose="020F0502020204030204"/>
              </a:rPr>
              <a:t> low cost per unit and high </a:t>
            </a:r>
            <a:r>
              <a:rPr lang="en-US" sz="1600" err="1">
                <a:latin typeface="Rockwell"/>
                <a:ea typeface="Calibri" panose="020F0502020204030204"/>
                <a:cs typeface="Calibri" panose="020F0502020204030204"/>
              </a:rPr>
              <a:t>capcity</a:t>
            </a:r>
            <a:r>
              <a:rPr lang="en-US" sz="1600">
                <a:latin typeface="Rockwell"/>
                <a:ea typeface="Calibri" panose="020F0502020204030204"/>
                <a:cs typeface="Calibri" panose="020F0502020204030204"/>
              </a:rPr>
              <a:t>.</a:t>
            </a:r>
            <a:br>
              <a:rPr lang="en-US" sz="1100">
                <a:latin typeface="Rockwell"/>
                <a:ea typeface="+mn-lt"/>
                <a:cs typeface="Times New Roman"/>
              </a:rPr>
            </a:br>
            <a:endParaRPr lang="en-US" sz="1100">
              <a:latin typeface="Rockwell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latin typeface="Rockwell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Rockwell"/>
                <a:ea typeface="+mn-lt"/>
                <a:cs typeface="+mn-lt"/>
              </a:rPr>
              <a:t>Air:</a:t>
            </a:r>
            <a:r>
              <a:rPr lang="en-US" sz="1600">
                <a:latin typeface="Rockwell"/>
                <a:ea typeface="+mn-lt"/>
                <a:cs typeface="+mn-lt"/>
              </a:rPr>
              <a:t> Rarely used, high cost and fast delivery.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Rockwell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Rockwell"/>
                <a:ea typeface="+mn-lt"/>
                <a:cs typeface="+mn-lt"/>
              </a:rPr>
              <a:t>Road:</a:t>
            </a:r>
            <a:r>
              <a:rPr lang="en-US" sz="1600">
                <a:latin typeface="Rockwell"/>
                <a:ea typeface="+mn-lt"/>
                <a:cs typeface="+mn-lt"/>
              </a:rPr>
              <a:t> Not applicable.</a:t>
            </a:r>
            <a:endParaRPr lang="en-US" sz="1600">
              <a:latin typeface="Rockwell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0" name="Image 29" descr="Catalogue de formations 2023 - IUT de Vannes">
            <a:extLst>
              <a:ext uri="{FF2B5EF4-FFF2-40B4-BE49-F238E27FC236}">
                <a16:creationId xmlns:a16="http://schemas.microsoft.com/office/drawing/2014/main" id="{8B300121-4287-EDE5-4876-745B75CA3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9FF9ECAB-CC26-CE8A-12F9-42193628EEE2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761BBD5B-985B-6ACB-5ED3-A5AA2E2EC86A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6" name="Image 2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7C746D7-53DC-98B3-1CF1-E3797B746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EEF72CE-EB50-D020-C498-EEDC53211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8" name="Image 2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A1FFB57-5F9D-174E-DA60-3B4EB9243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01FC97B0-7F64-C065-ED11-689A73CF8880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67183C5-6F62-50D1-B337-111491A93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4" name="Image 2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B075CA6-035B-65CD-8DC5-9EF3164F5E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5" name="Image 2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28C6E2B4-F88B-4F45-8F11-5E99B66F58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9413AF5C-B750-E1C6-1DE7-421815FD85F3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C362FA3-BCB3-E210-0803-AC934E34E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B3D0CEF-4441-A74B-0901-C12176207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E447DD1C-6F80-E362-F783-1C786EC7A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D7939BBC-C2DC-03C0-BB3C-14E9ADB827AE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3B9173F-4F0E-60C0-8176-C3FDC475E1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53F7381-EB7A-7A1A-DF41-7F82657F7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282D415C-6412-1D05-157C-016E72687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pic>
        <p:nvPicPr>
          <p:cNvPr id="3" name="Image 2" descr="Une image contenant texte, capture d’écran, ligne, Parallèle&#10;&#10;Description générée automatiquement">
            <a:extLst>
              <a:ext uri="{FF2B5EF4-FFF2-40B4-BE49-F238E27FC236}">
                <a16:creationId xmlns:a16="http://schemas.microsoft.com/office/drawing/2014/main" id="{E21A986E-259D-8B5D-33BA-7F263FD198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0" t="133" r="10685"/>
          <a:stretch/>
        </p:blipFill>
        <p:spPr>
          <a:xfrm>
            <a:off x="5747739" y="1723516"/>
            <a:ext cx="6311166" cy="321267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32AA46D-BB0B-34B0-B605-4C2EA20F7E9F}"/>
              </a:ext>
            </a:extLst>
          </p:cNvPr>
          <p:cNvSpPr txBox="1"/>
          <p:nvPr/>
        </p:nvSpPr>
        <p:spPr>
          <a:xfrm>
            <a:off x="4724400" y="20380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>
                <a:latin typeface="Rockwell"/>
              </a:rPr>
              <a:t>WHY THIS COUNTRY?</a:t>
            </a:r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A604955-3DEE-D6AC-55EA-41B3422BDF9D}"/>
              </a:ext>
            </a:extLst>
          </p:cNvPr>
          <p:cNvSpPr txBox="1"/>
          <p:nvPr/>
        </p:nvSpPr>
        <p:spPr>
          <a:xfrm>
            <a:off x="4724400" y="510462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HOW WILL IT RESULT?</a:t>
            </a:r>
            <a:endParaRPr lang="fr-FR"/>
          </a:p>
          <a:p>
            <a:pPr algn="ctr"/>
            <a:r>
              <a:rPr lang="fr-FR" sz="1100">
                <a:latin typeface="Rockwell"/>
              </a:rPr>
              <a:t>PESTEL ANALYSIS</a:t>
            </a:r>
          </a:p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021B445-7C18-585D-AFB5-2E275AA40666}"/>
              </a:ext>
            </a:extLst>
          </p:cNvPr>
          <p:cNvSpPr txBox="1"/>
          <p:nvPr/>
        </p:nvSpPr>
        <p:spPr>
          <a:xfrm>
            <a:off x="4724399" y="3782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WHAT IS KERISAC?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5D3B34E-C1AE-5CD0-DE50-8DF226CA54BB}"/>
              </a:ext>
            </a:extLst>
          </p:cNvPr>
          <p:cNvSpPr txBox="1"/>
          <p:nvPr/>
        </p:nvSpPr>
        <p:spPr>
          <a:xfrm>
            <a:off x="416559" y="6512560"/>
            <a:ext cx="195072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200">
                <a:ea typeface="Calibri"/>
                <a:cs typeface="Calibri"/>
              </a:rPr>
              <a:t>1/7/2025</a:t>
            </a:r>
            <a:endParaRPr lang="fr-FR" sz="1200">
              <a:latin typeface="Univers Condensed"/>
              <a:ea typeface="+mn-lt"/>
              <a:cs typeface="+mn-lt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12BB54A8-7414-2B33-E3A0-539D2178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7</a:t>
            </a:fld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5DA576-4E71-13C1-081F-23E694F94615}"/>
              </a:ext>
            </a:extLst>
          </p:cNvPr>
          <p:cNvSpPr/>
          <p:nvPr/>
        </p:nvSpPr>
        <p:spPr>
          <a:xfrm>
            <a:off x="325244" y="6551342"/>
            <a:ext cx="901390" cy="176560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pied de page 1">
            <a:extLst>
              <a:ext uri="{FF2B5EF4-FFF2-40B4-BE49-F238E27FC236}">
                <a16:creationId xmlns:a16="http://schemas.microsoft.com/office/drawing/2014/main" id="{2457B100-D231-F759-9DE5-DFCCF9060D79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ea typeface="Calibri"/>
                <a:cs typeface="Calibri"/>
              </a:rPr>
              <a:t>01/09/2025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9" name="Image 18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C5658772-126A-4433-005D-E8F388EF2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26CD0B8-034E-82B3-702B-6532C4A216B3}"/>
              </a:ext>
            </a:extLst>
          </p:cNvPr>
          <p:cNvSpPr txBox="1"/>
          <p:nvPr/>
        </p:nvSpPr>
        <p:spPr>
          <a:xfrm>
            <a:off x="7090474" y="1142999"/>
            <a:ext cx="362650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b="1">
                <a:latin typeface="Rockwell"/>
                <a:ea typeface="+mn-lt"/>
                <a:cs typeface="+mn-lt"/>
              </a:rPr>
              <a:t>Top Export Destinations for </a:t>
            </a:r>
            <a:r>
              <a:rPr lang="fr-FR" sz="1600" b="1" err="1">
                <a:latin typeface="Rockwell"/>
                <a:ea typeface="+mn-lt"/>
                <a:cs typeface="+mn-lt"/>
              </a:rPr>
              <a:t>Cider</a:t>
            </a:r>
            <a:r>
              <a:rPr lang="fr-FR" sz="1600" b="1">
                <a:latin typeface="Rockwell"/>
                <a:ea typeface="+mn-lt"/>
                <a:cs typeface="+mn-lt"/>
              </a:rPr>
              <a:t> in South </a:t>
            </a:r>
            <a:r>
              <a:rPr lang="fr-FR" sz="1600" b="1" err="1">
                <a:latin typeface="Rockwell"/>
                <a:ea typeface="+mn-lt"/>
                <a:cs typeface="+mn-lt"/>
              </a:rPr>
              <a:t>Africa</a:t>
            </a:r>
            <a:endParaRPr lang="fr-FR" sz="1600" b="1">
              <a:latin typeface="Rockwell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FC4403A-0FD0-8CB3-05EA-3EF597B66D78}"/>
              </a:ext>
            </a:extLst>
          </p:cNvPr>
          <p:cNvSpPr txBox="1"/>
          <p:nvPr/>
        </p:nvSpPr>
        <p:spPr>
          <a:xfrm>
            <a:off x="129152" y="1879170"/>
            <a:ext cx="5605220" cy="22236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 b="1">
                <a:latin typeface="Rockwell"/>
                <a:ea typeface="+mn-lt"/>
                <a:cs typeface="+mn-lt"/>
              </a:rPr>
              <a:t>Cape Town &amp; Johannesburg:</a:t>
            </a:r>
            <a:r>
              <a:rPr lang="fr-FR" sz="1600">
                <a:latin typeface="Rockwell"/>
                <a:ea typeface="+mn-lt"/>
                <a:cs typeface="+mn-lt"/>
              </a:rPr>
              <a:t> as major </a:t>
            </a:r>
            <a:r>
              <a:rPr lang="fr-FR" sz="1600" err="1">
                <a:latin typeface="Rockwell"/>
                <a:ea typeface="+mn-lt"/>
                <a:cs typeface="+mn-lt"/>
              </a:rPr>
              <a:t>cider</a:t>
            </a:r>
            <a:r>
              <a:rPr lang="fr-FR" sz="1600">
                <a:latin typeface="Rockwell"/>
                <a:ea typeface="+mn-lt"/>
                <a:cs typeface="+mn-lt"/>
              </a:rPr>
              <a:t> export destinations</a:t>
            </a:r>
            <a:endParaRPr lang="fr-FR" sz="1600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fr-FR" sz="1600">
              <a:latin typeface="Rockwell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fr-FR" sz="1600" b="1">
                <a:latin typeface="Rockwell"/>
                <a:ea typeface="+mn-lt"/>
                <a:cs typeface="+mn-lt"/>
              </a:rPr>
              <a:t>King </a:t>
            </a:r>
            <a:r>
              <a:rPr lang="fr-FR" sz="1600" b="1" err="1">
                <a:latin typeface="Rockwell"/>
                <a:ea typeface="+mn-lt"/>
                <a:cs typeface="+mn-lt"/>
              </a:rPr>
              <a:t>shaka</a:t>
            </a:r>
            <a:r>
              <a:rPr lang="fr-FR" sz="1600" b="1">
                <a:latin typeface="Rockwell"/>
                <a:ea typeface="+mn-lt"/>
                <a:cs typeface="+mn-lt"/>
              </a:rPr>
              <a:t> </a:t>
            </a:r>
            <a:r>
              <a:rPr lang="fr-FR" sz="1600" b="1" err="1">
                <a:latin typeface="Rockwell"/>
                <a:ea typeface="+mn-lt"/>
                <a:cs typeface="+mn-lt"/>
              </a:rPr>
              <a:t>int</a:t>
            </a:r>
            <a:r>
              <a:rPr lang="fr-FR" sz="1600" b="1">
                <a:latin typeface="Rockwell"/>
                <a:ea typeface="+mn-lt"/>
                <a:cs typeface="+mn-lt"/>
              </a:rPr>
              <a:t> Airport &amp; Pretoria:</a:t>
            </a:r>
            <a:r>
              <a:rPr lang="fr-FR" sz="1600">
                <a:latin typeface="Rockwell"/>
                <a:ea typeface="+mn-lt"/>
                <a:cs typeface="+mn-lt"/>
              </a:rPr>
              <a:t> the </a:t>
            </a:r>
            <a:r>
              <a:rPr lang="fr-FR" sz="1600" err="1">
                <a:latin typeface="Rockwell"/>
                <a:ea typeface="+mn-lt"/>
                <a:cs typeface="+mn-lt"/>
              </a:rPr>
              <a:t>smaller</a:t>
            </a:r>
            <a:r>
              <a:rPr lang="fr-FR" sz="1600">
                <a:latin typeface="Rockwell"/>
                <a:ea typeface="+mn-lt"/>
                <a:cs typeface="+mn-lt"/>
              </a:rPr>
              <a:t> volumes of export </a:t>
            </a:r>
            <a:r>
              <a:rPr lang="fr-FR" sz="1600" err="1">
                <a:latin typeface="Rockwell"/>
                <a:ea typeface="+mn-lt"/>
                <a:cs typeface="+mn-lt"/>
              </a:rPr>
              <a:t>cider</a:t>
            </a:r>
            <a:r>
              <a:rPr lang="fr-FR" sz="1600">
                <a:latin typeface="Rockwell"/>
                <a:ea typeface="+mn-lt"/>
                <a:cs typeface="+mn-lt"/>
              </a:rPr>
              <a:t> </a:t>
            </a:r>
            <a:endParaRPr lang="fr-FR" sz="1600">
              <a:latin typeface="Rockwel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1050">
              <a:latin typeface="Rockwel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latin typeface="Rockwell"/>
                <a:ea typeface="+mn-lt"/>
                <a:cs typeface="+mn-lt"/>
              </a:rPr>
              <a:t>Export </a:t>
            </a:r>
            <a:r>
              <a:rPr lang="fr-FR" sz="1600" err="1">
                <a:latin typeface="Rockwell"/>
                <a:ea typeface="+mn-lt"/>
                <a:cs typeface="+mn-lt"/>
              </a:rPr>
              <a:t>focuses</a:t>
            </a:r>
            <a:r>
              <a:rPr lang="fr-FR" sz="1600">
                <a:latin typeface="Rockwell"/>
                <a:ea typeface="+mn-lt"/>
                <a:cs typeface="+mn-lt"/>
              </a:rPr>
              <a:t> on major </a:t>
            </a:r>
            <a:r>
              <a:rPr lang="fr-FR" sz="1600" err="1">
                <a:latin typeface="Rockwell"/>
                <a:ea typeface="+mn-lt"/>
                <a:cs typeface="+mn-lt"/>
              </a:rPr>
              <a:t>cities</a:t>
            </a:r>
            <a:r>
              <a:rPr lang="fr-FR" sz="1600">
                <a:latin typeface="Rockwell"/>
                <a:ea typeface="+mn-lt"/>
                <a:cs typeface="+mn-lt"/>
              </a:rPr>
              <a:t> for </a:t>
            </a:r>
            <a:r>
              <a:rPr lang="fr-FR" sz="1600" err="1">
                <a:latin typeface="Rockwell"/>
                <a:ea typeface="+mn-lt"/>
                <a:cs typeface="+mn-lt"/>
              </a:rPr>
              <a:t>efficiency</a:t>
            </a:r>
            <a:r>
              <a:rPr lang="fr-FR" sz="1600">
                <a:latin typeface="Rockwell"/>
                <a:ea typeface="+mn-lt"/>
                <a:cs typeface="+mn-lt"/>
              </a:rPr>
              <a:t> and </a:t>
            </a:r>
            <a:r>
              <a:rPr lang="fr-FR" sz="1600" err="1">
                <a:latin typeface="Rockwell"/>
                <a:ea typeface="+mn-lt"/>
                <a:cs typeface="+mn-lt"/>
              </a:rPr>
              <a:t>access</a:t>
            </a:r>
            <a:r>
              <a:rPr lang="fr-FR" sz="1600">
                <a:latin typeface="Rockwell"/>
                <a:ea typeface="+mn-lt"/>
                <a:cs typeface="+mn-lt"/>
              </a:rPr>
              <a:t> to large </a:t>
            </a:r>
            <a:r>
              <a:rPr lang="fr-FR" sz="1600" err="1">
                <a:latin typeface="Rockwell"/>
                <a:ea typeface="+mn-lt"/>
                <a:cs typeface="+mn-lt"/>
              </a:rPr>
              <a:t>markets</a:t>
            </a:r>
            <a:r>
              <a:rPr lang="fr-FR" sz="1600">
                <a:latin typeface="Rockwell"/>
                <a:ea typeface="+mn-lt"/>
                <a:cs typeface="+mn-lt"/>
              </a:rPr>
              <a:t>.</a:t>
            </a: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Image 31" descr="Catalogue de formations 2023 - IUT de Vannes">
            <a:extLst>
              <a:ext uri="{FF2B5EF4-FFF2-40B4-BE49-F238E27FC236}">
                <a16:creationId xmlns:a16="http://schemas.microsoft.com/office/drawing/2014/main" id="{35E1B7F4-8EE7-B59F-DCDB-0FEF5B9C1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0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e 26">
            <a:extLst>
              <a:ext uri="{FF2B5EF4-FFF2-40B4-BE49-F238E27FC236}">
                <a16:creationId xmlns:a16="http://schemas.microsoft.com/office/drawing/2014/main" id="{591E8803-0AF3-72B4-A159-F55B6DA55EEE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B716A0FF-49D9-5D3A-97D8-EC15EB9AF416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4" name="Image 2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8055743-AE80-C243-681A-1931082D2D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5" name="Image 2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DD4D984-719B-B728-187D-CE92446E4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6" name="Image 2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015DD4A1-B22F-A537-4879-C696F96C76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7706E6DF-3845-9CB5-12E5-31269D05B44D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B267160-AE74-0988-24C1-FF3DD46BF0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AC38CCB-1A31-755B-2AD8-0E8C1FA87C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1E9F6C36-D463-1262-D8E6-C524B5D14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BD3AB05D-4677-3018-7C1A-CFBD91728597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A69D37F-AAA2-797E-F776-1AA8C4014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DB1C00F-7022-C3D5-ACDD-FA6D4C60E8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176C3B4-8003-A251-E5F4-C242E4847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4E14514B-D582-3551-A532-93E160BB183E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0" name="Image 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D9474A6-34F6-483B-9D98-CC5D2F790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2" name="Image 1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192BBC24-E1AC-9D71-F830-4C0480970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2329DE5-81ED-852F-EFF3-807AA75534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pic>
        <p:nvPicPr>
          <p:cNvPr id="2" name="Image 1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D5D508EE-3584-1DEA-8422-55260BAC62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" t="-902" r="33628" b="136"/>
          <a:stretch/>
        </p:blipFill>
        <p:spPr>
          <a:xfrm>
            <a:off x="6164805" y="1789327"/>
            <a:ext cx="5836451" cy="317941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4647E80-54A1-0C5A-F80C-14E9F8D7FAFF}"/>
              </a:ext>
            </a:extLst>
          </p:cNvPr>
          <p:cNvSpPr txBox="1"/>
          <p:nvPr/>
        </p:nvSpPr>
        <p:spPr>
          <a:xfrm>
            <a:off x="4724400" y="20380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>
                <a:latin typeface="Rockwell"/>
              </a:rPr>
              <a:t>WHY THIS COUNTRY?</a:t>
            </a:r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2762F54-8B34-3DE1-E3B4-5F2EAB2972F1}"/>
              </a:ext>
            </a:extLst>
          </p:cNvPr>
          <p:cNvSpPr txBox="1"/>
          <p:nvPr/>
        </p:nvSpPr>
        <p:spPr>
          <a:xfrm>
            <a:off x="4724400" y="510462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HOW WILL IT RESULT?</a:t>
            </a:r>
            <a:endParaRPr lang="fr-FR"/>
          </a:p>
          <a:p>
            <a:pPr algn="ctr"/>
            <a:r>
              <a:rPr lang="fr-FR" sz="1100">
                <a:latin typeface="Rockwell"/>
              </a:rPr>
              <a:t>PESTEL ANALYSIS</a:t>
            </a:r>
          </a:p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32B88E-D7FC-B8CF-2429-9DFF80BB457E}"/>
              </a:ext>
            </a:extLst>
          </p:cNvPr>
          <p:cNvSpPr txBox="1"/>
          <p:nvPr/>
        </p:nvSpPr>
        <p:spPr>
          <a:xfrm>
            <a:off x="4724399" y="3782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WHAT IS KERISAC?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5E0997-9607-F1D2-F805-3219CB901C8A}"/>
              </a:ext>
            </a:extLst>
          </p:cNvPr>
          <p:cNvSpPr txBox="1"/>
          <p:nvPr/>
        </p:nvSpPr>
        <p:spPr>
          <a:xfrm>
            <a:off x="6337038" y="1480990"/>
            <a:ext cx="585441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err="1">
                <a:latin typeface="Rockwell"/>
                <a:ea typeface="+mn-lt"/>
                <a:cs typeface="+mn-lt"/>
              </a:rPr>
              <a:t>Number</a:t>
            </a:r>
            <a:r>
              <a:rPr lang="fr-FR" sz="1400">
                <a:latin typeface="Rockwell"/>
                <a:ea typeface="+mn-lt"/>
                <a:cs typeface="+mn-lt"/>
              </a:rPr>
              <a:t> of </a:t>
            </a:r>
            <a:r>
              <a:rPr lang="fr-FR" sz="1400" err="1">
                <a:latin typeface="Rockwell"/>
                <a:ea typeface="+mn-lt"/>
                <a:cs typeface="+mn-lt"/>
              </a:rPr>
              <a:t>Cider</a:t>
            </a:r>
            <a:r>
              <a:rPr lang="fr-FR" sz="1400">
                <a:latin typeface="Rockwell"/>
                <a:ea typeface="+mn-lt"/>
                <a:cs typeface="+mn-lt"/>
              </a:rPr>
              <a:t> Exports by Country to South </a:t>
            </a:r>
            <a:r>
              <a:rPr lang="fr-FR" sz="1400" err="1">
                <a:latin typeface="Rockwell"/>
                <a:ea typeface="+mn-lt"/>
                <a:cs typeface="+mn-lt"/>
              </a:rPr>
              <a:t>Africa</a:t>
            </a:r>
            <a:endParaRPr lang="fr-FR" sz="1400">
              <a:latin typeface="Rockwell"/>
            </a:endParaRP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EF754581-9EE1-0EE7-F0C7-CD25500A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8</a:t>
            </a:fld>
            <a:endParaRPr lang="fr-FR"/>
          </a:p>
        </p:txBody>
      </p:sp>
      <p:sp>
        <p:nvSpPr>
          <p:cNvPr id="15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ea typeface="Calibri"/>
                <a:cs typeface="Calibri"/>
              </a:rPr>
              <a:t>01/09/2025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7" name="Image 16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F1E7509B-3740-FF1A-8A0A-71BA416A6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3A306F2-5B6D-1089-8105-B45CA2171168}"/>
              </a:ext>
            </a:extLst>
          </p:cNvPr>
          <p:cNvSpPr txBox="1"/>
          <p:nvPr/>
        </p:nvSpPr>
        <p:spPr>
          <a:xfrm>
            <a:off x="122695" y="2021237"/>
            <a:ext cx="585061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 b="1">
                <a:latin typeface="Rockwell"/>
                <a:ea typeface="+mn-lt"/>
                <a:cs typeface="+mn-lt"/>
              </a:rPr>
              <a:t>France:</a:t>
            </a:r>
            <a:r>
              <a:rPr lang="fr-FR" sz="1600">
                <a:latin typeface="Rockwell"/>
                <a:ea typeface="+mn-lt"/>
                <a:cs typeface="+mn-lt"/>
              </a:rPr>
              <a:t> Leader in </a:t>
            </a:r>
            <a:r>
              <a:rPr lang="fr-FR" sz="1600" err="1">
                <a:latin typeface="Rockwell"/>
                <a:ea typeface="+mn-lt"/>
                <a:cs typeface="+mn-lt"/>
              </a:rPr>
              <a:t>cider</a:t>
            </a:r>
            <a:r>
              <a:rPr lang="fr-FR" sz="1600">
                <a:latin typeface="Rockwell"/>
                <a:ea typeface="+mn-lt"/>
                <a:cs typeface="+mn-lt"/>
              </a:rPr>
              <a:t> exports, </a:t>
            </a:r>
            <a:r>
              <a:rPr lang="fr-FR" sz="1600" err="1">
                <a:latin typeface="Rockwell"/>
                <a:ea typeface="+mn-lt"/>
                <a:cs typeface="+mn-lt"/>
              </a:rPr>
              <a:t>known</a:t>
            </a:r>
            <a:r>
              <a:rPr lang="fr-FR" sz="1600">
                <a:latin typeface="Rockwell"/>
                <a:ea typeface="+mn-lt"/>
                <a:cs typeface="+mn-lt"/>
              </a:rPr>
              <a:t> for </a:t>
            </a:r>
            <a:r>
              <a:rPr lang="fr-FR" sz="1600" err="1">
                <a:latin typeface="Rockwell"/>
                <a:ea typeface="+mn-lt"/>
                <a:cs typeface="+mn-lt"/>
              </a:rPr>
              <a:t>quality</a:t>
            </a:r>
            <a:r>
              <a:rPr lang="fr-FR" sz="1600">
                <a:latin typeface="Rockwell"/>
                <a:ea typeface="+mn-lt"/>
                <a:cs typeface="+mn-lt"/>
              </a:rPr>
              <a:t> and </a:t>
            </a:r>
            <a:r>
              <a:rPr lang="fr-FR" sz="1600" err="1">
                <a:latin typeface="Rockwell"/>
                <a:ea typeface="+mn-lt"/>
                <a:cs typeface="+mn-lt"/>
              </a:rPr>
              <a:t>variety</a:t>
            </a:r>
            <a:r>
              <a:rPr lang="fr-FR" sz="1600">
                <a:latin typeface="Rockwell"/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Rockwell"/>
                <a:ea typeface="+mn-lt"/>
                <a:cs typeface="+mn-lt"/>
              </a:rPr>
              <a:t>Spain, South Africa and the United States</a:t>
            </a:r>
            <a:r>
              <a:rPr lang="en-US" sz="1600">
                <a:latin typeface="Rockwell"/>
                <a:ea typeface="+mn-lt"/>
                <a:cs typeface="+mn-lt"/>
              </a:rPr>
              <a:t> : mid-range exporters.</a:t>
            </a:r>
          </a:p>
          <a:p>
            <a:pPr marL="285750" indent="-285750">
              <a:buFont typeface="Arial"/>
              <a:buChar char="•"/>
            </a:pPr>
            <a:endParaRPr lang="fr-FR" sz="1600"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600" b="1" err="1">
                <a:latin typeface="Rockwell"/>
                <a:ea typeface="+mn-lt"/>
                <a:cs typeface="+mn-lt"/>
              </a:rPr>
              <a:t>Belgium</a:t>
            </a:r>
            <a:r>
              <a:rPr lang="fr-FR" sz="1600" b="1">
                <a:latin typeface="Rockwell"/>
                <a:ea typeface="+mn-lt"/>
                <a:cs typeface="+mn-lt"/>
              </a:rPr>
              <a:t>, Portugal and Germany :</a:t>
            </a:r>
            <a:r>
              <a:rPr lang="fr-FR" sz="1600">
                <a:latin typeface="Rockwell"/>
                <a:ea typeface="+mn-lt"/>
                <a:cs typeface="+mn-lt"/>
              </a:rPr>
              <a:t> Lowe export volumes.</a:t>
            </a: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9" name="Image 28" descr="Catalogue de formations 2023 - IUT de Vannes">
            <a:extLst>
              <a:ext uri="{FF2B5EF4-FFF2-40B4-BE49-F238E27FC236}">
                <a16:creationId xmlns:a16="http://schemas.microsoft.com/office/drawing/2014/main" id="{EA12F1E8-69C1-A98C-C461-078A9A4E0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43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e 30">
            <a:extLst>
              <a:ext uri="{FF2B5EF4-FFF2-40B4-BE49-F238E27FC236}">
                <a16:creationId xmlns:a16="http://schemas.microsoft.com/office/drawing/2014/main" id="{CCE94CCF-4EBD-E188-F69C-DB5CDFA3B66D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28667D3C-B258-9FF1-19D9-BBE461CAE0B9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2EE4E84-2CED-4D7B-295C-251DC5ADC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8868C53-54BF-7C8E-D2EA-60BDA4966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6C1FC7B-CAC8-69DB-E1AB-98A14AC76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EF2654F3-1D88-449C-B8F4-880A1D387A19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CF64283-1969-0627-6F78-2BD934D5CC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9C16839-0FCF-7A52-7691-8B4DDF46F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28197DD-459F-A5AB-0334-ECE4C8944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CB323557-94C3-2EF1-2D36-E86535599AC8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E774028-7DB0-75B3-96D5-415E0A2206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9899F7B-FCDD-32F7-8BF0-7721432BD2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D339BA7-AC3A-F575-A104-273B8727E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7BDB8D64-B47D-A68A-0130-9427A455EEA7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3" name="Image 1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E9D169B-C254-C373-B02E-709A3FCBF7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4823D21-F8F8-C1F2-B5CB-39CA37135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FDB75E2-B13F-1F42-C5AB-2AD723795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A12105-C418-07EB-28F5-20F98B84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A7FE-8161-4952-9D17-9E307A7CB59C}" type="datetime1">
              <a:rPr lang="en-US"/>
              <a:t>5/29/2025</a:t>
            </a:fld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9C082-FFE7-921A-4061-D632CBD4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/>
          </a:p>
        </p:txBody>
      </p:sp>
      <p:pic>
        <p:nvPicPr>
          <p:cNvPr id="10" name="Image 9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E40BF803-C4CA-EBA9-5546-0C3FF2D1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sp>
        <p:nvSpPr>
          <p:cNvPr id="24" name="ZoneTexte 18">
            <a:extLst>
              <a:ext uri="{FF2B5EF4-FFF2-40B4-BE49-F238E27FC236}">
                <a16:creationId xmlns:a16="http://schemas.microsoft.com/office/drawing/2014/main" id="{C7CA7CA9-82B1-D177-934F-82A52C06C977}"/>
              </a:ext>
            </a:extLst>
          </p:cNvPr>
          <p:cNvSpPr txBox="1"/>
          <p:nvPr/>
        </p:nvSpPr>
        <p:spPr>
          <a:xfrm>
            <a:off x="4734046" y="358133"/>
            <a:ext cx="293217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latin typeface="Rockwell"/>
              </a:rPr>
              <a:t>HOW WILL IT RESULT?</a:t>
            </a:r>
            <a:endParaRPr lang="fr-FR"/>
          </a:p>
        </p:txBody>
      </p:sp>
      <p:sp>
        <p:nvSpPr>
          <p:cNvPr id="25" name="ZoneTexte 20">
            <a:extLst>
              <a:ext uri="{FF2B5EF4-FFF2-40B4-BE49-F238E27FC236}">
                <a16:creationId xmlns:a16="http://schemas.microsoft.com/office/drawing/2014/main" id="{20960F3E-9870-CCAE-45E4-20F5A3278EE0}"/>
              </a:ext>
            </a:extLst>
          </p:cNvPr>
          <p:cNvSpPr txBox="1"/>
          <p:nvPr/>
        </p:nvSpPr>
        <p:spPr>
          <a:xfrm>
            <a:off x="4743692" y="616563"/>
            <a:ext cx="2743200" cy="53860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>
                <a:latin typeface="Rockwell"/>
              </a:rPr>
              <a:t>PESTEL ANALYSIS</a:t>
            </a:r>
            <a:endParaRPr lang="fr-FR"/>
          </a:p>
          <a:p>
            <a:pPr algn="ctr"/>
            <a:endParaRPr lang="fr-FR"/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883C9150-69A9-0FD3-A9A7-163AD47BB159}"/>
              </a:ext>
            </a:extLst>
          </p:cNvPr>
          <p:cNvSpPr txBox="1"/>
          <p:nvPr/>
        </p:nvSpPr>
        <p:spPr>
          <a:xfrm>
            <a:off x="4743691" y="37829"/>
            <a:ext cx="2743200" cy="43088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>
                <a:latin typeface="Rockwell"/>
              </a:rPr>
              <a:t>WHAT IS KERISAC?</a:t>
            </a:r>
          </a:p>
          <a:p>
            <a:pPr algn="ctr"/>
            <a:r>
              <a:rPr lang="fr-FR" sz="1100">
                <a:latin typeface="Rockwell"/>
              </a:rPr>
              <a:t>WHY THIS COUNTRY</a:t>
            </a:r>
          </a:p>
        </p:txBody>
      </p:sp>
      <p:pic>
        <p:nvPicPr>
          <p:cNvPr id="28" name="Image 27" descr="Catalogue de formations 2023 - IUT de Vannes">
            <a:extLst>
              <a:ext uri="{FF2B5EF4-FFF2-40B4-BE49-F238E27FC236}">
                <a16:creationId xmlns:a16="http://schemas.microsoft.com/office/drawing/2014/main" id="{96AF249F-3677-B2BE-4E7A-4CF4B3C25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  <p:sp>
        <p:nvSpPr>
          <p:cNvPr id="29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ea typeface="Calibri"/>
                <a:cs typeface="Calibri"/>
              </a:rPr>
              <a:t>01/09/2025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A30F05-99CE-DB86-565A-2C5CC2F80997}"/>
              </a:ext>
            </a:extLst>
          </p:cNvPr>
          <p:cNvSpPr/>
          <p:nvPr/>
        </p:nvSpPr>
        <p:spPr>
          <a:xfrm>
            <a:off x="1152292" y="6588512"/>
            <a:ext cx="845634" cy="148682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texte, capture d’écran, nombre, Tracé&#10;&#10;Description générée automatiquement">
            <a:extLst>
              <a:ext uri="{FF2B5EF4-FFF2-40B4-BE49-F238E27FC236}">
                <a16:creationId xmlns:a16="http://schemas.microsoft.com/office/drawing/2014/main" id="{8EB90045-647F-CCC7-78F9-DCE240795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715" y="2100373"/>
            <a:ext cx="4610987" cy="2754720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83AC0B63-D23F-BB17-7C87-B00A49C09FF4}"/>
              </a:ext>
            </a:extLst>
          </p:cNvPr>
          <p:cNvSpPr txBox="1"/>
          <p:nvPr/>
        </p:nvSpPr>
        <p:spPr>
          <a:xfrm>
            <a:off x="6608705" y="1733454"/>
            <a:ext cx="54199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 err="1">
                <a:latin typeface="Rockwell"/>
                <a:ea typeface="+mn-lt"/>
                <a:cs typeface="+mn-lt"/>
              </a:rPr>
              <a:t>Alcohol</a:t>
            </a:r>
            <a:r>
              <a:rPr lang="fr-FR" sz="1600">
                <a:latin typeface="Rockwell"/>
                <a:ea typeface="+mn-lt"/>
                <a:cs typeface="+mn-lt"/>
              </a:rPr>
              <a:t> sales in South </a:t>
            </a:r>
            <a:r>
              <a:rPr lang="fr-FR" sz="1600" err="1">
                <a:latin typeface="Rockwell"/>
                <a:ea typeface="+mn-lt"/>
                <a:cs typeface="+mn-lt"/>
              </a:rPr>
              <a:t>Africa</a:t>
            </a:r>
            <a:r>
              <a:rPr lang="fr-FR" sz="1600">
                <a:latin typeface="Rockwell"/>
                <a:ea typeface="+mn-lt"/>
                <a:cs typeface="+mn-lt"/>
              </a:rPr>
              <a:t> (in billions of ZAR)</a:t>
            </a:r>
            <a:endParaRPr lang="fr-FR" sz="1600">
              <a:ea typeface="Calibri"/>
              <a:cs typeface="Calibri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52349FA-D2F0-5520-64EF-02E55546F061}"/>
              </a:ext>
            </a:extLst>
          </p:cNvPr>
          <p:cNvSpPr txBox="1"/>
          <p:nvPr/>
        </p:nvSpPr>
        <p:spPr>
          <a:xfrm>
            <a:off x="829347" y="2290369"/>
            <a:ext cx="472054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>
                <a:latin typeface="Rockwell"/>
                <a:ea typeface="Calibri"/>
                <a:cs typeface="Calibri"/>
              </a:rPr>
              <a:t>2023 </a:t>
            </a:r>
            <a:r>
              <a:rPr lang="fr-FR" sz="1600" err="1">
                <a:latin typeface="Rockwell"/>
                <a:ea typeface="+mn-lt"/>
                <a:cs typeface="+mn-lt"/>
              </a:rPr>
              <a:t>Alcohol</a:t>
            </a:r>
            <a:r>
              <a:rPr lang="fr-FR" sz="1600">
                <a:latin typeface="Rockwell"/>
                <a:ea typeface="+mn-lt"/>
                <a:cs typeface="+mn-lt"/>
              </a:rPr>
              <a:t> sales</a:t>
            </a:r>
            <a:r>
              <a:rPr lang="fr-FR" sz="1600">
                <a:latin typeface="Rockwell"/>
                <a:ea typeface="Calibri"/>
                <a:cs typeface="Calibri"/>
              </a:rPr>
              <a:t> : + </a:t>
            </a:r>
            <a:r>
              <a:rPr lang="fr-FR" sz="1600" b="1">
                <a:latin typeface="Rockwell"/>
                <a:ea typeface="Calibri"/>
                <a:cs typeface="Calibri"/>
              </a:rPr>
              <a:t>12 % </a:t>
            </a:r>
            <a:r>
              <a:rPr lang="fr-FR" sz="1600">
                <a:latin typeface="Rockwell"/>
                <a:ea typeface="Calibri"/>
                <a:cs typeface="Calibri"/>
              </a:rPr>
              <a:t>: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>
                <a:latin typeface="Rockwell"/>
                <a:ea typeface="Calibri"/>
                <a:cs typeface="Calibri"/>
              </a:rPr>
              <a:t>23 billions € -&gt; 25 billions €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0A75313-AF0F-67BF-D863-6E8C65469ABE}"/>
              </a:ext>
            </a:extLst>
          </p:cNvPr>
          <p:cNvSpPr txBox="1"/>
          <p:nvPr/>
        </p:nvSpPr>
        <p:spPr>
          <a:xfrm>
            <a:off x="838993" y="3158307"/>
            <a:ext cx="616737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2 leaders in South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Africa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cider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: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 b="1" err="1">
                <a:latin typeface="Rockwell"/>
                <a:ea typeface="Calibri" panose="020F0502020204030204"/>
                <a:cs typeface="Calibri" panose="020F0502020204030204"/>
              </a:rPr>
              <a:t>Savanna</a:t>
            </a: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b="1" err="1">
                <a:latin typeface="Rockwell"/>
                <a:ea typeface="Calibri" panose="020F0502020204030204"/>
                <a:cs typeface="Calibri" panose="020F0502020204030204"/>
              </a:rPr>
              <a:t>Cider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and</a:t>
            </a: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b="1" err="1">
                <a:latin typeface="Rockwell"/>
                <a:ea typeface="Calibri" panose="020F0502020204030204"/>
                <a:cs typeface="Calibri" panose="020F0502020204030204"/>
              </a:rPr>
              <a:t>Hunter's</a:t>
            </a: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b="1" err="1">
                <a:latin typeface="Rockwell"/>
                <a:ea typeface="Calibri" panose="020F0502020204030204"/>
                <a:cs typeface="Calibri" panose="020F0502020204030204"/>
              </a:rPr>
              <a:t>Cider</a:t>
            </a:r>
            <a:endParaRPr lang="fr-FR" sz="1600" b="1">
              <a:latin typeface="Rockwell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fr-FR" sz="1600" b="1" err="1">
                <a:latin typeface="Rockwell"/>
                <a:ea typeface="Calibri" panose="020F0502020204030204"/>
                <a:cs typeface="Calibri" panose="020F0502020204030204"/>
              </a:rPr>
              <a:t>Savanna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being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the leader by </a:t>
            </a: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far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B113209-57DA-21C6-4D95-A2C70E8EB12C}"/>
              </a:ext>
            </a:extLst>
          </p:cNvPr>
          <p:cNvSpPr txBox="1"/>
          <p:nvPr/>
        </p:nvSpPr>
        <p:spPr>
          <a:xfrm>
            <a:off x="858274" y="4199772"/>
            <a:ext cx="524140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 b="1" err="1">
                <a:latin typeface="Rockwell"/>
                <a:ea typeface="Calibri" panose="020F0502020204030204"/>
                <a:cs typeface="Calibri" panose="020F0502020204030204"/>
              </a:rPr>
              <a:t>Two</a:t>
            </a: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South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African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brands are </a:t>
            </a: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leaders 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: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Create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a </a:t>
            </a:r>
            <a:r>
              <a:rPr lang="fr-FR" sz="1600" b="1" err="1">
                <a:latin typeface="Rockwell"/>
                <a:ea typeface="Calibri" panose="020F0502020204030204"/>
                <a:cs typeface="Calibri" panose="020F0502020204030204"/>
              </a:rPr>
              <a:t>variety</a:t>
            </a: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offer</a:t>
            </a: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784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e 30">
            <a:extLst>
              <a:ext uri="{FF2B5EF4-FFF2-40B4-BE49-F238E27FC236}">
                <a16:creationId xmlns:a16="http://schemas.microsoft.com/office/drawing/2014/main" id="{CCE94CCF-4EBD-E188-F69C-DB5CDFA3B66D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28667D3C-B258-9FF1-19D9-BBE461CAE0B9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2EE4E84-2CED-4D7B-295C-251DC5ADC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8868C53-54BF-7C8E-D2EA-60BDA4966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6C1FC7B-CAC8-69DB-E1AB-98A14AC76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EF2654F3-1D88-449C-B8F4-880A1D387A19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CF64283-1969-0627-6F78-2BD934D5CC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9C16839-0FCF-7A52-7691-8B4DDF46F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28197DD-459F-A5AB-0334-ECE4C8944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CB323557-94C3-2EF1-2D36-E86535599AC8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E774028-7DB0-75B3-96D5-415E0A2206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9899F7B-FCDD-32F7-8BF0-7721432BD2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D339BA7-AC3A-F575-A104-273B8727E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7BDB8D64-B47D-A68A-0130-9427A455EEA7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3" name="Image 1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E9D169B-C254-C373-B02E-709A3FCBF7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4823D21-F8F8-C1F2-B5CB-39CA37135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FDB75E2-B13F-1F42-C5AB-2AD723795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A12105-C418-07EB-28F5-20F98B84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A7FE-8161-4952-9D17-9E307A7CB59C}" type="datetime1">
              <a:rPr lang="en-US"/>
              <a:t>5/29/2025</a:t>
            </a:fld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9C082-FFE7-921A-4061-D632CBD4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/>
          </a:p>
        </p:txBody>
      </p:sp>
      <p:pic>
        <p:nvPicPr>
          <p:cNvPr id="10" name="Image 9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E40BF803-C4CA-EBA9-5546-0C3FF2D1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sp>
        <p:nvSpPr>
          <p:cNvPr id="24" name="ZoneTexte 18">
            <a:extLst>
              <a:ext uri="{FF2B5EF4-FFF2-40B4-BE49-F238E27FC236}">
                <a16:creationId xmlns:a16="http://schemas.microsoft.com/office/drawing/2014/main" id="{C7CA7CA9-82B1-D177-934F-82A52C06C977}"/>
              </a:ext>
            </a:extLst>
          </p:cNvPr>
          <p:cNvSpPr txBox="1"/>
          <p:nvPr/>
        </p:nvSpPr>
        <p:spPr>
          <a:xfrm>
            <a:off x="4734046" y="358133"/>
            <a:ext cx="293217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latin typeface="Rockwell"/>
              </a:rPr>
              <a:t>HOW WILL IT RESULT?</a:t>
            </a:r>
            <a:endParaRPr lang="fr-FR"/>
          </a:p>
        </p:txBody>
      </p:sp>
      <p:sp>
        <p:nvSpPr>
          <p:cNvPr id="25" name="ZoneTexte 20">
            <a:extLst>
              <a:ext uri="{FF2B5EF4-FFF2-40B4-BE49-F238E27FC236}">
                <a16:creationId xmlns:a16="http://schemas.microsoft.com/office/drawing/2014/main" id="{20960F3E-9870-CCAE-45E4-20F5A3278EE0}"/>
              </a:ext>
            </a:extLst>
          </p:cNvPr>
          <p:cNvSpPr txBox="1"/>
          <p:nvPr/>
        </p:nvSpPr>
        <p:spPr>
          <a:xfrm>
            <a:off x="4743692" y="616563"/>
            <a:ext cx="2743200" cy="53860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>
                <a:latin typeface="Rockwell"/>
              </a:rPr>
              <a:t>PESTEL ANALYSIS</a:t>
            </a:r>
            <a:endParaRPr lang="fr-FR"/>
          </a:p>
          <a:p>
            <a:pPr algn="ctr"/>
            <a:endParaRPr lang="fr-FR"/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883C9150-69A9-0FD3-A9A7-163AD47BB159}"/>
              </a:ext>
            </a:extLst>
          </p:cNvPr>
          <p:cNvSpPr txBox="1"/>
          <p:nvPr/>
        </p:nvSpPr>
        <p:spPr>
          <a:xfrm>
            <a:off x="4743691" y="37829"/>
            <a:ext cx="2743200" cy="43088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>
                <a:latin typeface="Rockwell"/>
              </a:rPr>
              <a:t>WHAT IS KERISAC?</a:t>
            </a:r>
          </a:p>
          <a:p>
            <a:pPr algn="ctr"/>
            <a:r>
              <a:rPr lang="fr-FR" sz="1100">
                <a:latin typeface="Rockwell"/>
              </a:rPr>
              <a:t>WHY THIS COUNTRY</a:t>
            </a:r>
          </a:p>
        </p:txBody>
      </p:sp>
      <p:pic>
        <p:nvPicPr>
          <p:cNvPr id="28" name="Image 27" descr="Catalogue de formations 2023 - IUT de Vannes">
            <a:extLst>
              <a:ext uri="{FF2B5EF4-FFF2-40B4-BE49-F238E27FC236}">
                <a16:creationId xmlns:a16="http://schemas.microsoft.com/office/drawing/2014/main" id="{96AF249F-3677-B2BE-4E7A-4CF4B3C25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  <p:sp>
        <p:nvSpPr>
          <p:cNvPr id="29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ea typeface="Calibri"/>
                <a:cs typeface="Calibri"/>
              </a:rPr>
              <a:t>01/09/2025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A30F05-99CE-DB86-565A-2C5CC2F80997}"/>
              </a:ext>
            </a:extLst>
          </p:cNvPr>
          <p:cNvSpPr/>
          <p:nvPr/>
        </p:nvSpPr>
        <p:spPr>
          <a:xfrm>
            <a:off x="1152292" y="6588512"/>
            <a:ext cx="845634" cy="148682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AD3E3D7-5D5C-0A11-67F3-AA0467DD7EB5}"/>
              </a:ext>
            </a:extLst>
          </p:cNvPr>
          <p:cNvSpPr txBox="1"/>
          <p:nvPr/>
        </p:nvSpPr>
        <p:spPr>
          <a:xfrm>
            <a:off x="952311" y="1989005"/>
            <a:ext cx="713193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Transport 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: 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Maritime, like 60% of french exports to South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Africa</a:t>
            </a: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06420D0-E905-AB39-1B36-B6D048378242}"/>
              </a:ext>
            </a:extLst>
          </p:cNvPr>
          <p:cNvSpPr txBox="1"/>
          <p:nvPr/>
        </p:nvSpPr>
        <p:spPr>
          <a:xfrm>
            <a:off x="952310" y="2635258"/>
            <a:ext cx="573332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Objective 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: 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For the first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year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,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Kerisac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needs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to import 200 000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litters</a:t>
            </a: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Reach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at least 10 % of the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actual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cider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market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in South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Africa</a:t>
            </a: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8" name="Image 7" descr="Une image contenant capture d’écran, logo, Graphique, diagramme&#10;&#10;Description générée automatiquement">
            <a:extLst>
              <a:ext uri="{FF2B5EF4-FFF2-40B4-BE49-F238E27FC236}">
                <a16:creationId xmlns:a16="http://schemas.microsoft.com/office/drawing/2014/main" id="{66470A97-D2B9-4F17-F89A-E66651631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742" y="1797211"/>
            <a:ext cx="4954085" cy="2935629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5D579A93-F82A-20CA-EDD0-E6C55EB0D63B}"/>
              </a:ext>
            </a:extLst>
          </p:cNvPr>
          <p:cNvSpPr txBox="1"/>
          <p:nvPr/>
        </p:nvSpPr>
        <p:spPr>
          <a:xfrm>
            <a:off x="6685870" y="1424796"/>
            <a:ext cx="54199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600">
                <a:latin typeface="Rockwell"/>
                <a:ea typeface="+mn-lt"/>
                <a:cs typeface="+mn-lt"/>
              </a:rPr>
              <a:t>Exports </a:t>
            </a:r>
            <a:r>
              <a:rPr lang="fr-FR" sz="1600" err="1">
                <a:latin typeface="Rockwell"/>
                <a:ea typeface="+mn-lt"/>
                <a:cs typeface="+mn-lt"/>
              </a:rPr>
              <a:t>targeted</a:t>
            </a:r>
            <a:r>
              <a:rPr lang="fr-FR" sz="1600">
                <a:latin typeface="Rockwell"/>
                <a:ea typeface="+mn-lt"/>
                <a:cs typeface="+mn-lt"/>
              </a:rPr>
              <a:t> </a:t>
            </a:r>
            <a:r>
              <a:rPr lang="fr-FR" sz="1600" err="1">
                <a:latin typeface="Rockwell"/>
                <a:ea typeface="+mn-lt"/>
                <a:cs typeface="+mn-lt"/>
              </a:rPr>
              <a:t>compared</a:t>
            </a:r>
            <a:r>
              <a:rPr lang="fr-FR" sz="1600">
                <a:latin typeface="Rockwell"/>
                <a:ea typeface="+mn-lt"/>
                <a:cs typeface="+mn-lt"/>
              </a:rPr>
              <a:t> to </a:t>
            </a:r>
            <a:r>
              <a:rPr lang="fr-FR" sz="1600" err="1">
                <a:latin typeface="Rockwell"/>
                <a:ea typeface="+mn-lt"/>
                <a:cs typeface="+mn-lt"/>
              </a:rPr>
              <a:t>estimated</a:t>
            </a:r>
            <a:r>
              <a:rPr lang="fr-FR" sz="1600">
                <a:latin typeface="Rockwell"/>
                <a:ea typeface="+mn-lt"/>
                <a:cs typeface="+mn-lt"/>
              </a:rPr>
              <a:t> production</a:t>
            </a:r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68624B7-C56A-FA39-A42B-8FF7701AFB13}"/>
              </a:ext>
            </a:extLst>
          </p:cNvPr>
          <p:cNvSpPr txBox="1"/>
          <p:nvPr/>
        </p:nvSpPr>
        <p:spPr>
          <a:xfrm>
            <a:off x="943450" y="4115628"/>
            <a:ext cx="573332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 b="1">
                <a:latin typeface="Rockwell"/>
                <a:ea typeface="Calibri" panose="020F0502020204030204"/>
                <a:cs typeface="Calibri" panose="020F0502020204030204"/>
              </a:rPr>
              <a:t>Distribution 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: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Collaboration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with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South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African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groups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Present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in a lot of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supermarkets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, bars and restaurants</a:t>
            </a:r>
          </a:p>
        </p:txBody>
      </p:sp>
    </p:spTree>
    <p:extLst>
      <p:ext uri="{BB962C8B-B14F-4D97-AF65-F5344CB8AC3E}">
        <p14:creationId xmlns:p14="http://schemas.microsoft.com/office/powerpoint/2010/main" val="1938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e 30">
            <a:extLst>
              <a:ext uri="{FF2B5EF4-FFF2-40B4-BE49-F238E27FC236}">
                <a16:creationId xmlns:a16="http://schemas.microsoft.com/office/drawing/2014/main" id="{CCE94CCF-4EBD-E188-F69C-DB5CDFA3B66D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28667D3C-B258-9FF1-19D9-BBE461CAE0B9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2EE4E84-2CED-4D7B-295C-251DC5ADC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3" name="Image 2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8868C53-54BF-7C8E-D2EA-60BDA4966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6C1FC7B-CAC8-69DB-E1AB-98A14AC76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EF2654F3-1D88-449C-B8F4-880A1D387A19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CF64283-1969-0627-6F78-2BD934D5CC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F9C16839-0FCF-7A52-7691-8B4DDF46F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1" name="Image 2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28197DD-459F-A5AB-0334-ECE4C8944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CB323557-94C3-2EF1-2D36-E86535599AC8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5E774028-7DB0-75B3-96D5-415E0A2206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9899F7B-FCDD-32F7-8BF0-7721432BD2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D339BA7-AC3A-F575-A104-273B8727E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7BDB8D64-B47D-A68A-0130-9427A455EEA7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3" name="Image 1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E9D169B-C254-C373-B02E-709A3FCBF7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4823D21-F8F8-C1F2-B5CB-39CA37135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FDB75E2-B13F-1F42-C5AB-2AD723795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A12105-C418-07EB-28F5-20F98B84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A7FE-8161-4952-9D17-9E307A7CB59C}" type="datetime1">
              <a:rPr lang="en-US"/>
              <a:t>5/29/2025</a:t>
            </a:fld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9C082-FFE7-921A-4061-D632CBD4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/>
          </a:p>
        </p:txBody>
      </p:sp>
      <p:pic>
        <p:nvPicPr>
          <p:cNvPr id="10" name="Image 9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E40BF803-C4CA-EBA9-5546-0C3FF2D1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sp>
        <p:nvSpPr>
          <p:cNvPr id="24" name="ZoneTexte 18">
            <a:extLst>
              <a:ext uri="{FF2B5EF4-FFF2-40B4-BE49-F238E27FC236}">
                <a16:creationId xmlns:a16="http://schemas.microsoft.com/office/drawing/2014/main" id="{C7CA7CA9-82B1-D177-934F-82A52C06C977}"/>
              </a:ext>
            </a:extLst>
          </p:cNvPr>
          <p:cNvSpPr txBox="1"/>
          <p:nvPr/>
        </p:nvSpPr>
        <p:spPr>
          <a:xfrm>
            <a:off x="4734046" y="358133"/>
            <a:ext cx="293217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latin typeface="Rockwell"/>
              </a:rPr>
              <a:t>HOW WILL IT RESULT?</a:t>
            </a:r>
            <a:endParaRPr lang="fr-FR"/>
          </a:p>
        </p:txBody>
      </p:sp>
      <p:sp>
        <p:nvSpPr>
          <p:cNvPr id="25" name="ZoneTexte 20">
            <a:extLst>
              <a:ext uri="{FF2B5EF4-FFF2-40B4-BE49-F238E27FC236}">
                <a16:creationId xmlns:a16="http://schemas.microsoft.com/office/drawing/2014/main" id="{20960F3E-9870-CCAE-45E4-20F5A3278EE0}"/>
              </a:ext>
            </a:extLst>
          </p:cNvPr>
          <p:cNvSpPr txBox="1"/>
          <p:nvPr/>
        </p:nvSpPr>
        <p:spPr>
          <a:xfrm>
            <a:off x="4743692" y="616563"/>
            <a:ext cx="2743200" cy="53860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>
                <a:latin typeface="Rockwell"/>
              </a:rPr>
              <a:t>PESTEL ANALYSIS</a:t>
            </a:r>
            <a:endParaRPr lang="fr-FR"/>
          </a:p>
          <a:p>
            <a:pPr algn="ctr"/>
            <a:endParaRPr lang="fr-FR"/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883C9150-69A9-0FD3-A9A7-163AD47BB159}"/>
              </a:ext>
            </a:extLst>
          </p:cNvPr>
          <p:cNvSpPr txBox="1"/>
          <p:nvPr/>
        </p:nvSpPr>
        <p:spPr>
          <a:xfrm>
            <a:off x="4743691" y="37829"/>
            <a:ext cx="2743200" cy="43088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>
                <a:latin typeface="Rockwell"/>
              </a:rPr>
              <a:t>WHAT IS KERISAC?</a:t>
            </a:r>
          </a:p>
          <a:p>
            <a:pPr algn="ctr"/>
            <a:r>
              <a:rPr lang="fr-FR" sz="1100">
                <a:latin typeface="Rockwell"/>
              </a:rPr>
              <a:t>WHY THIS COUNTRY</a:t>
            </a:r>
          </a:p>
        </p:txBody>
      </p:sp>
      <p:pic>
        <p:nvPicPr>
          <p:cNvPr id="28" name="Image 27" descr="Catalogue de formations 2023 - IUT de Vannes">
            <a:extLst>
              <a:ext uri="{FF2B5EF4-FFF2-40B4-BE49-F238E27FC236}">
                <a16:creationId xmlns:a16="http://schemas.microsoft.com/office/drawing/2014/main" id="{96AF249F-3677-B2BE-4E7A-4CF4B3C25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  <p:sp>
        <p:nvSpPr>
          <p:cNvPr id="29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ea typeface="Calibri"/>
                <a:cs typeface="Calibri"/>
              </a:rPr>
              <a:t>01/09/2025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A30F05-99CE-DB86-565A-2C5CC2F80997}"/>
              </a:ext>
            </a:extLst>
          </p:cNvPr>
          <p:cNvSpPr/>
          <p:nvPr/>
        </p:nvSpPr>
        <p:spPr>
          <a:xfrm>
            <a:off x="1152292" y="6588512"/>
            <a:ext cx="845634" cy="148682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A18D72C-F586-8662-E494-E93FCA55713B}"/>
              </a:ext>
            </a:extLst>
          </p:cNvPr>
          <p:cNvSpPr txBox="1"/>
          <p:nvPr/>
        </p:nvSpPr>
        <p:spPr>
          <a:xfrm>
            <a:off x="1207206" y="1989005"/>
            <a:ext cx="6269665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latin typeface="Rockwell"/>
                <a:ea typeface="Calibri" panose="020F0502020204030204"/>
                <a:cs typeface="Calibri" panose="020F0502020204030204"/>
              </a:rPr>
              <a:t>Challenges </a:t>
            </a:r>
            <a:endParaRPr lang="fr-FR" sz="2000" b="1">
              <a:latin typeface="Rockwell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Concurrence : 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Rude concurrence,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need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a big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advertising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and     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sponsorship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budget.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9A81504-DC29-FF7D-20CF-B6F81ED38BD1}"/>
              </a:ext>
            </a:extLst>
          </p:cNvPr>
          <p:cNvSpPr txBox="1"/>
          <p:nvPr/>
        </p:nvSpPr>
        <p:spPr>
          <a:xfrm>
            <a:off x="1233787" y="3548447"/>
            <a:ext cx="6269665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 err="1">
                <a:latin typeface="Rockwell"/>
                <a:ea typeface="Calibri" panose="020F0502020204030204"/>
                <a:cs typeface="Calibri" panose="020F0502020204030204"/>
              </a:rPr>
              <a:t>Benefits</a:t>
            </a:r>
            <a:endParaRPr lang="fr-FR" sz="2000" b="1">
              <a:latin typeface="Rockwell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Visibility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: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Will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give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visibility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to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Kerisac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in the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rest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of the world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Possibility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to gain up to 2 million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consumers</a:t>
            </a: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,Sans-Serif"/>
              <a:buChar char="•"/>
            </a:pP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Company's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turnover</a:t>
            </a:r>
          </a:p>
          <a:p>
            <a:pPr marL="742950" lvl="1" indent="-285750">
              <a:buFont typeface="Courier New"/>
              <a:buChar char="o"/>
            </a:pP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The turnover of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Kerisac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will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get</a:t>
            </a:r>
            <a:r>
              <a:rPr lang="fr-FR" sz="1600">
                <a:latin typeface="Rockwell"/>
                <a:ea typeface="Calibri" panose="020F0502020204030204"/>
                <a:cs typeface="Calibri" panose="020F0502020204030204"/>
              </a:rPr>
              <a:t> </a:t>
            </a:r>
            <a:r>
              <a:rPr lang="fr-FR" sz="1600" err="1">
                <a:latin typeface="Rockwell"/>
                <a:ea typeface="Calibri" panose="020F0502020204030204"/>
                <a:cs typeface="Calibri" panose="020F0502020204030204"/>
              </a:rPr>
              <a:t>bigger</a:t>
            </a:r>
            <a:endParaRPr lang="fr-FR" sz="1600">
              <a:latin typeface="Rockwell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3" name="Image 52" descr="Kerisac : des cidres qui ont le goût du terroir breton">
            <a:extLst>
              <a:ext uri="{FF2B5EF4-FFF2-40B4-BE49-F238E27FC236}">
                <a16:creationId xmlns:a16="http://schemas.microsoft.com/office/drawing/2014/main" id="{81245A04-449F-4378-FEC5-A6341339B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586" y="2116799"/>
            <a:ext cx="4834268" cy="28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A3AE620D-A770-4BAB-AFA6-4C197A486BBE}"/>
              </a:ext>
            </a:extLst>
          </p:cNvPr>
          <p:cNvGrpSpPr/>
          <p:nvPr/>
        </p:nvGrpSpPr>
        <p:grpSpPr>
          <a:xfrm>
            <a:off x="-2" y="-128205"/>
            <a:ext cx="12192001" cy="6492316"/>
            <a:chOff x="-1" y="2667"/>
            <a:chExt cx="12192001" cy="6341569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7ED96451-BA1C-B500-92DC-22D250183741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26" name="Image 2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47853FB-E5EA-5C93-F12A-B88F55DE94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7" name="Image 2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FD42FA5-0987-D2A2-E66C-02570BDBC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8" name="Image 2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5E475CE-BAE9-F1B8-A292-85CAFC74E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D4A4D320-82AC-23FD-6C78-CEB96027AD51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22" name="Image 2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A426B5A7-5657-9511-3B14-9AD30B76AC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4" name="Image 2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0D71ADCE-FC28-612B-F469-5A982D1A37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5" name="Image 2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1D124DC-C8F1-1337-67D2-C3A8AE6E8C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007E9EAA-C218-81BB-E07F-C5EE348FCA36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4F47B8A6-F53B-2236-F4FD-2A508722A4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E58F5503-A30B-1E78-425D-28F082E222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7D5A2CB-9A9E-3338-B4C7-31E416899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E575FE80-B21D-A0BD-9854-801665AF3748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12" name="Image 1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286AD87-5C53-000B-6E18-B44E2C7262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3" name="Image 1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9D53C92-C419-6FE3-0DA0-8E9CC56FE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001C4DA-939B-5FFB-924D-363786166F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3987FE-A5EE-2AC9-98A8-EB6E232A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7E57CEA-E9C0-4689-84B4-8AD8FB655774}" type="datetime1">
              <a:pPr>
                <a:spcAft>
                  <a:spcPts val="600"/>
                </a:spcAft>
              </a:pPr>
              <a:t>29/05/2025</a:t>
            </a:fld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67562C-B4B9-584D-40DA-098ADFA1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7" name="Image 6" descr="Une image contenant texte, affiche, dessin humoristique, Visage humain&#10;&#10;Description générée automatiquement">
            <a:extLst>
              <a:ext uri="{FF2B5EF4-FFF2-40B4-BE49-F238E27FC236}">
                <a16:creationId xmlns:a16="http://schemas.microsoft.com/office/drawing/2014/main" id="{9C0DFD45-C192-7E69-BD7C-165A133C3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25"/>
            <a:ext cx="1228725" cy="1137708"/>
          </a:xfrm>
          <a:prstGeom prst="rect">
            <a:avLst/>
          </a:prstGeom>
        </p:spPr>
      </p:pic>
      <p:pic>
        <p:nvPicPr>
          <p:cNvPr id="14" name="Image 13" descr="Catalogue de formations 2023 - IUT de Vannes">
            <a:extLst>
              <a:ext uri="{FF2B5EF4-FFF2-40B4-BE49-F238E27FC236}">
                <a16:creationId xmlns:a16="http://schemas.microsoft.com/office/drawing/2014/main" id="{BB920EFA-248D-5B27-B8D6-44E041EAD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" y="5568065"/>
            <a:ext cx="1220165" cy="79214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844FD74-5337-4295-BF34-08C3D59125E7}"/>
              </a:ext>
            </a:extLst>
          </p:cNvPr>
          <p:cNvSpPr txBox="1"/>
          <p:nvPr/>
        </p:nvSpPr>
        <p:spPr>
          <a:xfrm>
            <a:off x="1230228" y="2001520"/>
            <a:ext cx="9910088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latin typeface="Rockwell"/>
                <a:ea typeface="Calibri"/>
                <a:cs typeface="Calibri"/>
              </a:rPr>
              <a:t>1. </a:t>
            </a:r>
            <a:r>
              <a:rPr lang="fr-FR" err="1">
                <a:latin typeface="Rockwell"/>
                <a:ea typeface="Calibri"/>
                <a:cs typeface="Calibri"/>
              </a:rPr>
              <a:t>Political</a:t>
            </a:r>
            <a:r>
              <a:rPr lang="fr-FR">
                <a:latin typeface="Rockwell"/>
                <a:ea typeface="Calibri"/>
                <a:cs typeface="Calibri"/>
              </a:rPr>
              <a:t> (P)</a:t>
            </a:r>
          </a:p>
          <a:p>
            <a:r>
              <a:rPr lang="fr-FR">
                <a:latin typeface="Rockwell"/>
                <a:ea typeface="Calibri"/>
                <a:cs typeface="Calibri"/>
              </a:rPr>
              <a:t> </a:t>
            </a:r>
          </a:p>
          <a:p>
            <a:r>
              <a:rPr lang="fr-FR">
                <a:latin typeface="Rockwell"/>
                <a:ea typeface="Calibri"/>
                <a:cs typeface="Calibri"/>
              </a:rPr>
              <a:t>2. </a:t>
            </a:r>
            <a:r>
              <a:rPr lang="fr-FR" err="1">
                <a:latin typeface="Rockwell"/>
                <a:ea typeface="Calibri"/>
                <a:cs typeface="Calibri"/>
              </a:rPr>
              <a:t>Economic</a:t>
            </a:r>
            <a:r>
              <a:rPr lang="fr-FR">
                <a:latin typeface="Rockwell"/>
                <a:ea typeface="Calibri"/>
                <a:cs typeface="Calibri"/>
              </a:rPr>
              <a:t> (E)</a:t>
            </a:r>
          </a:p>
          <a:p>
            <a:endParaRPr lang="fr-FR">
              <a:latin typeface="Rockwell"/>
              <a:ea typeface="Calibri"/>
              <a:cs typeface="Calibri"/>
            </a:endParaRPr>
          </a:p>
          <a:p>
            <a:r>
              <a:rPr lang="fr-FR">
                <a:latin typeface="Rockwell"/>
                <a:ea typeface="Calibri"/>
                <a:cs typeface="Calibri"/>
              </a:rPr>
              <a:t>3. Social (S)</a:t>
            </a:r>
          </a:p>
          <a:p>
            <a:endParaRPr lang="fr-FR">
              <a:latin typeface="Rockwell"/>
              <a:ea typeface="Calibri"/>
              <a:cs typeface="Calibri"/>
            </a:endParaRPr>
          </a:p>
          <a:p>
            <a:r>
              <a:rPr lang="fr-FR">
                <a:latin typeface="Rockwell"/>
                <a:ea typeface="Calibri"/>
                <a:cs typeface="Calibri"/>
              </a:rPr>
              <a:t>4. </a:t>
            </a:r>
            <a:r>
              <a:rPr lang="fr-FR" err="1">
                <a:latin typeface="Rockwell"/>
                <a:ea typeface="Calibri"/>
                <a:cs typeface="Calibri"/>
              </a:rPr>
              <a:t>Technological</a:t>
            </a:r>
            <a:r>
              <a:rPr lang="fr-FR">
                <a:latin typeface="Rockwell"/>
                <a:ea typeface="Calibri"/>
                <a:cs typeface="Calibri"/>
              </a:rPr>
              <a:t> (T)</a:t>
            </a:r>
          </a:p>
          <a:p>
            <a:endParaRPr lang="fr-FR">
              <a:latin typeface="Rockwell"/>
              <a:ea typeface="Calibri"/>
              <a:cs typeface="Calibri"/>
            </a:endParaRPr>
          </a:p>
          <a:p>
            <a:r>
              <a:rPr lang="fr-FR">
                <a:latin typeface="Rockwell"/>
                <a:ea typeface="Calibri"/>
                <a:cs typeface="Calibri"/>
              </a:rPr>
              <a:t>5. </a:t>
            </a:r>
            <a:r>
              <a:rPr lang="fr-FR" err="1">
                <a:latin typeface="Rockwell"/>
                <a:ea typeface="Calibri"/>
                <a:cs typeface="Calibri"/>
              </a:rPr>
              <a:t>Environmental</a:t>
            </a:r>
            <a:r>
              <a:rPr lang="fr-FR">
                <a:latin typeface="Rockwell"/>
                <a:ea typeface="Calibri"/>
                <a:cs typeface="Calibri"/>
              </a:rPr>
              <a:t> (E)</a:t>
            </a:r>
          </a:p>
          <a:p>
            <a:endParaRPr lang="fr-FR">
              <a:latin typeface="Rockwell"/>
              <a:ea typeface="Calibri"/>
              <a:cs typeface="Calibri"/>
            </a:endParaRPr>
          </a:p>
          <a:p>
            <a:r>
              <a:rPr lang="fr-FR">
                <a:latin typeface="Rockwell"/>
                <a:ea typeface="Calibri"/>
                <a:cs typeface="Calibri"/>
              </a:rPr>
              <a:t>6. Legal (L)</a:t>
            </a:r>
          </a:p>
          <a:p>
            <a:endParaRPr lang="fr-FR">
              <a:latin typeface="Rockwell"/>
              <a:ea typeface="Calibri"/>
              <a:cs typeface="Calibri"/>
            </a:endParaRPr>
          </a:p>
          <a:p>
            <a:endParaRPr lang="fr-FR" sz="1500">
              <a:latin typeface="Rockwell"/>
              <a:ea typeface="Calibri"/>
              <a:cs typeface="Calibri"/>
            </a:endParaRPr>
          </a:p>
          <a:p>
            <a:endParaRPr lang="fr-FR" sz="1500">
              <a:latin typeface="Rockwell"/>
              <a:ea typeface="Calibri"/>
              <a:cs typeface="Calibri"/>
            </a:endParaRPr>
          </a:p>
          <a:p>
            <a:endParaRPr lang="fr-FR" sz="1500">
              <a:latin typeface="Rockwell"/>
              <a:ea typeface="Calibri"/>
              <a:cs typeface="Calibri"/>
            </a:endParaRPr>
          </a:p>
          <a:p>
            <a:endParaRPr lang="fr-FR" sz="1500">
              <a:latin typeface="Rockwell"/>
              <a:ea typeface="Calibri"/>
              <a:cs typeface="Calibri"/>
            </a:endParaRPr>
          </a:p>
          <a:p>
            <a:endParaRPr lang="fr-FR" sz="1500">
              <a:latin typeface="Rockwell"/>
              <a:ea typeface="Calibri"/>
              <a:cs typeface="Calibri"/>
            </a:endParaRPr>
          </a:p>
          <a:p>
            <a:endParaRPr lang="fr-FR" sz="1500">
              <a:latin typeface="Rockwell"/>
              <a:ea typeface="Calibri"/>
              <a:cs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953ED8F-FE5B-95B3-1DA8-047BBD89238E}"/>
              </a:ext>
            </a:extLst>
          </p:cNvPr>
          <p:cNvSpPr txBox="1"/>
          <p:nvPr/>
        </p:nvSpPr>
        <p:spPr>
          <a:xfrm>
            <a:off x="4724400" y="51246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>
                <a:latin typeface="Rockwell"/>
              </a:rPr>
              <a:t>PESTEL ANALYSIS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BDA56A7-70FE-2638-4D93-A15ADE2BA61E}"/>
              </a:ext>
            </a:extLst>
          </p:cNvPr>
          <p:cNvSpPr txBox="1"/>
          <p:nvPr/>
        </p:nvSpPr>
        <p:spPr>
          <a:xfrm>
            <a:off x="4724399" y="37829"/>
            <a:ext cx="2743200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Rockwell"/>
              </a:rPr>
              <a:t>WHAT IS KERISAC?</a:t>
            </a:r>
          </a:p>
          <a:p>
            <a:pPr algn="ctr"/>
            <a:r>
              <a:rPr lang="fr-FR" sz="1100">
                <a:latin typeface="Rockwell"/>
              </a:rPr>
              <a:t>WHY THIS COUNTRY</a:t>
            </a:r>
          </a:p>
          <a:p>
            <a:pPr algn="ctr"/>
            <a:r>
              <a:rPr lang="fr-FR" sz="1100">
                <a:latin typeface="Rockwell"/>
              </a:rPr>
              <a:t>HOW WILL IT RESULT?</a:t>
            </a:r>
          </a:p>
        </p:txBody>
      </p:sp>
      <p:sp>
        <p:nvSpPr>
          <p:cNvPr id="21" name="Espace réservé du pied de page 1">
            <a:extLst>
              <a:ext uri="{FF2B5EF4-FFF2-40B4-BE49-F238E27FC236}">
                <a16:creationId xmlns:a16="http://schemas.microsoft.com/office/drawing/2014/main" id="{28BCEB94-28FF-E5DD-0150-A4D35EBBA911}"/>
              </a:ext>
            </a:extLst>
          </p:cNvPr>
          <p:cNvSpPr>
            <a:spLocks noGrp="1"/>
          </p:cNvSpPr>
          <p:nvPr/>
        </p:nvSpPr>
        <p:spPr>
          <a:xfrm>
            <a:off x="-1592059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ea typeface="Calibri"/>
                <a:cs typeface="Calibri"/>
              </a:rPr>
              <a:t>01/09/2025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467F79-658B-3B86-BE6B-38B224192C59}"/>
              </a:ext>
            </a:extLst>
          </p:cNvPr>
          <p:cNvSpPr/>
          <p:nvPr/>
        </p:nvSpPr>
        <p:spPr>
          <a:xfrm>
            <a:off x="1152292" y="6588512"/>
            <a:ext cx="845634" cy="148682"/>
          </a:xfrm>
          <a:prstGeom prst="rect">
            <a:avLst/>
          </a:prstGeom>
          <a:solidFill>
            <a:srgbClr val="9B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texte, capture d’écran, cercle, Graphique&#10;&#10;Description générée automatiquement">
            <a:extLst>
              <a:ext uri="{FF2B5EF4-FFF2-40B4-BE49-F238E27FC236}">
                <a16:creationId xmlns:a16="http://schemas.microsoft.com/office/drawing/2014/main" id="{9868A73D-96EC-1075-0D15-173A2B66B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672" y="1600085"/>
            <a:ext cx="6299975" cy="365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910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936000" r="-9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e 57">
            <a:extLst>
              <a:ext uri="{FF2B5EF4-FFF2-40B4-BE49-F238E27FC236}">
                <a16:creationId xmlns:a16="http://schemas.microsoft.com/office/drawing/2014/main" id="{7415B125-858C-47C3-3D9D-91C7B02D4E03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66FAED05-330B-75F8-65A0-3CE645075FE1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55" name="Image 5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27EB998C-C1BE-7C49-1FCB-C9ABDCC61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56" name="Image 5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2C0773E-4264-EDEC-3A31-14B681AAA7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57" name="Image 5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1E3799C-4B1C-16A3-4E43-D458889B00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B9ACE822-E4D6-00A4-2BF9-8BEE4B1AF274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52" name="Image 5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8F95D50-9C57-3C23-965C-68983B955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53" name="Image 5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9455DA8E-E0D7-3903-ABA6-316FCBB44C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54" name="Image 5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C576A18-9859-1F42-B394-D3F1920A0B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096E3E88-24A2-F816-8B52-9A4D0E0D4290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49" name="Image 4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0FFAAC0B-2119-76A2-C4C6-3F5410601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50" name="Image 4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E7915060-C159-884A-53A0-BCAB6AF196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51" name="Image 5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34C32085-F1E1-C009-1D61-5429DFD4B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2A2AAE56-70AF-2848-B4AF-A2B332DC8CD9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46" name="Image 4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4810128-54F0-C401-5D85-6B87500A60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47" name="Image 4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6440F58-5246-2785-FC40-25D50F0B33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48" name="Image 4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458E9A62-6EF5-648F-F3CA-BE9D226E8E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7D58BD-06BB-55BF-F960-D89B54F2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13</a:t>
            </a:fld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5ADB6C-0CDC-E7F9-DE9D-B5D6A8FD8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Calibri Light"/>
                <a:cs typeface="Calibri Light"/>
              </a:rPr>
              <a:t>Conclusion 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2D2853-D659-3EB3-8999-1F093C65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§"/>
            </a:pPr>
            <a:r>
              <a:rPr lang="fr-FR">
                <a:latin typeface="Rockwell"/>
                <a:ea typeface="Calibri"/>
                <a:cs typeface="Calibri"/>
              </a:rPr>
              <a:t> </a:t>
            </a:r>
            <a:r>
              <a:rPr lang="fr-FR" err="1">
                <a:latin typeface="Rockwell"/>
                <a:ea typeface="Calibri"/>
                <a:cs typeface="Calibri"/>
              </a:rPr>
              <a:t>Bring</a:t>
            </a:r>
            <a:r>
              <a:rPr lang="fr-FR">
                <a:latin typeface="Rockwell"/>
                <a:ea typeface="Calibri"/>
                <a:cs typeface="Calibri"/>
              </a:rPr>
              <a:t> </a:t>
            </a:r>
            <a:r>
              <a:rPr lang="fr-FR" err="1">
                <a:latin typeface="Rockwell"/>
                <a:ea typeface="Calibri"/>
                <a:cs typeface="Calibri"/>
              </a:rPr>
              <a:t>diversity</a:t>
            </a:r>
            <a:r>
              <a:rPr lang="fr-FR">
                <a:latin typeface="Rockwell"/>
                <a:ea typeface="Calibri"/>
                <a:cs typeface="Calibri"/>
              </a:rPr>
              <a:t> to the </a:t>
            </a:r>
            <a:r>
              <a:rPr lang="fr-FR" err="1">
                <a:latin typeface="Rockwell"/>
                <a:ea typeface="Calibri"/>
                <a:cs typeface="Calibri"/>
              </a:rPr>
              <a:t>choice</a:t>
            </a:r>
            <a:endParaRPr lang="fr-FR">
              <a:latin typeface="Rockwell"/>
              <a:ea typeface="Calibri"/>
              <a:cs typeface="Calibri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fr-FR">
                <a:latin typeface="Rockwell"/>
                <a:ea typeface="Calibri"/>
                <a:cs typeface="Calibri"/>
              </a:rPr>
              <a:t>    </a:t>
            </a:r>
            <a:r>
              <a:rPr lang="fr-FR" err="1">
                <a:latin typeface="Rockwell"/>
                <a:ea typeface="Calibri"/>
                <a:cs typeface="Calibri"/>
              </a:rPr>
              <a:t>They</a:t>
            </a:r>
            <a:r>
              <a:rPr lang="fr-FR">
                <a:latin typeface="Rockwell"/>
                <a:ea typeface="Calibri"/>
                <a:cs typeface="Calibri"/>
              </a:rPr>
              <a:t> </a:t>
            </a:r>
            <a:r>
              <a:rPr lang="fr-FR" err="1">
                <a:latin typeface="Rockwell"/>
                <a:ea typeface="Calibri"/>
                <a:cs typeface="Calibri"/>
              </a:rPr>
              <a:t>wouldn't</a:t>
            </a:r>
            <a:r>
              <a:rPr lang="fr-FR">
                <a:latin typeface="Rockwell"/>
                <a:ea typeface="Calibri"/>
                <a:cs typeface="Calibri"/>
              </a:rPr>
              <a:t> have to </a:t>
            </a:r>
            <a:r>
              <a:rPr lang="fr-FR" err="1">
                <a:latin typeface="Rockwell"/>
                <a:ea typeface="Calibri"/>
                <a:cs typeface="Calibri"/>
              </a:rPr>
              <a:t>pay</a:t>
            </a:r>
            <a:r>
              <a:rPr lang="fr-FR">
                <a:latin typeface="Rockwell"/>
                <a:ea typeface="Calibri"/>
                <a:cs typeface="Calibri"/>
              </a:rPr>
              <a:t> customs </a:t>
            </a:r>
            <a:r>
              <a:rPr lang="fr-FR" err="1">
                <a:latin typeface="Rockwell"/>
                <a:ea typeface="Calibri"/>
                <a:cs typeface="Calibri"/>
              </a:rPr>
              <a:t>duties</a:t>
            </a:r>
            <a:endParaRPr lang="fr-FR">
              <a:latin typeface="Rockwell"/>
              <a:ea typeface="Calibri"/>
              <a:cs typeface="Calibri"/>
            </a:endParaRPr>
          </a:p>
          <a:p>
            <a:pPr marL="0" indent="0">
              <a:buNone/>
            </a:pPr>
            <a:endParaRPr lang="fr-FR">
              <a:latin typeface="Rockwell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5214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 20">
            <a:extLst>
              <a:ext uri="{FF2B5EF4-FFF2-40B4-BE49-F238E27FC236}">
                <a16:creationId xmlns:a16="http://schemas.microsoft.com/office/drawing/2014/main" id="{456FDF62-931E-52BF-715C-CCF53F649915}"/>
              </a:ext>
            </a:extLst>
          </p:cNvPr>
          <p:cNvGrpSpPr/>
          <p:nvPr/>
        </p:nvGrpSpPr>
        <p:grpSpPr>
          <a:xfrm>
            <a:off x="-1" y="2667"/>
            <a:ext cx="12192001" cy="6341569"/>
            <a:chOff x="-1" y="2667"/>
            <a:chExt cx="12192001" cy="634156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E80AFD7A-BEDB-B8CF-B51F-D68D80C38B66}"/>
                </a:ext>
              </a:extLst>
            </p:cNvPr>
            <p:cNvGrpSpPr/>
            <p:nvPr/>
          </p:nvGrpSpPr>
          <p:grpSpPr>
            <a:xfrm>
              <a:off x="0" y="2667"/>
              <a:ext cx="12192000" cy="1806741"/>
              <a:chOff x="0" y="3134301"/>
              <a:chExt cx="12192000" cy="1806741"/>
            </a:xfrm>
          </p:grpSpPr>
          <p:pic>
            <p:nvPicPr>
              <p:cNvPr id="18" name="Image 17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7332BCC-A5DB-3BD4-7E57-A0C191467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9" name="Image 1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5BC699B-3CF3-692B-804B-6F190BE8F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20" name="Image 1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7EF37339-7211-B541-C923-FBAD9AF094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DB818DA5-AA81-A884-4D18-0EF9FD458554}"/>
                </a:ext>
              </a:extLst>
            </p:cNvPr>
            <p:cNvGrpSpPr/>
            <p:nvPr/>
          </p:nvGrpSpPr>
          <p:grpSpPr>
            <a:xfrm>
              <a:off x="0" y="1619594"/>
              <a:ext cx="12192000" cy="1806741"/>
              <a:chOff x="0" y="3134301"/>
              <a:chExt cx="12192000" cy="1806741"/>
            </a:xfrm>
          </p:grpSpPr>
          <p:pic>
            <p:nvPicPr>
              <p:cNvPr id="15" name="Image 14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D170CCBE-45EB-1130-E3C3-B10632D380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6" name="Image 15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B78DCCC8-2734-747E-997E-A93DEB9BE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7" name="Image 16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95CDEF0-D666-F696-FDAF-DFC937BEAE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98970118-6AD8-BBFD-52FD-DB12CC7B120D}"/>
                </a:ext>
              </a:extLst>
            </p:cNvPr>
            <p:cNvGrpSpPr/>
            <p:nvPr/>
          </p:nvGrpSpPr>
          <p:grpSpPr>
            <a:xfrm>
              <a:off x="0" y="3227228"/>
              <a:ext cx="12192000" cy="1806741"/>
              <a:chOff x="0" y="3134301"/>
              <a:chExt cx="12192000" cy="1806741"/>
            </a:xfrm>
          </p:grpSpPr>
          <p:pic>
            <p:nvPicPr>
              <p:cNvPr id="12" name="Image 11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1892859-D0EC-ECEC-A1CF-92C8DC147F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3" name="Image 12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81045365-36BD-2578-A942-C55AADA24A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4" name="Image 13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CDAAE8AD-FAD0-CC69-B127-A91E127925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EA4D795A-A514-7BA6-2DDC-DF8B7EE3EAE9}"/>
                </a:ext>
              </a:extLst>
            </p:cNvPr>
            <p:cNvGrpSpPr/>
            <p:nvPr/>
          </p:nvGrpSpPr>
          <p:grpSpPr>
            <a:xfrm>
              <a:off x="-1" y="4537495"/>
              <a:ext cx="12192000" cy="1806741"/>
              <a:chOff x="0" y="3134301"/>
              <a:chExt cx="12192000" cy="1806741"/>
            </a:xfrm>
          </p:grpSpPr>
          <p:pic>
            <p:nvPicPr>
              <p:cNvPr id="9" name="Image 8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1137C8E2-4069-5309-7964-283E8003A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134301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0" name="Image 9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D34CCD8-1005-40DE-23CD-F93281DFE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766203"/>
                <a:ext cx="12192000" cy="673034"/>
              </a:xfrm>
              <a:prstGeom prst="rect">
                <a:avLst/>
              </a:prstGeom>
            </p:spPr>
          </p:pic>
          <p:pic>
            <p:nvPicPr>
              <p:cNvPr id="11" name="Image 10" descr="Une image contenant Beige, bois, sol&#10;&#10;Le contenu généré par l’IA peut être incorrect.">
                <a:extLst>
                  <a:ext uri="{FF2B5EF4-FFF2-40B4-BE49-F238E27FC236}">
                    <a16:creationId xmlns:a16="http://schemas.microsoft.com/office/drawing/2014/main" id="{6369AD10-A76D-5CCC-520B-7F2982529A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4268008"/>
                <a:ext cx="12192000" cy="673034"/>
              </a:xfrm>
              <a:prstGeom prst="rect">
                <a:avLst/>
              </a:prstGeom>
            </p:spPr>
          </p:pic>
        </p:grp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1121EE-A352-C891-3686-527F18EA7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9496" y="1841198"/>
            <a:ext cx="7375353" cy="3173437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fr-FR">
                <a:ea typeface="Calibri"/>
                <a:cs typeface="Calibri"/>
              </a:rPr>
              <a:t>      </a:t>
            </a:r>
          </a:p>
          <a:p>
            <a:endParaRPr lang="fr-FR">
              <a:ea typeface="Calibri"/>
              <a:cs typeface="Calibri"/>
            </a:endParaRPr>
          </a:p>
          <a:p>
            <a:r>
              <a:rPr lang="fr-FR" sz="3200">
                <a:latin typeface="Rockwell"/>
                <a:ea typeface="+mn-lt"/>
                <a:cs typeface="+mn-lt"/>
              </a:rPr>
              <a:t>    </a:t>
            </a:r>
            <a:r>
              <a:rPr lang="fr-FR" sz="3600" err="1">
                <a:latin typeface="Rockwell"/>
                <a:ea typeface="+mn-lt"/>
                <a:cs typeface="+mn-lt"/>
              </a:rPr>
              <a:t>Thank</a:t>
            </a:r>
            <a:r>
              <a:rPr lang="fr-FR" sz="3600">
                <a:latin typeface="Rockwell"/>
                <a:ea typeface="+mn-lt"/>
                <a:cs typeface="+mn-lt"/>
              </a:rPr>
              <a:t> </a:t>
            </a:r>
            <a:r>
              <a:rPr lang="fr-FR" sz="3600" err="1">
                <a:latin typeface="Rockwell"/>
                <a:ea typeface="+mn-lt"/>
                <a:cs typeface="+mn-lt"/>
              </a:rPr>
              <a:t>you</a:t>
            </a:r>
            <a:r>
              <a:rPr lang="fr-FR" sz="3600">
                <a:latin typeface="Rockwell"/>
                <a:ea typeface="+mn-lt"/>
                <a:cs typeface="+mn-lt"/>
              </a:rPr>
              <a:t> for </a:t>
            </a:r>
            <a:r>
              <a:rPr lang="fr-FR" sz="3600" err="1">
                <a:latin typeface="Rockwell"/>
                <a:ea typeface="+mn-lt"/>
                <a:cs typeface="+mn-lt"/>
              </a:rPr>
              <a:t>your</a:t>
            </a:r>
            <a:r>
              <a:rPr lang="fr-FR" sz="3600">
                <a:latin typeface="Rockwell"/>
                <a:ea typeface="+mn-lt"/>
                <a:cs typeface="+mn-lt"/>
              </a:rPr>
              <a:t> attention !</a:t>
            </a:r>
            <a:endParaRPr lang="fr-FR" sz="3600"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48E884-27CE-19D8-D84D-335A4F64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850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Grand écran</PresentationFormat>
  <Paragraphs>181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4" baseType="lpstr">
      <vt:lpstr>Arial</vt:lpstr>
      <vt:lpstr>Arial,Sans-Serif</vt:lpstr>
      <vt:lpstr>Calibri</vt:lpstr>
      <vt:lpstr>Calibri Light</vt:lpstr>
      <vt:lpstr>Courier New</vt:lpstr>
      <vt:lpstr>Rockwell</vt:lpstr>
      <vt:lpstr>Univers Condensed</vt:lpstr>
      <vt:lpstr>-webkit-standard</vt:lpstr>
      <vt:lpstr>Wingdings</vt:lpstr>
      <vt:lpstr>Retrospect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Chakra</dc:creator>
  <cp:lastModifiedBy>Maxence Abric--Segarra</cp:lastModifiedBy>
  <cp:revision>2</cp:revision>
  <dcterms:created xsi:type="dcterms:W3CDTF">2025-01-06T09:05:13Z</dcterms:created>
  <dcterms:modified xsi:type="dcterms:W3CDTF">2025-05-29T13:55:59Z</dcterms:modified>
</cp:coreProperties>
</file>